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2" r:id="rId3"/>
  </p:sldMasterIdLst>
  <p:notesMasterIdLst>
    <p:notesMasterId r:id="rId154"/>
  </p:notesMasterIdLst>
  <p:sldIdLst>
    <p:sldId id="1823" r:id="rId4"/>
    <p:sldId id="1827" r:id="rId5"/>
    <p:sldId id="2403" r:id="rId6"/>
    <p:sldId id="257" r:id="rId7"/>
    <p:sldId id="2293" r:id="rId8"/>
    <p:sldId id="2294" r:id="rId9"/>
    <p:sldId id="2372" r:id="rId10"/>
    <p:sldId id="2373" r:id="rId11"/>
    <p:sldId id="2295" r:id="rId12"/>
    <p:sldId id="2296" r:id="rId13"/>
    <p:sldId id="2298" r:id="rId14"/>
    <p:sldId id="2299" r:id="rId15"/>
    <p:sldId id="2300" r:id="rId16"/>
    <p:sldId id="2301" r:id="rId17"/>
    <p:sldId id="2302" r:id="rId18"/>
    <p:sldId id="2303" r:id="rId19"/>
    <p:sldId id="2304" r:id="rId20"/>
    <p:sldId id="2375" r:id="rId21"/>
    <p:sldId id="2377" r:id="rId22"/>
    <p:sldId id="2374" r:id="rId23"/>
    <p:sldId id="2307" r:id="rId24"/>
    <p:sldId id="2305" r:id="rId25"/>
    <p:sldId id="2306" r:id="rId26"/>
    <p:sldId id="2308" r:id="rId27"/>
    <p:sldId id="2309" r:id="rId28"/>
    <p:sldId id="2310" r:id="rId29"/>
    <p:sldId id="2311" r:id="rId30"/>
    <p:sldId id="2312" r:id="rId31"/>
    <p:sldId id="2313" r:id="rId32"/>
    <p:sldId id="2314" r:id="rId33"/>
    <p:sldId id="2315" r:id="rId34"/>
    <p:sldId id="2318" r:id="rId35"/>
    <p:sldId id="2319" r:id="rId36"/>
    <p:sldId id="2320" r:id="rId37"/>
    <p:sldId id="2321" r:id="rId38"/>
    <p:sldId id="2322" r:id="rId39"/>
    <p:sldId id="2316" r:id="rId40"/>
    <p:sldId id="2323" r:id="rId41"/>
    <p:sldId id="2317" r:id="rId42"/>
    <p:sldId id="2324" r:id="rId43"/>
    <p:sldId id="2325" r:id="rId44"/>
    <p:sldId id="2326" r:id="rId45"/>
    <p:sldId id="2327" r:id="rId46"/>
    <p:sldId id="2328" r:id="rId47"/>
    <p:sldId id="2329" r:id="rId48"/>
    <p:sldId id="2330" r:id="rId49"/>
    <p:sldId id="2331" r:id="rId50"/>
    <p:sldId id="2332" r:id="rId51"/>
    <p:sldId id="2333" r:id="rId52"/>
    <p:sldId id="2334" r:id="rId53"/>
    <p:sldId id="2335" r:id="rId54"/>
    <p:sldId id="2336" r:id="rId55"/>
    <p:sldId id="2337" r:id="rId56"/>
    <p:sldId id="2338" r:id="rId57"/>
    <p:sldId id="2339" r:id="rId58"/>
    <p:sldId id="2340" r:id="rId59"/>
    <p:sldId id="2341" r:id="rId60"/>
    <p:sldId id="2342" r:id="rId61"/>
    <p:sldId id="2343" r:id="rId62"/>
    <p:sldId id="2344" r:id="rId63"/>
    <p:sldId id="2345" r:id="rId64"/>
    <p:sldId id="2346" r:id="rId65"/>
    <p:sldId id="2348" r:id="rId66"/>
    <p:sldId id="2349" r:id="rId67"/>
    <p:sldId id="2350" r:id="rId68"/>
    <p:sldId id="2351" r:id="rId69"/>
    <p:sldId id="2352" r:id="rId70"/>
    <p:sldId id="2353" r:id="rId71"/>
    <p:sldId id="2354" r:id="rId72"/>
    <p:sldId id="2378" r:id="rId73"/>
    <p:sldId id="2379" r:id="rId74"/>
    <p:sldId id="2381" r:id="rId75"/>
    <p:sldId id="2380" r:id="rId76"/>
    <p:sldId id="2382" r:id="rId77"/>
    <p:sldId id="2355" r:id="rId78"/>
    <p:sldId id="2356" r:id="rId79"/>
    <p:sldId id="2384" r:id="rId80"/>
    <p:sldId id="2385" r:id="rId81"/>
    <p:sldId id="2386" r:id="rId82"/>
    <p:sldId id="2387" r:id="rId83"/>
    <p:sldId id="2359" r:id="rId84"/>
    <p:sldId id="2360" r:id="rId85"/>
    <p:sldId id="2389" r:id="rId86"/>
    <p:sldId id="2390" r:id="rId87"/>
    <p:sldId id="2391" r:id="rId88"/>
    <p:sldId id="2392" r:id="rId89"/>
    <p:sldId id="2361" r:id="rId90"/>
    <p:sldId id="2362" r:id="rId91"/>
    <p:sldId id="2393" r:id="rId92"/>
    <p:sldId id="2394" r:id="rId93"/>
    <p:sldId id="2395" r:id="rId94"/>
    <p:sldId id="2396" r:id="rId95"/>
    <p:sldId id="2397" r:id="rId96"/>
    <p:sldId id="2364" r:id="rId97"/>
    <p:sldId id="2365" r:id="rId98"/>
    <p:sldId id="2398" r:id="rId99"/>
    <p:sldId id="2399" r:id="rId100"/>
    <p:sldId id="2400" r:id="rId101"/>
    <p:sldId id="2401" r:id="rId102"/>
    <p:sldId id="2402" r:id="rId103"/>
    <p:sldId id="2368" r:id="rId104"/>
    <p:sldId id="2369" r:id="rId105"/>
    <p:sldId id="2370" r:id="rId106"/>
    <p:sldId id="2371" r:id="rId107"/>
    <p:sldId id="2404" r:id="rId108"/>
    <p:sldId id="2405" r:id="rId109"/>
    <p:sldId id="2406" r:id="rId110"/>
    <p:sldId id="2407" r:id="rId111"/>
    <p:sldId id="2408" r:id="rId112"/>
    <p:sldId id="2409" r:id="rId113"/>
    <p:sldId id="2439" r:id="rId114"/>
    <p:sldId id="2410" r:id="rId115"/>
    <p:sldId id="2411" r:id="rId116"/>
    <p:sldId id="2412" r:id="rId117"/>
    <p:sldId id="2413" r:id="rId118"/>
    <p:sldId id="2414" r:id="rId119"/>
    <p:sldId id="2415" r:id="rId120"/>
    <p:sldId id="2416" r:id="rId121"/>
    <p:sldId id="2417" r:id="rId122"/>
    <p:sldId id="2418" r:id="rId123"/>
    <p:sldId id="2440" r:id="rId124"/>
    <p:sldId id="2419" r:id="rId125"/>
    <p:sldId id="2420" r:id="rId126"/>
    <p:sldId id="2421" r:id="rId127"/>
    <p:sldId id="2441" r:id="rId128"/>
    <p:sldId id="2442" r:id="rId129"/>
    <p:sldId id="2443" r:id="rId130"/>
    <p:sldId id="2422" r:id="rId131"/>
    <p:sldId id="2445" r:id="rId132"/>
    <p:sldId id="2446" r:id="rId133"/>
    <p:sldId id="2447" r:id="rId134"/>
    <p:sldId id="2448" r:id="rId135"/>
    <p:sldId id="2444" r:id="rId136"/>
    <p:sldId id="2423" r:id="rId137"/>
    <p:sldId id="2424" r:id="rId138"/>
    <p:sldId id="2425" r:id="rId139"/>
    <p:sldId id="2426" r:id="rId140"/>
    <p:sldId id="2427" r:id="rId141"/>
    <p:sldId id="2428" r:id="rId142"/>
    <p:sldId id="2429" r:id="rId143"/>
    <p:sldId id="2430" r:id="rId144"/>
    <p:sldId id="2431" r:id="rId145"/>
    <p:sldId id="2432" r:id="rId146"/>
    <p:sldId id="2433" r:id="rId147"/>
    <p:sldId id="2434" r:id="rId148"/>
    <p:sldId id="2435" r:id="rId149"/>
    <p:sldId id="2436" r:id="rId150"/>
    <p:sldId id="2438" r:id="rId151"/>
    <p:sldId id="1817" r:id="rId152"/>
    <p:sldId id="353" r:id="rId15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014" y="1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openxmlformats.org/officeDocument/2006/relationships/slide" Target="slides/slide147.xml"/><Relationship Id="rId155" Type="http://schemas.openxmlformats.org/officeDocument/2006/relationships/presProps" Target="presProps.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slide" Target="slides/slide142.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viewProps" Target="view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notesMaster" Target="notesMasters/notesMaster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DA08195-F51B-424C-BDAB-17C173452E2C}" type="datetimeFigureOut">
              <a:rPr lang="en-AU" smtClean="0"/>
              <a:t>7/05/2026</a:t>
            </a:fld>
            <a:endParaRPr lang="en-AU"/>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0D9129D-719F-4519-B79D-6DBCDEEDA9AE}" type="slidenum">
              <a:rPr lang="en-AU" smtClean="0"/>
              <a:t>‹#›</a:t>
            </a:fld>
            <a:endParaRPr lang="en-AU"/>
          </a:p>
        </p:txBody>
      </p:sp>
    </p:spTree>
    <p:extLst>
      <p:ext uri="{BB962C8B-B14F-4D97-AF65-F5344CB8AC3E}">
        <p14:creationId xmlns:p14="http://schemas.microsoft.com/office/powerpoint/2010/main" val="2618917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610" y="981456"/>
            <a:ext cx="2929254" cy="467359"/>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rgbClr val="3D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rgbClr val="3D3935"/>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7" name="Holder 7"/>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5" name="Holder 5"/>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7201"/>
            <a:ext cx="4572635" cy="6388735"/>
          </a:xfrm>
          <a:custGeom>
            <a:avLst/>
            <a:gdLst/>
            <a:ahLst/>
            <a:cxnLst/>
            <a:rect l="l" t="t" r="r" b="b"/>
            <a:pathLst>
              <a:path w="4572635" h="6388734">
                <a:moveTo>
                  <a:pt x="4572232" y="0"/>
                </a:moveTo>
                <a:lnTo>
                  <a:pt x="4572232" y="6388106"/>
                </a:lnTo>
                <a:lnTo>
                  <a:pt x="0" y="6388106"/>
                </a:lnTo>
                <a:lnTo>
                  <a:pt x="0" y="0"/>
                </a:lnTo>
                <a:lnTo>
                  <a:pt x="4572232" y="0"/>
                </a:lnTo>
                <a:close/>
              </a:path>
            </a:pathLst>
          </a:custGeom>
          <a:solidFill>
            <a:srgbClr val="F2120D"/>
          </a:solidFill>
        </p:spPr>
        <p:txBody>
          <a:bodyPr wrap="square" lIns="0" tIns="0" rIns="0" bIns="0" rtlCol="0"/>
          <a:lstStyle/>
          <a:p>
            <a:endParaRPr/>
          </a:p>
        </p:txBody>
      </p:sp>
      <p:sp>
        <p:nvSpPr>
          <p:cNvPr id="17" name="bg object 17"/>
          <p:cNvSpPr/>
          <p:nvPr/>
        </p:nvSpPr>
        <p:spPr>
          <a:xfrm>
            <a:off x="4572232" y="0"/>
            <a:ext cx="4572000" cy="6855459"/>
          </a:xfrm>
          <a:custGeom>
            <a:avLst/>
            <a:gdLst/>
            <a:ahLst/>
            <a:cxnLst/>
            <a:rect l="l" t="t" r="r" b="b"/>
            <a:pathLst>
              <a:path w="4572000" h="6855459">
                <a:moveTo>
                  <a:pt x="4571767" y="0"/>
                </a:moveTo>
                <a:lnTo>
                  <a:pt x="458019" y="0"/>
                </a:lnTo>
                <a:lnTo>
                  <a:pt x="0" y="457201"/>
                </a:lnTo>
                <a:lnTo>
                  <a:pt x="0" y="6854832"/>
                </a:lnTo>
                <a:lnTo>
                  <a:pt x="461199" y="6394457"/>
                </a:lnTo>
                <a:lnTo>
                  <a:pt x="4571767" y="6394457"/>
                </a:lnTo>
                <a:lnTo>
                  <a:pt x="4571767" y="0"/>
                </a:lnTo>
                <a:close/>
              </a:path>
            </a:pathLst>
          </a:custGeom>
          <a:solidFill>
            <a:srgbClr val="3D0F54"/>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7559999" y="251999"/>
            <a:ext cx="1375199" cy="810127"/>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4" name="Holder 4"/>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5" y="713232"/>
            <a:ext cx="3767469" cy="467359"/>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3771064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210597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7" name="Holder 7"/>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3564810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5" name="Holder 5"/>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149326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4" name="Holder 4"/>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1596859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609" y="981456"/>
            <a:ext cx="7819390" cy="467359"/>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1" i="0">
                <a:solidFill>
                  <a:srgbClr val="A6A6A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1240680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rgbClr val="A6A6A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414494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7" name="Holder 7"/>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781766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5" name="Holder 5"/>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276085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5/7/2026</a:t>
            </a:fld>
            <a:endParaRPr lang="en-US"/>
          </a:p>
        </p:txBody>
      </p:sp>
      <p:sp>
        <p:nvSpPr>
          <p:cNvPr id="4" name="Holder 4"/>
          <p:cNvSpPr>
            <a:spLocks noGrp="1"/>
          </p:cNvSpPr>
          <p:nvPr>
            <p:ph type="sldNum" sz="quarter" idx="7"/>
          </p:nvPr>
        </p:nvSpPr>
        <p:spPr/>
        <p:txBody>
          <a:bodyPr lIns="0" tIns="0" rIns="0" bIns="0"/>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2906029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7559999" y="251999"/>
            <a:ext cx="1375199" cy="810129"/>
          </a:xfrm>
          <a:prstGeom prst="rect">
            <a:avLst/>
          </a:prstGeom>
        </p:spPr>
      </p:pic>
      <p:sp>
        <p:nvSpPr>
          <p:cNvPr id="2" name="Holder 2"/>
          <p:cNvSpPr>
            <a:spLocks noGrp="1"/>
          </p:cNvSpPr>
          <p:nvPr>
            <p:ph type="title"/>
          </p:nvPr>
        </p:nvSpPr>
        <p:spPr>
          <a:xfrm>
            <a:off x="519610" y="981456"/>
            <a:ext cx="6172200" cy="467359"/>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19610" y="1688084"/>
            <a:ext cx="8011795" cy="3579495"/>
          </a:xfrm>
          <a:prstGeom prst="rect">
            <a:avLst/>
          </a:prstGeom>
        </p:spPr>
        <p:txBody>
          <a:bodyPr wrap="square" lIns="0" tIns="0" rIns="0" bIns="0">
            <a:spAutoFit/>
          </a:bodyPr>
          <a:lstStyle>
            <a:lvl1pPr>
              <a:defRPr sz="2400" b="0" i="0">
                <a:solidFill>
                  <a:srgbClr val="3D3935"/>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a:xfrm>
            <a:off x="552269" y="6556594"/>
            <a:ext cx="2437130" cy="167640"/>
          </a:xfrm>
          <a:prstGeom prst="rect">
            <a:avLst/>
          </a:prstGeom>
        </p:spPr>
        <p:txBody>
          <a:bodyPr wrap="square" lIns="0" tIns="0" rIns="0" bIns="0">
            <a:spAutoFit/>
          </a:bodyPr>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7399337" y="365125"/>
            <a:ext cx="1374775" cy="485775"/>
          </a:xfrm>
          <a:prstGeom prst="rect">
            <a:avLst/>
          </a:prstGeom>
        </p:spPr>
      </p:pic>
      <p:sp>
        <p:nvSpPr>
          <p:cNvPr id="2" name="Holder 2"/>
          <p:cNvSpPr>
            <a:spLocks noGrp="1"/>
          </p:cNvSpPr>
          <p:nvPr>
            <p:ph type="title"/>
          </p:nvPr>
        </p:nvSpPr>
        <p:spPr>
          <a:xfrm>
            <a:off x="519610" y="713232"/>
            <a:ext cx="6553200" cy="467359"/>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4" y="1392428"/>
            <a:ext cx="8127091" cy="3997325"/>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a:xfrm>
            <a:off x="552269" y="6556594"/>
            <a:ext cx="3729354" cy="167640"/>
          </a:xfrm>
          <a:prstGeom prst="rect">
            <a:avLst/>
          </a:prstGeom>
        </p:spPr>
        <p:txBody>
          <a:bodyPr wrap="square" lIns="0" tIns="0" rIns="0" bIns="0">
            <a:spAutoFit/>
          </a:bodyPr>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35" dirty="0"/>
              <a:t> </a:t>
            </a:r>
            <a:r>
              <a:rPr dirty="0"/>
              <a:t>|</a:t>
            </a:r>
            <a:r>
              <a:rPr spc="400" dirty="0"/>
              <a:t> </a:t>
            </a:r>
            <a:r>
              <a:rPr dirty="0"/>
              <a:t>Faculty</a:t>
            </a:r>
            <a:r>
              <a:rPr spc="-15" dirty="0"/>
              <a:t> </a:t>
            </a:r>
            <a:r>
              <a:rPr dirty="0"/>
              <a:t>of</a:t>
            </a:r>
            <a:r>
              <a:rPr spc="-20" dirty="0"/>
              <a:t> </a:t>
            </a:r>
            <a:r>
              <a:rPr dirty="0"/>
              <a:t>Business</a:t>
            </a:r>
            <a:r>
              <a:rPr spc="-20" dirty="0"/>
              <a:t> </a:t>
            </a:r>
            <a:r>
              <a:rPr dirty="0"/>
              <a:t>and</a:t>
            </a:r>
            <a:r>
              <a:rPr spc="-20" dirty="0"/>
              <a:t> </a:t>
            </a:r>
            <a:r>
              <a:rPr dirty="0"/>
              <a:t>Law</a:t>
            </a:r>
            <a:r>
              <a:rPr spc="-15" dirty="0"/>
              <a:t> </a:t>
            </a:r>
            <a:r>
              <a:rPr dirty="0"/>
              <a:t>|</a:t>
            </a:r>
            <a:r>
              <a:rPr spc="-15" dirty="0"/>
              <a:t> </a:t>
            </a:r>
            <a:r>
              <a:rPr dirty="0"/>
              <a:t>Peter</a:t>
            </a:r>
            <a:r>
              <a:rPr spc="-10" dirty="0"/>
              <a:t> </a:t>
            </a:r>
            <a:r>
              <a:rPr dirty="0"/>
              <a:t>Faber</a:t>
            </a:r>
            <a:r>
              <a:rPr spc="-15" dirty="0"/>
              <a:t> </a:t>
            </a:r>
            <a:r>
              <a:rPr dirty="0"/>
              <a:t>Business</a:t>
            </a:r>
            <a:r>
              <a:rPr spc="-15" dirty="0"/>
              <a:t> </a:t>
            </a:r>
            <a:r>
              <a:rPr spc="-10" dirty="0"/>
              <a:t>School</a:t>
            </a:r>
          </a:p>
        </p:txBody>
      </p:sp>
    </p:spTree>
    <p:extLst>
      <p:ext uri="{BB962C8B-B14F-4D97-AF65-F5344CB8AC3E}">
        <p14:creationId xmlns:p14="http://schemas.microsoft.com/office/powerpoint/2010/main" val="50881188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7559999" y="251999"/>
            <a:ext cx="1375199" cy="810129"/>
          </a:xfrm>
          <a:prstGeom prst="rect">
            <a:avLst/>
          </a:prstGeom>
        </p:spPr>
      </p:pic>
      <p:sp>
        <p:nvSpPr>
          <p:cNvPr id="2" name="Holder 2"/>
          <p:cNvSpPr>
            <a:spLocks noGrp="1"/>
          </p:cNvSpPr>
          <p:nvPr>
            <p:ph type="title"/>
          </p:nvPr>
        </p:nvSpPr>
        <p:spPr>
          <a:xfrm>
            <a:off x="408032" y="734568"/>
            <a:ext cx="6920865" cy="737108"/>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19610" y="1560068"/>
            <a:ext cx="4956810" cy="2981960"/>
          </a:xfrm>
          <a:prstGeom prst="rect">
            <a:avLst/>
          </a:prstGeom>
        </p:spPr>
        <p:txBody>
          <a:bodyPr wrap="square" lIns="0" tIns="0" rIns="0" bIns="0">
            <a:spAutoFit/>
          </a:bodyPr>
          <a:lstStyle>
            <a:lvl1pPr>
              <a:defRPr sz="2400" b="1" i="0">
                <a:solidFill>
                  <a:srgbClr val="A6A6A6"/>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5/7/2026</a:t>
            </a:fld>
            <a:endParaRPr lang="en-US"/>
          </a:p>
        </p:txBody>
      </p:sp>
      <p:sp>
        <p:nvSpPr>
          <p:cNvPr id="6" name="Holder 6"/>
          <p:cNvSpPr>
            <a:spLocks noGrp="1"/>
          </p:cNvSpPr>
          <p:nvPr>
            <p:ph type="sldNum" sz="quarter" idx="7"/>
          </p:nvPr>
        </p:nvSpPr>
        <p:spPr>
          <a:xfrm>
            <a:off x="552269" y="6556594"/>
            <a:ext cx="2437130" cy="167640"/>
          </a:xfrm>
          <a:prstGeom prst="rect">
            <a:avLst/>
          </a:prstGeom>
        </p:spPr>
        <p:txBody>
          <a:bodyPr wrap="square" lIns="0" tIns="0" rIns="0" bIns="0">
            <a:spAutoFit/>
          </a:bodyPr>
          <a:lstStyle>
            <a:lvl1pPr>
              <a:defRPr sz="1000" b="0" i="0">
                <a:solidFill>
                  <a:srgbClr val="3D3935"/>
                </a:solidFill>
                <a:latin typeface="Arial"/>
                <a:cs typeface="Arial"/>
              </a:defRPr>
            </a:lvl1pPr>
          </a:lstStyle>
          <a:p>
            <a:pPr marL="38100">
              <a:lnSpc>
                <a:spcPct val="100000"/>
              </a:lnSpc>
              <a:spcBef>
                <a:spcPts val="5"/>
              </a:spcBef>
            </a:pPr>
            <a:fld id="{81D60167-4931-47E6-BA6A-407CBD079E47}" type="slidenum">
              <a:rPr dirty="0"/>
              <a:t>‹#›</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Tree>
    <p:extLst>
      <p:ext uri="{BB962C8B-B14F-4D97-AF65-F5344CB8AC3E}">
        <p14:creationId xmlns:p14="http://schemas.microsoft.com/office/powerpoint/2010/main" val="451431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colab.research.google.com/drive/1uRbFkddHfPOp7hGPyVdLRBYL0w0aUsvU?usp=sharing" TargetMode="Externa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69302" y="0"/>
            <a:ext cx="4099560" cy="2471420"/>
          </a:xfrm>
          <a:custGeom>
            <a:avLst/>
            <a:gdLst/>
            <a:ahLst/>
            <a:cxnLst/>
            <a:rect l="l" t="t" r="r" b="b"/>
            <a:pathLst>
              <a:path w="4099559" h="2471420">
                <a:moveTo>
                  <a:pt x="0" y="2471178"/>
                </a:moveTo>
                <a:lnTo>
                  <a:pt x="4099387" y="2471178"/>
                </a:lnTo>
                <a:lnTo>
                  <a:pt x="4099387" y="0"/>
                </a:lnTo>
                <a:lnTo>
                  <a:pt x="0" y="0"/>
                </a:lnTo>
                <a:lnTo>
                  <a:pt x="0" y="2471178"/>
                </a:lnTo>
                <a:close/>
              </a:path>
            </a:pathLst>
          </a:custGeom>
          <a:solidFill>
            <a:srgbClr val="F2120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3" name="object 3"/>
          <p:cNvGrpSpPr/>
          <p:nvPr/>
        </p:nvGrpSpPr>
        <p:grpSpPr>
          <a:xfrm>
            <a:off x="0" y="0"/>
            <a:ext cx="9144000" cy="6858000"/>
            <a:chOff x="0" y="0"/>
            <a:chExt cx="9144000" cy="6858000"/>
          </a:xfrm>
        </p:grpSpPr>
        <p:sp>
          <p:nvSpPr>
            <p:cNvPr id="4" name="object 4"/>
            <p:cNvSpPr/>
            <p:nvPr/>
          </p:nvSpPr>
          <p:spPr>
            <a:xfrm>
              <a:off x="4569302" y="3427640"/>
              <a:ext cx="4575175" cy="3430904"/>
            </a:xfrm>
            <a:custGeom>
              <a:avLst/>
              <a:gdLst/>
              <a:ahLst/>
              <a:cxnLst/>
              <a:rect l="l" t="t" r="r" b="b"/>
              <a:pathLst>
                <a:path w="4575175" h="3430904">
                  <a:moveTo>
                    <a:pt x="4099388" y="0"/>
                  </a:moveTo>
                  <a:lnTo>
                    <a:pt x="0" y="0"/>
                  </a:lnTo>
                  <a:lnTo>
                    <a:pt x="475156" y="475437"/>
                  </a:lnTo>
                  <a:lnTo>
                    <a:pt x="475156" y="3430358"/>
                  </a:lnTo>
                  <a:lnTo>
                    <a:pt x="4574697" y="3430358"/>
                  </a:lnTo>
                  <a:lnTo>
                    <a:pt x="4574697" y="475424"/>
                  </a:lnTo>
                  <a:lnTo>
                    <a:pt x="4099388" y="0"/>
                  </a:lnTo>
                  <a:close/>
                </a:path>
              </a:pathLst>
            </a:custGeom>
            <a:solidFill>
              <a:srgbClr val="3D0F5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0" y="0"/>
              <a:ext cx="4569460" cy="3427729"/>
            </a:xfrm>
            <a:custGeom>
              <a:avLst/>
              <a:gdLst/>
              <a:ahLst/>
              <a:cxnLst/>
              <a:rect l="l" t="t" r="r" b="b"/>
              <a:pathLst>
                <a:path w="4569460" h="3427729">
                  <a:moveTo>
                    <a:pt x="4569010" y="0"/>
                  </a:moveTo>
                  <a:lnTo>
                    <a:pt x="0" y="0"/>
                  </a:lnTo>
                  <a:lnTo>
                    <a:pt x="0" y="3427641"/>
                  </a:lnTo>
                  <a:lnTo>
                    <a:pt x="4569010" y="3427641"/>
                  </a:lnTo>
                  <a:lnTo>
                    <a:pt x="4569010" y="0"/>
                  </a:lnTo>
                  <a:close/>
                </a:path>
              </a:pathLst>
            </a:custGeom>
            <a:solidFill>
              <a:srgbClr val="F4F1E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0" y="3427640"/>
              <a:ext cx="5044440" cy="3430904"/>
            </a:xfrm>
            <a:custGeom>
              <a:avLst/>
              <a:gdLst/>
              <a:ahLst/>
              <a:cxnLst/>
              <a:rect l="l" t="t" r="r" b="b"/>
              <a:pathLst>
                <a:path w="5044440" h="3430904">
                  <a:moveTo>
                    <a:pt x="4569010" y="0"/>
                  </a:moveTo>
                  <a:lnTo>
                    <a:pt x="0" y="0"/>
                  </a:lnTo>
                  <a:lnTo>
                    <a:pt x="475156" y="475437"/>
                  </a:lnTo>
                  <a:lnTo>
                    <a:pt x="475156" y="3430358"/>
                  </a:lnTo>
                  <a:lnTo>
                    <a:pt x="5044332" y="3430358"/>
                  </a:lnTo>
                  <a:lnTo>
                    <a:pt x="5044332" y="475424"/>
                  </a:lnTo>
                  <a:lnTo>
                    <a:pt x="4569010" y="0"/>
                  </a:lnTo>
                  <a:close/>
                </a:path>
              </a:pathLst>
            </a:custGeom>
            <a:solidFill>
              <a:srgbClr val="E8E3DB"/>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 name="object 7"/>
            <p:cNvPicPr/>
            <p:nvPr/>
          </p:nvPicPr>
          <p:blipFill>
            <a:blip r:embed="rId2" cstate="print"/>
            <a:stretch>
              <a:fillRect/>
            </a:stretch>
          </p:blipFill>
          <p:spPr>
            <a:xfrm>
              <a:off x="7401257" y="6092825"/>
              <a:ext cx="1374019" cy="484187"/>
            </a:xfrm>
            <a:prstGeom prst="rect">
              <a:avLst/>
            </a:prstGeom>
          </p:spPr>
        </p:pic>
      </p:grpSp>
      <p:sp>
        <p:nvSpPr>
          <p:cNvPr id="8" name="object 8"/>
          <p:cNvSpPr txBox="1">
            <a:spLocks noGrp="1"/>
          </p:cNvSpPr>
          <p:nvPr>
            <p:ph type="title"/>
          </p:nvPr>
        </p:nvSpPr>
        <p:spPr>
          <a:xfrm>
            <a:off x="224404" y="332241"/>
            <a:ext cx="4178300" cy="1582484"/>
          </a:xfrm>
          <a:prstGeom prst="rect">
            <a:avLst/>
          </a:prstGeom>
        </p:spPr>
        <p:txBody>
          <a:bodyPr vert="horz" wrap="square" lIns="0" tIns="12700" rIns="0" bIns="0" rtlCol="0">
            <a:spAutoFit/>
          </a:bodyPr>
          <a:lstStyle/>
          <a:p>
            <a:pPr marL="12700">
              <a:lnSpc>
                <a:spcPct val="100000"/>
              </a:lnSpc>
              <a:spcBef>
                <a:spcPts val="100"/>
              </a:spcBef>
            </a:pPr>
            <a:r>
              <a:rPr lang="en-US" sz="3400" dirty="0"/>
              <a:t>Data Wrangling – Merging, Joining, Reshaping Data</a:t>
            </a:r>
          </a:p>
        </p:txBody>
      </p:sp>
      <p:sp>
        <p:nvSpPr>
          <p:cNvPr id="9" name="object 9"/>
          <p:cNvSpPr txBox="1"/>
          <p:nvPr/>
        </p:nvSpPr>
        <p:spPr>
          <a:xfrm>
            <a:off x="951864" y="4290060"/>
            <a:ext cx="89598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0" normalizeH="0" baseline="0" noProof="0" dirty="0">
                <a:ln>
                  <a:noFill/>
                </a:ln>
                <a:solidFill>
                  <a:srgbClr val="3D3935"/>
                </a:solidFill>
                <a:effectLst/>
                <a:uLnTx/>
                <a:uFillTx/>
                <a:latin typeface="Arial"/>
                <a:cs typeface="Arial"/>
              </a:rPr>
              <a:t>Week</a:t>
            </a:r>
            <a:r>
              <a:rPr kumimoji="0" sz="2000" b="1" i="0" u="none" strike="noStrike" kern="0" cap="none" spc="-75" normalizeH="0" baseline="0" noProof="0" dirty="0">
                <a:ln>
                  <a:noFill/>
                </a:ln>
                <a:solidFill>
                  <a:srgbClr val="3D3935"/>
                </a:solidFill>
                <a:effectLst/>
                <a:uLnTx/>
                <a:uFillTx/>
                <a:latin typeface="Arial"/>
                <a:cs typeface="Arial"/>
              </a:rPr>
              <a:t> </a:t>
            </a:r>
            <a:r>
              <a:rPr lang="en-US" sz="2000" b="1" spc="-50" dirty="0">
                <a:solidFill>
                  <a:srgbClr val="3D3935"/>
                </a:solidFill>
                <a:latin typeface="Arial"/>
                <a:cs typeface="Arial"/>
              </a:rPr>
              <a:t>9</a:t>
            </a:r>
            <a:endParaRPr kumimoji="0" sz="2000" b="0" i="0" u="none" strike="noStrike" kern="0" cap="none" spc="0" normalizeH="0" baseline="0" noProof="0" dirty="0">
              <a:ln>
                <a:noFill/>
              </a:ln>
              <a:solidFill>
                <a:sysClr val="windowText" lastClr="000000"/>
              </a:solidFill>
              <a:effectLst/>
              <a:uLnTx/>
              <a:uFillTx/>
              <a:latin typeface="Arial"/>
              <a:cs typeface="Arial"/>
            </a:endParaRPr>
          </a:p>
        </p:txBody>
      </p:sp>
      <p:sp>
        <p:nvSpPr>
          <p:cNvPr id="13" name="object 10">
            <a:extLst>
              <a:ext uri="{FF2B5EF4-FFF2-40B4-BE49-F238E27FC236}">
                <a16:creationId xmlns:a16="http://schemas.microsoft.com/office/drawing/2014/main" id="{E587F2C4-55DF-CBF9-0BB9-6FD7B20E0ABC}"/>
              </a:ext>
            </a:extLst>
          </p:cNvPr>
          <p:cNvSpPr txBox="1"/>
          <p:nvPr/>
        </p:nvSpPr>
        <p:spPr>
          <a:xfrm>
            <a:off x="951864" y="5553208"/>
            <a:ext cx="2021915" cy="344966"/>
          </a:xfrm>
          <a:prstGeom prst="rect">
            <a:avLst/>
          </a:prstGeom>
        </p:spPr>
        <p:txBody>
          <a:bodyPr vert="horz" wrap="square" lIns="0" tIns="97790" rIns="0" bIns="0" rtlCol="0">
            <a:spAutoFit/>
          </a:bodyPr>
          <a:lstStyle/>
          <a:p>
            <a:pPr marL="12700" marR="0" lvl="0" indent="0" defTabSz="914400" eaLnBrk="1" fontAlgn="auto" latinLnBrk="0" hangingPunct="1">
              <a:lnSpc>
                <a:spcPct val="100000"/>
              </a:lnSpc>
              <a:spcBef>
                <a:spcPts val="715"/>
              </a:spcBef>
              <a:spcAft>
                <a:spcPts val="0"/>
              </a:spcAft>
              <a:buClrTx/>
              <a:buSzTx/>
              <a:buFontTx/>
              <a:buNone/>
              <a:tabLst/>
              <a:defRPr/>
            </a:pPr>
            <a:r>
              <a:rPr kumimoji="0" lang="en-US" sz="1600" b="0" i="0" u="none" strike="noStrike" kern="0" cap="none" spc="0" normalizeH="0" baseline="0" noProof="0" dirty="0">
                <a:ln>
                  <a:noFill/>
                </a:ln>
                <a:solidFill>
                  <a:srgbClr val="3D3935"/>
                </a:solidFill>
                <a:effectLst/>
                <a:uLnTx/>
                <a:uFillTx/>
                <a:latin typeface="Arial"/>
                <a:cs typeface="Arial"/>
              </a:rPr>
              <a:t>Dr. Farshid Keivanian</a:t>
            </a:r>
            <a:endParaRPr kumimoji="0" sz="1600" b="0" i="0" u="none" strike="noStrike" kern="0" cap="none" spc="0" normalizeH="0" baseline="0" noProof="0" dirty="0">
              <a:ln>
                <a:noFill/>
              </a:ln>
              <a:solidFill>
                <a:sysClr val="windowText" lastClr="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B46F5-6E37-64F9-52A1-EC4E3AC71E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DA2832-E910-1A07-840F-0C369AB4960F}"/>
              </a:ext>
            </a:extLst>
          </p:cNvPr>
          <p:cNvSpPr txBox="1">
            <a:spLocks noGrp="1"/>
          </p:cNvSpPr>
          <p:nvPr>
            <p:ph type="title"/>
          </p:nvPr>
        </p:nvSpPr>
        <p:spPr>
          <a:xfrm>
            <a:off x="-31531" y="23648"/>
            <a:ext cx="6172200" cy="459100"/>
          </a:xfrm>
          <a:prstGeom prst="rect">
            <a:avLst/>
          </a:prstGeom>
        </p:spPr>
        <p:txBody>
          <a:bodyPr vert="horz" wrap="square" lIns="0" tIns="12700" rIns="0" bIns="0" rtlCol="0">
            <a:spAutoFit/>
          </a:bodyPr>
          <a:lstStyle/>
          <a:p>
            <a:pPr marL="12700">
              <a:lnSpc>
                <a:spcPct val="100000"/>
              </a:lnSpc>
              <a:spcBef>
                <a:spcPts val="100"/>
              </a:spcBef>
            </a:pPr>
            <a:r>
              <a:rPr lang="en-US" dirty="0"/>
              <a:t>Week 9 Outline</a:t>
            </a:r>
            <a:endParaRPr spc="-25" dirty="0"/>
          </a:p>
        </p:txBody>
      </p:sp>
      <p:sp>
        <p:nvSpPr>
          <p:cNvPr id="4" name="object 4">
            <a:extLst>
              <a:ext uri="{FF2B5EF4-FFF2-40B4-BE49-F238E27FC236}">
                <a16:creationId xmlns:a16="http://schemas.microsoft.com/office/drawing/2014/main" id="{D3A62047-6CB9-DB62-77D5-33D8809905D5}"/>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2</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
        <p:nvSpPr>
          <p:cNvPr id="5" name="TextBox 4">
            <a:extLst>
              <a:ext uri="{FF2B5EF4-FFF2-40B4-BE49-F238E27FC236}">
                <a16:creationId xmlns:a16="http://schemas.microsoft.com/office/drawing/2014/main" id="{C19D2048-530A-0A35-F657-2951EF7BA4C4}"/>
              </a:ext>
            </a:extLst>
          </p:cNvPr>
          <p:cNvSpPr txBox="1"/>
          <p:nvPr/>
        </p:nvSpPr>
        <p:spPr>
          <a:xfrm>
            <a:off x="47508" y="709598"/>
            <a:ext cx="9096492" cy="6031908"/>
          </a:xfrm>
          <a:prstGeom prst="rect">
            <a:avLst/>
          </a:prstGeom>
          <a:solidFill>
            <a:schemeClr val="bg1"/>
          </a:solidFill>
        </p:spPr>
        <p:txBody>
          <a:bodyPr wrap="square">
            <a:spAutoFit/>
          </a:bodyPr>
          <a:lstStyle/>
          <a:p>
            <a:pPr marL="457200" indent="-457200">
              <a:lnSpc>
                <a:spcPct val="150000"/>
              </a:lnSpc>
              <a:buFont typeface="+mj-lt"/>
              <a:buAutoNum type="arabicPeriod"/>
            </a:pPr>
            <a:r>
              <a:rPr lang="en-US" sz="2600" dirty="0">
                <a:latin typeface="+mj-lt"/>
              </a:rPr>
              <a:t>Welcome to Week 9</a:t>
            </a:r>
          </a:p>
          <a:p>
            <a:pPr marL="457200" indent="-457200">
              <a:lnSpc>
                <a:spcPct val="150000"/>
              </a:lnSpc>
              <a:buFont typeface="+mj-lt"/>
              <a:buAutoNum type="arabicPeriod"/>
            </a:pPr>
            <a:r>
              <a:rPr lang="en-US" sz="2600" dirty="0">
                <a:latin typeface="+mj-lt"/>
              </a:rPr>
              <a:t>Alignment with Unit Outline &amp; Learning Outcomes</a:t>
            </a:r>
          </a:p>
          <a:p>
            <a:pPr marL="457200" indent="-457200">
              <a:lnSpc>
                <a:spcPct val="150000"/>
              </a:lnSpc>
              <a:buFont typeface="+mj-lt"/>
              <a:buAutoNum type="arabicPeriod"/>
            </a:pPr>
            <a:r>
              <a:rPr lang="en-US" sz="2600" dirty="0">
                <a:latin typeface="+mj-lt"/>
              </a:rPr>
              <a:t>Hierarchical Indexing</a:t>
            </a:r>
          </a:p>
          <a:p>
            <a:pPr marL="457200" indent="-457200">
              <a:lnSpc>
                <a:spcPct val="150000"/>
              </a:lnSpc>
              <a:buFont typeface="+mj-lt"/>
              <a:buAutoNum type="arabicPeriod"/>
            </a:pPr>
            <a:r>
              <a:rPr lang="en-US" sz="2600" dirty="0">
                <a:latin typeface="+mj-lt"/>
              </a:rPr>
              <a:t>Hands-On Activity 1</a:t>
            </a:r>
          </a:p>
          <a:p>
            <a:pPr marL="457200" indent="-457200">
              <a:lnSpc>
                <a:spcPct val="150000"/>
              </a:lnSpc>
              <a:buFont typeface="+mj-lt"/>
              <a:buAutoNum type="arabicPeriod"/>
            </a:pPr>
            <a:r>
              <a:rPr lang="en-US" sz="2600" dirty="0">
                <a:latin typeface="+mj-lt"/>
              </a:rPr>
              <a:t>Hands-On Activity 2</a:t>
            </a:r>
          </a:p>
          <a:p>
            <a:pPr marL="457200" indent="-457200">
              <a:lnSpc>
                <a:spcPct val="150000"/>
              </a:lnSpc>
              <a:buFont typeface="+mj-lt"/>
              <a:buAutoNum type="arabicPeriod"/>
            </a:pPr>
            <a:r>
              <a:rPr lang="en-US" sz="2600" dirty="0">
                <a:latin typeface="+mj-lt"/>
              </a:rPr>
              <a:t>Hands-On Activity 3</a:t>
            </a:r>
          </a:p>
          <a:p>
            <a:pPr marL="457200" indent="-457200">
              <a:lnSpc>
                <a:spcPct val="150000"/>
              </a:lnSpc>
              <a:buFont typeface="+mj-lt"/>
              <a:buAutoNum type="arabicPeriod"/>
            </a:pPr>
            <a:r>
              <a:rPr lang="en-US" sz="2600" dirty="0">
                <a:latin typeface="+mj-lt"/>
              </a:rPr>
              <a:t>Hands-On Activity 4</a:t>
            </a:r>
          </a:p>
          <a:p>
            <a:pPr marL="457200" indent="-457200">
              <a:lnSpc>
                <a:spcPct val="150000"/>
              </a:lnSpc>
              <a:buFont typeface="+mj-lt"/>
              <a:buAutoNum type="arabicPeriod"/>
            </a:pPr>
            <a:r>
              <a:rPr lang="en-US" sz="2600" dirty="0">
                <a:latin typeface="+mj-lt"/>
              </a:rPr>
              <a:t>Combining &amp; Merging Datasets</a:t>
            </a:r>
          </a:p>
          <a:p>
            <a:pPr marL="457200" indent="-457200">
              <a:lnSpc>
                <a:spcPct val="150000"/>
              </a:lnSpc>
              <a:buFont typeface="+mj-lt"/>
              <a:buAutoNum type="arabicPeriod"/>
            </a:pPr>
            <a:r>
              <a:rPr lang="en-US" sz="2600" dirty="0">
                <a:latin typeface="+mj-lt"/>
              </a:rPr>
              <a:t>Hands-On Activity 5</a:t>
            </a:r>
          </a:p>
          <a:p>
            <a:pPr marL="457200" indent="-457200">
              <a:lnSpc>
                <a:spcPct val="150000"/>
              </a:lnSpc>
              <a:buFont typeface="+mj-lt"/>
              <a:buAutoNum type="arabicPeriod"/>
            </a:pPr>
            <a:r>
              <a:rPr lang="en-US" sz="2600" dirty="0">
                <a:latin typeface="+mj-lt"/>
              </a:rPr>
              <a:t>Hands-On Activity 6</a:t>
            </a:r>
          </a:p>
        </p:txBody>
      </p:sp>
    </p:spTree>
    <p:extLst>
      <p:ext uri="{BB962C8B-B14F-4D97-AF65-F5344CB8AC3E}">
        <p14:creationId xmlns:p14="http://schemas.microsoft.com/office/powerpoint/2010/main" val="1798714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DB82F-623E-3A6E-FC66-A1A6A352BF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1CBF50-45B2-207D-CE64-0BCD7D675143}"/>
              </a:ext>
            </a:extLst>
          </p:cNvPr>
          <p:cNvSpPr txBox="1">
            <a:spLocks noGrp="1"/>
          </p:cNvSpPr>
          <p:nvPr>
            <p:ph type="title"/>
          </p:nvPr>
        </p:nvSpPr>
        <p:spPr>
          <a:xfrm>
            <a:off x="-31531" y="23648"/>
            <a:ext cx="6172200" cy="459100"/>
          </a:xfrm>
          <a:prstGeom prst="rect">
            <a:avLst/>
          </a:prstGeom>
        </p:spPr>
        <p:txBody>
          <a:bodyPr vert="horz" wrap="square" lIns="0" tIns="12700" rIns="0" bIns="0" rtlCol="0">
            <a:spAutoFit/>
          </a:bodyPr>
          <a:lstStyle/>
          <a:p>
            <a:pPr marL="12700">
              <a:lnSpc>
                <a:spcPct val="100000"/>
              </a:lnSpc>
              <a:spcBef>
                <a:spcPts val="100"/>
              </a:spcBef>
            </a:pPr>
            <a:r>
              <a:rPr lang="en-US" dirty="0"/>
              <a:t>Week 9 Outline</a:t>
            </a:r>
            <a:endParaRPr spc="-25" dirty="0"/>
          </a:p>
        </p:txBody>
      </p:sp>
      <p:sp>
        <p:nvSpPr>
          <p:cNvPr id="4" name="object 4">
            <a:extLst>
              <a:ext uri="{FF2B5EF4-FFF2-40B4-BE49-F238E27FC236}">
                <a16:creationId xmlns:a16="http://schemas.microsoft.com/office/drawing/2014/main" id="{E88E141A-11AE-5FE0-7EBB-4EFB07E41B5F}"/>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3</a:t>
            </a:fld>
            <a:r>
              <a:rPr spc="240" dirty="0"/>
              <a:t> </a:t>
            </a:r>
            <a:r>
              <a:rPr dirty="0"/>
              <a:t>|</a:t>
            </a:r>
            <a:r>
              <a:rPr spc="409" dirty="0"/>
              <a:t> </a:t>
            </a:r>
            <a:r>
              <a:rPr dirty="0"/>
              <a:t>Directorate</a:t>
            </a:r>
            <a:r>
              <a:rPr spc="-20" dirty="0"/>
              <a:t> </a:t>
            </a:r>
            <a:r>
              <a:rPr dirty="0"/>
              <a:t>|</a:t>
            </a:r>
            <a:r>
              <a:rPr spc="-15" dirty="0"/>
              <a:t> </a:t>
            </a:r>
            <a:r>
              <a:rPr dirty="0"/>
              <a:t>Office</a:t>
            </a:r>
            <a:r>
              <a:rPr spc="-20" dirty="0"/>
              <a:t> </a:t>
            </a:r>
            <a:r>
              <a:rPr dirty="0"/>
              <a:t>|</a:t>
            </a:r>
            <a:r>
              <a:rPr spc="-15" dirty="0"/>
              <a:t> </a:t>
            </a:r>
            <a:r>
              <a:rPr dirty="0"/>
              <a:t>Faculty</a:t>
            </a:r>
            <a:r>
              <a:rPr spc="-15" dirty="0"/>
              <a:t> </a:t>
            </a:r>
            <a:r>
              <a:rPr dirty="0"/>
              <a:t>|</a:t>
            </a:r>
            <a:r>
              <a:rPr spc="-15" dirty="0"/>
              <a:t> </a:t>
            </a:r>
            <a:r>
              <a:rPr spc="-10" dirty="0"/>
              <a:t>School</a:t>
            </a:r>
          </a:p>
        </p:txBody>
      </p:sp>
      <p:sp>
        <p:nvSpPr>
          <p:cNvPr id="5" name="TextBox 4">
            <a:extLst>
              <a:ext uri="{FF2B5EF4-FFF2-40B4-BE49-F238E27FC236}">
                <a16:creationId xmlns:a16="http://schemas.microsoft.com/office/drawing/2014/main" id="{69B41F32-D684-40F4-0452-55F75B808257}"/>
              </a:ext>
            </a:extLst>
          </p:cNvPr>
          <p:cNvSpPr txBox="1"/>
          <p:nvPr/>
        </p:nvSpPr>
        <p:spPr>
          <a:xfrm>
            <a:off x="47508" y="709598"/>
            <a:ext cx="9096492" cy="6031908"/>
          </a:xfrm>
          <a:prstGeom prst="rect">
            <a:avLst/>
          </a:prstGeom>
          <a:solidFill>
            <a:schemeClr val="bg1"/>
          </a:solidFill>
        </p:spPr>
        <p:txBody>
          <a:bodyPr wrap="square">
            <a:spAutoFit/>
          </a:bodyPr>
          <a:lstStyle/>
          <a:p>
            <a:pPr marL="457200" indent="-457200">
              <a:lnSpc>
                <a:spcPct val="150000"/>
              </a:lnSpc>
              <a:buFont typeface="+mj-lt"/>
              <a:buAutoNum type="arabicPeriod" startAt="11"/>
            </a:pPr>
            <a:r>
              <a:rPr lang="en-US" sz="2600" dirty="0">
                <a:latin typeface="+mj-lt"/>
              </a:rPr>
              <a:t>Hands-On Activity 7</a:t>
            </a:r>
          </a:p>
          <a:p>
            <a:pPr marL="457200" indent="-457200">
              <a:lnSpc>
                <a:spcPct val="150000"/>
              </a:lnSpc>
              <a:buFont typeface="+mj-lt"/>
              <a:buAutoNum type="arabicPeriod" startAt="11"/>
            </a:pPr>
            <a:r>
              <a:rPr lang="en-US" sz="2600" dirty="0">
                <a:latin typeface="+mj-lt"/>
              </a:rPr>
              <a:t>Hands-On Activity 8</a:t>
            </a:r>
          </a:p>
          <a:p>
            <a:pPr marL="457200" indent="-457200">
              <a:lnSpc>
                <a:spcPct val="150000"/>
              </a:lnSpc>
              <a:buFont typeface="+mj-lt"/>
              <a:buAutoNum type="arabicPeriod" startAt="11"/>
            </a:pPr>
            <a:r>
              <a:rPr lang="en-US" sz="2600" dirty="0">
                <a:latin typeface="+mj-lt"/>
              </a:rPr>
              <a:t>Reshaping with Pivot, Melt, Stack &amp; Unstack</a:t>
            </a:r>
          </a:p>
          <a:p>
            <a:pPr marL="457200" indent="-457200">
              <a:lnSpc>
                <a:spcPct val="150000"/>
              </a:lnSpc>
              <a:buFont typeface="+mj-lt"/>
              <a:buAutoNum type="arabicPeriod" startAt="11"/>
            </a:pPr>
            <a:r>
              <a:rPr lang="en-US" sz="2600" dirty="0">
                <a:latin typeface="+mj-lt"/>
              </a:rPr>
              <a:t>Hands-On Activity 9</a:t>
            </a:r>
          </a:p>
          <a:p>
            <a:pPr marL="457200" indent="-457200">
              <a:lnSpc>
                <a:spcPct val="150000"/>
              </a:lnSpc>
              <a:buFont typeface="+mj-lt"/>
              <a:buAutoNum type="arabicPeriod" startAt="11"/>
            </a:pPr>
            <a:r>
              <a:rPr lang="en-US" sz="2600" dirty="0">
                <a:latin typeface="+mj-lt"/>
              </a:rPr>
              <a:t>Hands-On Activity 10</a:t>
            </a:r>
          </a:p>
          <a:p>
            <a:pPr marL="457200" indent="-457200">
              <a:lnSpc>
                <a:spcPct val="150000"/>
              </a:lnSpc>
              <a:buFont typeface="+mj-lt"/>
              <a:buAutoNum type="arabicPeriod" startAt="11"/>
            </a:pPr>
            <a:r>
              <a:rPr lang="en-US" sz="2600" dirty="0">
                <a:latin typeface="+mj-lt"/>
              </a:rPr>
              <a:t>Hands-On Activity 11</a:t>
            </a:r>
          </a:p>
          <a:p>
            <a:pPr marL="457200" indent="-457200">
              <a:lnSpc>
                <a:spcPct val="150000"/>
              </a:lnSpc>
              <a:buFont typeface="+mj-lt"/>
              <a:buAutoNum type="arabicPeriod" startAt="11"/>
            </a:pPr>
            <a:r>
              <a:rPr lang="en-US" sz="2600" dirty="0">
                <a:latin typeface="+mj-lt"/>
              </a:rPr>
              <a:t>Hands-On Activity 12</a:t>
            </a:r>
          </a:p>
          <a:p>
            <a:pPr marL="457200" indent="-457200">
              <a:lnSpc>
                <a:spcPct val="150000"/>
              </a:lnSpc>
              <a:buFont typeface="+mj-lt"/>
              <a:buAutoNum type="arabicPeriod" startAt="11"/>
            </a:pPr>
            <a:r>
              <a:rPr lang="en-US" sz="2600" dirty="0">
                <a:latin typeface="+mj-lt"/>
              </a:rPr>
              <a:t>Research &amp; Discussion Prompts</a:t>
            </a:r>
          </a:p>
          <a:p>
            <a:pPr marL="457200" indent="-457200">
              <a:lnSpc>
                <a:spcPct val="150000"/>
              </a:lnSpc>
              <a:buFont typeface="+mj-lt"/>
              <a:buAutoNum type="arabicPeriod" startAt="11"/>
            </a:pPr>
            <a:r>
              <a:rPr lang="en-US" sz="2600" dirty="0">
                <a:latin typeface="+mj-lt"/>
              </a:rPr>
              <a:t>Role-Play &amp; Problem-Solving (Hands-On Thinking)</a:t>
            </a:r>
          </a:p>
          <a:p>
            <a:pPr marL="457200" indent="-457200">
              <a:lnSpc>
                <a:spcPct val="150000"/>
              </a:lnSpc>
              <a:buFont typeface="+mj-lt"/>
              <a:buAutoNum type="arabicPeriod" startAt="11"/>
            </a:pPr>
            <a:r>
              <a:rPr lang="en-US" sz="2600" dirty="0">
                <a:latin typeface="+mj-lt"/>
              </a:rPr>
              <a:t>A Mini-Project: Student Success Data Wrangling Dashboard</a:t>
            </a:r>
          </a:p>
        </p:txBody>
      </p:sp>
    </p:spTree>
    <p:extLst>
      <p:ext uri="{BB962C8B-B14F-4D97-AF65-F5344CB8AC3E}">
        <p14:creationId xmlns:p14="http://schemas.microsoft.com/office/powerpoint/2010/main" val="189882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Welcome to Week 9</a:t>
            </a:r>
            <a:endParaRPr spc="-20" dirty="0">
              <a:latin typeface="+mj-lt"/>
            </a:endParaRPr>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45A64173-A2BA-6645-65D5-1C30377195AD}"/>
              </a:ext>
            </a:extLst>
          </p:cNvPr>
          <p:cNvSpPr txBox="1"/>
          <p:nvPr/>
        </p:nvSpPr>
        <p:spPr>
          <a:xfrm>
            <a:off x="73573" y="1477248"/>
            <a:ext cx="8996854" cy="3903504"/>
          </a:xfrm>
          <a:prstGeom prst="rect">
            <a:avLst/>
          </a:prstGeom>
          <a:noFill/>
        </p:spPr>
        <p:txBody>
          <a:bodyPr wrap="square">
            <a:spAutoFit/>
          </a:bodyPr>
          <a:lstStyle/>
          <a:p>
            <a:pPr>
              <a:lnSpc>
                <a:spcPct val="150000"/>
              </a:lnSpc>
            </a:pPr>
            <a:r>
              <a:rPr lang="en-US" sz="2800" dirty="0">
                <a:latin typeface="+mj-lt"/>
              </a:rPr>
              <a:t>Last week (Week 8), you learned how to clean messy data — fixing missing values, creating bins, and taking useful samples.</a:t>
            </a:r>
          </a:p>
          <a:p>
            <a:pPr>
              <a:lnSpc>
                <a:spcPct val="150000"/>
              </a:lnSpc>
            </a:pPr>
            <a:r>
              <a:rPr lang="en-US" sz="2800" dirty="0">
                <a:latin typeface="+mj-lt"/>
              </a:rPr>
              <a:t>This week, we take the next exciting step: combining different datasets and reshaping them so they’re ready for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DD42-BED2-8A0A-B782-803FE5C23EF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866535-3036-FF69-012D-20E2DA3F45F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Welcome to Week 9</a:t>
            </a:r>
            <a:endParaRPr spc="-20" dirty="0">
              <a:latin typeface="+mj-lt"/>
            </a:endParaRPr>
          </a:p>
        </p:txBody>
      </p:sp>
      <p:sp>
        <p:nvSpPr>
          <p:cNvPr id="5" name="object 5">
            <a:extLst>
              <a:ext uri="{FF2B5EF4-FFF2-40B4-BE49-F238E27FC236}">
                <a16:creationId xmlns:a16="http://schemas.microsoft.com/office/drawing/2014/main" id="{AA982EF3-B57E-1DC2-8C22-D317D71CA77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94A22539-A6DC-164C-1FBB-BF69FB8AC4AC}"/>
              </a:ext>
            </a:extLst>
          </p:cNvPr>
          <p:cNvSpPr txBox="1"/>
          <p:nvPr/>
        </p:nvSpPr>
        <p:spPr>
          <a:xfrm>
            <a:off x="73573" y="1800413"/>
            <a:ext cx="8996854" cy="3257174"/>
          </a:xfrm>
          <a:prstGeom prst="rect">
            <a:avLst/>
          </a:prstGeom>
          <a:noFill/>
        </p:spPr>
        <p:txBody>
          <a:bodyPr wrap="square">
            <a:spAutoFit/>
          </a:bodyPr>
          <a:lstStyle/>
          <a:p>
            <a:pPr>
              <a:lnSpc>
                <a:spcPct val="150000"/>
              </a:lnSpc>
            </a:pPr>
            <a:r>
              <a:rPr lang="en-US" sz="2800" dirty="0">
                <a:latin typeface="+mj-lt"/>
              </a:rPr>
              <a:t>Think of it like building a puzzle — each table or file is a puzzle piece, and your job is to fit them together to see the full picture. In real life, especially with Australian Bureau of Statistics (ABS) or business datasets, data hardly ever lives in one tidy table. You’ll learn how to:</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773408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20C57-9DCC-62D5-4F71-D6ABFF3BCC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4B4DF3-9101-0229-E1BC-9730CD501291}"/>
              </a:ext>
            </a:extLst>
          </p:cNvPr>
          <p:cNvSpPr txBox="1"/>
          <p:nvPr/>
        </p:nvSpPr>
        <p:spPr>
          <a:xfrm>
            <a:off x="0" y="5032563"/>
            <a:ext cx="9149460" cy="1828065"/>
          </a:xfrm>
          <a:prstGeom prst="rect">
            <a:avLst/>
          </a:prstGeom>
          <a:solidFill>
            <a:schemeClr val="bg1"/>
          </a:solidFill>
        </p:spPr>
        <p:txBody>
          <a:bodyPr wrap="square">
            <a:spAutoFit/>
          </a:bodyPr>
          <a:lstStyle/>
          <a:p>
            <a:pPr>
              <a:lnSpc>
                <a:spcPct val="150000"/>
              </a:lnSpc>
            </a:pPr>
            <a:r>
              <a:rPr lang="en-US" sz="2600" dirty="0">
                <a:latin typeface="+mj-lt"/>
              </a:rPr>
              <a:t>By the end of the week, you’ll feel more confident handling </a:t>
            </a:r>
            <a:r>
              <a:rPr lang="en-US" sz="2600" i="1" dirty="0">
                <a:latin typeface="+mj-lt"/>
              </a:rPr>
              <a:t>real-world, multi-table data</a:t>
            </a:r>
            <a:r>
              <a:rPr lang="en-US" sz="2600" dirty="0">
                <a:latin typeface="+mj-lt"/>
              </a:rPr>
              <a:t>, just like professional data analysts do in Australia</a:t>
            </a:r>
          </a:p>
        </p:txBody>
      </p:sp>
      <p:sp>
        <p:nvSpPr>
          <p:cNvPr id="2" name="object 2">
            <a:extLst>
              <a:ext uri="{FF2B5EF4-FFF2-40B4-BE49-F238E27FC236}">
                <a16:creationId xmlns:a16="http://schemas.microsoft.com/office/drawing/2014/main" id="{4D071DD7-5A72-F7E2-29AB-8E07AC9B148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Welcome to Week 9</a:t>
            </a:r>
            <a:endParaRPr spc="-20" dirty="0">
              <a:latin typeface="+mj-lt"/>
            </a:endParaRPr>
          </a:p>
        </p:txBody>
      </p:sp>
      <p:sp>
        <p:nvSpPr>
          <p:cNvPr id="5" name="object 5">
            <a:extLst>
              <a:ext uri="{FF2B5EF4-FFF2-40B4-BE49-F238E27FC236}">
                <a16:creationId xmlns:a16="http://schemas.microsoft.com/office/drawing/2014/main" id="{419B1B79-09F1-BAFF-58BD-CD15206C363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B096A27E-BC59-CB29-CF62-30283A7AE27F}"/>
              </a:ext>
            </a:extLst>
          </p:cNvPr>
          <p:cNvSpPr txBox="1"/>
          <p:nvPr/>
        </p:nvSpPr>
        <p:spPr>
          <a:xfrm>
            <a:off x="73573" y="685800"/>
            <a:ext cx="8996854" cy="4549835"/>
          </a:xfrm>
          <a:prstGeom prst="rect">
            <a:avLst/>
          </a:prstGeom>
          <a:noFill/>
        </p:spPr>
        <p:txBody>
          <a:bodyPr wrap="square">
            <a:spAutoFit/>
          </a:bodyPr>
          <a:lstStyle/>
          <a:p>
            <a:pPr marL="714375" lvl="1" indent="-457200" algn="l" rtl="0" eaLnBrk="0" fontAlgn="base" hangingPunct="0">
              <a:lnSpc>
                <a:spcPct val="150000"/>
              </a:lnSpc>
              <a:spcBef>
                <a:spcPct val="0"/>
              </a:spcBef>
              <a:spcAft>
                <a:spcPct val="0"/>
              </a:spcAft>
              <a:buFont typeface="Arial" panose="020B0604020202020204" pitchFamily="34" charset="0"/>
              <a:buChar char="•"/>
            </a:pPr>
            <a:r>
              <a:rPr lang="en-US" altLang="en-US" sz="2800" b="1" dirty="0">
                <a:solidFill>
                  <a:schemeClr val="tx1"/>
                </a:solidFill>
                <a:latin typeface="+mj-lt"/>
              </a:rPr>
              <a:t>Join and merge</a:t>
            </a:r>
            <a:r>
              <a:rPr lang="en-US" altLang="en-US" sz="2800" dirty="0">
                <a:solidFill>
                  <a:schemeClr val="tx1"/>
                </a:solidFill>
                <a:latin typeface="+mj-lt"/>
              </a:rPr>
              <a:t> information from multiple sources (like combining student records with test results).</a:t>
            </a:r>
          </a:p>
          <a:p>
            <a:pPr marL="714375" lvl="1" indent="-457200" algn="l" rtl="0" eaLnBrk="0" fontAlgn="base" hangingPunct="0">
              <a:lnSpc>
                <a:spcPct val="150000"/>
              </a:lnSpc>
              <a:spcBef>
                <a:spcPct val="0"/>
              </a:spcBef>
              <a:spcAft>
                <a:spcPct val="0"/>
              </a:spcAft>
              <a:buFont typeface="Arial" panose="020B0604020202020204" pitchFamily="34" charset="0"/>
              <a:buChar char="•"/>
            </a:pPr>
            <a:r>
              <a:rPr lang="en-US" altLang="en-US" sz="2800" b="1" dirty="0">
                <a:solidFill>
                  <a:schemeClr val="tx1"/>
                </a:solidFill>
                <a:latin typeface="+mj-lt"/>
              </a:rPr>
              <a:t>Reshape</a:t>
            </a:r>
            <a:r>
              <a:rPr lang="en-US" altLang="en-US" sz="2800" dirty="0">
                <a:solidFill>
                  <a:schemeClr val="tx1"/>
                </a:solidFill>
                <a:latin typeface="+mj-lt"/>
              </a:rPr>
              <a:t> data to switch between wide and long formats — a bit like turning a table sideways to get new insights.</a:t>
            </a:r>
          </a:p>
          <a:p>
            <a:pPr marL="714375" lvl="1" indent="-457200" algn="l" rtl="0" eaLnBrk="0" fontAlgn="base" hangingPunct="0">
              <a:lnSpc>
                <a:spcPct val="150000"/>
              </a:lnSpc>
              <a:spcBef>
                <a:spcPct val="0"/>
              </a:spcBef>
              <a:spcAft>
                <a:spcPct val="0"/>
              </a:spcAft>
              <a:buFont typeface="Arial" panose="020B0604020202020204" pitchFamily="34" charset="0"/>
              <a:buChar char="•"/>
            </a:pPr>
            <a:r>
              <a:rPr lang="en-US" altLang="en-US" sz="2800" b="1" dirty="0">
                <a:solidFill>
                  <a:schemeClr val="tx1"/>
                </a:solidFill>
                <a:latin typeface="+mj-lt"/>
              </a:rPr>
              <a:t>Prepare</a:t>
            </a:r>
            <a:r>
              <a:rPr lang="en-US" altLang="en-US" sz="2800" dirty="0">
                <a:solidFill>
                  <a:schemeClr val="tx1"/>
                </a:solidFill>
                <a:latin typeface="+mj-lt"/>
              </a:rPr>
              <a:t> your merged data for </a:t>
            </a:r>
            <a:r>
              <a:rPr lang="en-US" altLang="en-US" sz="2800" dirty="0" err="1">
                <a:solidFill>
                  <a:schemeClr val="tx1"/>
                </a:solidFill>
                <a:latin typeface="+mj-lt"/>
              </a:rPr>
              <a:t>visualisation</a:t>
            </a:r>
            <a:r>
              <a:rPr lang="en-US" altLang="en-US" sz="2800" dirty="0">
                <a:solidFill>
                  <a:schemeClr val="tx1"/>
                </a:solidFill>
                <a:latin typeface="+mj-lt"/>
              </a:rPr>
              <a:t> or modelling later on.</a:t>
            </a:r>
          </a:p>
        </p:txBody>
      </p:sp>
    </p:spTree>
    <p:extLst>
      <p:ext uri="{BB962C8B-B14F-4D97-AF65-F5344CB8AC3E}">
        <p14:creationId xmlns:p14="http://schemas.microsoft.com/office/powerpoint/2010/main" val="570682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6A6B-74FB-BC6F-E1E7-1C0C61E1CD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3BE4E6-AEDD-1687-8B61-7071E0DCABE3}"/>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Alignment with Unit Outline &amp; Learning Outcomes</a:t>
            </a:r>
            <a:endParaRPr spc="-20" dirty="0">
              <a:latin typeface="+mj-lt"/>
            </a:endParaRPr>
          </a:p>
        </p:txBody>
      </p:sp>
      <p:sp>
        <p:nvSpPr>
          <p:cNvPr id="5" name="object 5">
            <a:extLst>
              <a:ext uri="{FF2B5EF4-FFF2-40B4-BE49-F238E27FC236}">
                <a16:creationId xmlns:a16="http://schemas.microsoft.com/office/drawing/2014/main" id="{F4FA4734-3189-1CF1-FEB4-1DE76CC4FFE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0D371733-685E-CF34-AEA1-05E6F3C23BB9}"/>
              </a:ext>
            </a:extLst>
          </p:cNvPr>
          <p:cNvSpPr txBox="1"/>
          <p:nvPr/>
        </p:nvSpPr>
        <p:spPr>
          <a:xfrm>
            <a:off x="73573" y="1154082"/>
            <a:ext cx="8996854" cy="4549835"/>
          </a:xfrm>
          <a:prstGeom prst="rect">
            <a:avLst/>
          </a:prstGeom>
          <a:noFill/>
        </p:spPr>
        <p:txBody>
          <a:bodyPr wrap="square">
            <a:spAutoFit/>
          </a:bodyPr>
          <a:lstStyle/>
          <a:p>
            <a:pPr>
              <a:lnSpc>
                <a:spcPct val="150000"/>
              </a:lnSpc>
            </a:pPr>
            <a:r>
              <a:rPr lang="en-US" sz="2800" i="1" dirty="0">
                <a:latin typeface="+mj-lt"/>
              </a:rPr>
              <a:t>How This Week Connects to Your Learning Outcomes</a:t>
            </a:r>
            <a:endParaRPr lang="en-US" sz="2800" dirty="0">
              <a:latin typeface="+mj-lt"/>
            </a:endParaRPr>
          </a:p>
          <a:p>
            <a:pPr>
              <a:lnSpc>
                <a:spcPct val="150000"/>
              </a:lnSpc>
            </a:pPr>
            <a:r>
              <a:rPr lang="en-US" sz="2800" b="1" dirty="0">
                <a:latin typeface="+mj-lt"/>
              </a:rPr>
              <a:t>LO1:</a:t>
            </a:r>
            <a:r>
              <a:rPr lang="en-US" sz="2800" dirty="0">
                <a:latin typeface="+mj-lt"/>
              </a:rPr>
              <a:t> Build Python fundamentals &amp; use core data science tools (Pandas).</a:t>
            </a:r>
            <a:br>
              <a:rPr lang="en-US" sz="2800" dirty="0">
                <a:latin typeface="+mj-lt"/>
              </a:rPr>
            </a:br>
            <a:r>
              <a:rPr lang="en-US" sz="2800" b="1" dirty="0">
                <a:latin typeface="+mj-lt"/>
              </a:rPr>
              <a:t>LO2:</a:t>
            </a:r>
            <a:r>
              <a:rPr lang="en-US" sz="2800" dirty="0">
                <a:latin typeface="+mj-lt"/>
              </a:rPr>
              <a:t> Collect, clean, wrangle, and combine datasets confidently.</a:t>
            </a:r>
            <a:br>
              <a:rPr lang="en-US" sz="2800" dirty="0">
                <a:latin typeface="+mj-lt"/>
              </a:rPr>
            </a:br>
            <a:r>
              <a:rPr lang="en-US" sz="2800" b="1" dirty="0">
                <a:latin typeface="+mj-lt"/>
              </a:rPr>
              <a:t>LO3:</a:t>
            </a:r>
            <a:r>
              <a:rPr lang="en-US" sz="2800" dirty="0">
                <a:latin typeface="+mj-lt"/>
              </a:rPr>
              <a:t> Apply these methods to real-world Australian data, such as university or ABS datasets.</a:t>
            </a:r>
          </a:p>
        </p:txBody>
      </p:sp>
    </p:spTree>
    <p:extLst>
      <p:ext uri="{BB962C8B-B14F-4D97-AF65-F5344CB8AC3E}">
        <p14:creationId xmlns:p14="http://schemas.microsoft.com/office/powerpoint/2010/main" val="1307070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0BB2D-C6EF-43E0-01D8-C3D01E236F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2BD37EA-0D62-A664-3A11-E1512BD619CA}"/>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Alignment with Unit Outline &amp; Learning Outcomes</a:t>
            </a:r>
            <a:endParaRPr spc="-20" dirty="0">
              <a:latin typeface="+mj-lt"/>
            </a:endParaRPr>
          </a:p>
        </p:txBody>
      </p:sp>
      <p:sp>
        <p:nvSpPr>
          <p:cNvPr id="5" name="object 5">
            <a:extLst>
              <a:ext uri="{FF2B5EF4-FFF2-40B4-BE49-F238E27FC236}">
                <a16:creationId xmlns:a16="http://schemas.microsoft.com/office/drawing/2014/main" id="{BE298C6C-3B47-DADB-3F69-6F79F83EDDC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3BBFE051-D30A-BD09-4A11-5F052CC7C923}"/>
              </a:ext>
            </a:extLst>
          </p:cNvPr>
          <p:cNvSpPr txBox="1"/>
          <p:nvPr/>
        </p:nvSpPr>
        <p:spPr>
          <a:xfrm>
            <a:off x="73573" y="1154082"/>
            <a:ext cx="8996854" cy="2607958"/>
          </a:xfrm>
          <a:prstGeom prst="rect">
            <a:avLst/>
          </a:prstGeom>
          <a:noFill/>
        </p:spPr>
        <p:txBody>
          <a:bodyPr wrap="square">
            <a:spAutoFit/>
          </a:bodyPr>
          <a:lstStyle/>
          <a:p>
            <a:pPr>
              <a:lnSpc>
                <a:spcPct val="150000"/>
              </a:lnSpc>
            </a:pPr>
            <a:r>
              <a:rPr lang="en-US" sz="2800" b="1" dirty="0">
                <a:latin typeface="+mj-lt"/>
              </a:rPr>
              <a:t>Takeaway:</a:t>
            </a:r>
            <a:br>
              <a:rPr lang="en-US" sz="2800" dirty="0">
                <a:latin typeface="+mj-lt"/>
              </a:rPr>
            </a:br>
            <a:r>
              <a:rPr lang="en-US" sz="2800" dirty="0">
                <a:latin typeface="+mj-lt"/>
              </a:rPr>
              <a:t>By Week 9, you can reshape, merge, and analyze data just like a real data analyst working in Australia’s tech or education sectors.</a:t>
            </a:r>
          </a:p>
        </p:txBody>
      </p:sp>
    </p:spTree>
    <p:extLst>
      <p:ext uri="{BB962C8B-B14F-4D97-AF65-F5344CB8AC3E}">
        <p14:creationId xmlns:p14="http://schemas.microsoft.com/office/powerpoint/2010/main" val="2614325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02B36-CDD7-354A-351F-48F55393A50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ADF489-FDD1-4196-9D9C-147B0C289794}"/>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64EB679F-DCB8-0DB2-4FDA-62A05E5B4E4F}"/>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45857ABF-FB04-7144-BD76-6E6E2BC894AA}"/>
              </a:ext>
            </a:extLst>
          </p:cNvPr>
          <p:cNvSpPr txBox="1"/>
          <p:nvPr/>
        </p:nvSpPr>
        <p:spPr>
          <a:xfrm>
            <a:off x="-29006" y="1914148"/>
            <a:ext cx="8996854" cy="3257174"/>
          </a:xfrm>
          <a:prstGeom prst="rect">
            <a:avLst/>
          </a:prstGeom>
          <a:noFill/>
        </p:spPr>
        <p:txBody>
          <a:bodyPr wrap="square">
            <a:spAutoFit/>
          </a:bodyPr>
          <a:lstStyle/>
          <a:p>
            <a:pPr marL="84138" lvl="1" algn="l" rtl="0" eaLnBrk="0" fontAlgn="base" hangingPunct="0">
              <a:lnSpc>
                <a:spcPct val="150000"/>
              </a:lnSpc>
              <a:spcBef>
                <a:spcPct val="0"/>
              </a:spcBef>
              <a:spcAft>
                <a:spcPct val="0"/>
              </a:spcAft>
            </a:pPr>
            <a:r>
              <a:rPr lang="en-US" sz="2800" dirty="0">
                <a:latin typeface="+mj-lt"/>
              </a:rPr>
              <a:t>“Hierarchical indexing” means </a:t>
            </a:r>
            <a:r>
              <a:rPr lang="en-US" sz="2800" i="1" dirty="0">
                <a:latin typeface="+mj-lt"/>
              </a:rPr>
              <a:t>multi-level indexing</a:t>
            </a:r>
            <a:r>
              <a:rPr lang="en-US" sz="2800" dirty="0">
                <a:latin typeface="+mj-lt"/>
              </a:rPr>
              <a:t>.</a:t>
            </a:r>
            <a:br>
              <a:rPr lang="en-US" sz="2800" dirty="0">
                <a:latin typeface="+mj-lt"/>
              </a:rPr>
            </a:br>
            <a:r>
              <a:rPr lang="en-US" sz="2800" dirty="0">
                <a:latin typeface="+mj-lt"/>
              </a:rPr>
              <a:t>Think of it like a filing cabinet — each folder (Region) has subfolders (State).</a:t>
            </a:r>
            <a:br>
              <a:rPr lang="en-US" sz="2800" dirty="0">
                <a:latin typeface="+mj-lt"/>
              </a:rPr>
            </a:br>
            <a:r>
              <a:rPr lang="en-US" sz="2800" dirty="0">
                <a:latin typeface="+mj-lt"/>
              </a:rPr>
              <a:t>In Pandas, this lets you </a:t>
            </a:r>
            <a:r>
              <a:rPr lang="en-US" sz="2800" dirty="0" err="1">
                <a:latin typeface="+mj-lt"/>
              </a:rPr>
              <a:t>organise</a:t>
            </a:r>
            <a:r>
              <a:rPr lang="en-US" sz="2800" dirty="0">
                <a:latin typeface="+mj-lt"/>
              </a:rPr>
              <a:t> and access data using more than one key — for example, Region + State.</a:t>
            </a:r>
            <a:endParaRPr lang="en-US" altLang="en-US" sz="2800" dirty="0">
              <a:solidFill>
                <a:schemeClr val="tx1"/>
              </a:solidFill>
              <a:latin typeface="+mj-lt"/>
            </a:endParaRPr>
          </a:p>
        </p:txBody>
      </p:sp>
    </p:spTree>
    <p:extLst>
      <p:ext uri="{BB962C8B-B14F-4D97-AF65-F5344CB8AC3E}">
        <p14:creationId xmlns:p14="http://schemas.microsoft.com/office/powerpoint/2010/main" val="2540989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206F3-6882-9044-D8FD-A3F661E059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72AF1FE-D768-5882-4A9E-655589C9BD5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1952196E-A7E5-8232-E5FF-78CF7D5C1A4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F817C3A6-B787-23D3-2882-7DAA461CB469}"/>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10" name="TextBox 9">
            <a:extLst>
              <a:ext uri="{FF2B5EF4-FFF2-40B4-BE49-F238E27FC236}">
                <a16:creationId xmlns:a16="http://schemas.microsoft.com/office/drawing/2014/main" id="{DD841CBB-4A0F-23E5-D66E-A562FE9E691C}"/>
              </a:ext>
            </a:extLst>
          </p:cNvPr>
          <p:cNvSpPr txBox="1"/>
          <p:nvPr/>
        </p:nvSpPr>
        <p:spPr>
          <a:xfrm>
            <a:off x="5147545" y="1905000"/>
            <a:ext cx="3996455" cy="454983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We’re bringing in the Pandas library — this is like a powerful spreadsheet tool in Python that helps us work with tables (rows and columns).</a:t>
            </a:r>
          </a:p>
        </p:txBody>
      </p:sp>
      <p:sp>
        <p:nvSpPr>
          <p:cNvPr id="11" name="Rectangle: Rounded Corners 10">
            <a:extLst>
              <a:ext uri="{FF2B5EF4-FFF2-40B4-BE49-F238E27FC236}">
                <a16:creationId xmlns:a16="http://schemas.microsoft.com/office/drawing/2014/main" id="{BD58B8B9-7FFF-1E3A-5149-4C220A86C690}"/>
              </a:ext>
            </a:extLst>
          </p:cNvPr>
          <p:cNvSpPr/>
          <p:nvPr/>
        </p:nvSpPr>
        <p:spPr>
          <a:xfrm>
            <a:off x="762000" y="3013840"/>
            <a:ext cx="3352800" cy="228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7998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9F76B-A818-4E9F-DFAF-E1597C7850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882FE9-FAE1-E637-8132-2610129CAF7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38918EFC-4BEF-DAF6-326B-42D6CE60BD3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CDDDB9B0-F50B-9422-E4E8-C4A38A46FADB}"/>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10" name="TextBox 9">
            <a:extLst>
              <a:ext uri="{FF2B5EF4-FFF2-40B4-BE49-F238E27FC236}">
                <a16:creationId xmlns:a16="http://schemas.microsoft.com/office/drawing/2014/main" id="{70FCEAC8-7BCB-6823-DD4A-1D219F7358CD}"/>
              </a:ext>
            </a:extLst>
          </p:cNvPr>
          <p:cNvSpPr txBox="1"/>
          <p:nvPr/>
        </p:nvSpPr>
        <p:spPr>
          <a:xfrm>
            <a:off x="5147545" y="391295"/>
            <a:ext cx="3996455" cy="6488828"/>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We’re creating a small table (</a:t>
            </a:r>
            <a:r>
              <a:rPr lang="en-US" sz="2800" dirty="0" err="1">
                <a:latin typeface="+mj-lt"/>
              </a:rPr>
              <a:t>DataFrame</a:t>
            </a:r>
            <a:r>
              <a:rPr lang="en-US" sz="2800" dirty="0">
                <a:latin typeface="+mj-lt"/>
              </a:rPr>
              <a:t>) with three columns:</a:t>
            </a:r>
          </a:p>
          <a:p>
            <a:pPr marL="457200" indent="-457200">
              <a:lnSpc>
                <a:spcPct val="150000"/>
              </a:lnSpc>
              <a:buFont typeface="Arial" panose="020B0604020202020204" pitchFamily="34" charset="0"/>
              <a:buChar char="•"/>
            </a:pPr>
            <a:r>
              <a:rPr lang="en-US" sz="2800" dirty="0">
                <a:latin typeface="+mj-lt"/>
              </a:rPr>
              <a:t>Region → e.g., NSW, VIC (like states in Australia)</a:t>
            </a:r>
          </a:p>
          <a:p>
            <a:pPr marL="457200" indent="-457200">
              <a:lnSpc>
                <a:spcPct val="150000"/>
              </a:lnSpc>
              <a:buFont typeface="Arial" panose="020B0604020202020204" pitchFamily="34" charset="0"/>
              <a:buChar char="•"/>
            </a:pPr>
            <a:r>
              <a:rPr lang="en-US" sz="2800" dirty="0">
                <a:latin typeface="+mj-lt"/>
              </a:rPr>
              <a:t>State → specific cities or local areas</a:t>
            </a:r>
          </a:p>
          <a:p>
            <a:pPr marL="457200" indent="-457200">
              <a:lnSpc>
                <a:spcPct val="150000"/>
              </a:lnSpc>
              <a:buFont typeface="Arial" panose="020B0604020202020204" pitchFamily="34" charset="0"/>
              <a:buChar char="•"/>
            </a:pPr>
            <a:r>
              <a:rPr lang="en-US" sz="2800" dirty="0">
                <a:latin typeface="+mj-lt"/>
              </a:rPr>
              <a:t>Sales → how much was sold in each place</a:t>
            </a:r>
          </a:p>
        </p:txBody>
      </p:sp>
      <p:sp>
        <p:nvSpPr>
          <p:cNvPr id="11" name="Rectangle: Rounded Corners 10">
            <a:extLst>
              <a:ext uri="{FF2B5EF4-FFF2-40B4-BE49-F238E27FC236}">
                <a16:creationId xmlns:a16="http://schemas.microsoft.com/office/drawing/2014/main" id="{49957CCB-E13E-870A-74E0-78094DE3648E}"/>
              </a:ext>
            </a:extLst>
          </p:cNvPr>
          <p:cNvSpPr/>
          <p:nvPr/>
        </p:nvSpPr>
        <p:spPr>
          <a:xfrm>
            <a:off x="762000" y="3195144"/>
            <a:ext cx="4343400" cy="8329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841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5596C-F363-02CD-61AC-C7F556745F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1B4BD3-27E2-AB70-2DCC-4FD9927476FE}"/>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0DF7B17E-0816-F7EA-F91E-95CA6192FA4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2378CAA3-F0C3-5EC2-E7A7-0FA4F499AC30}"/>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10" name="TextBox 9">
            <a:extLst>
              <a:ext uri="{FF2B5EF4-FFF2-40B4-BE49-F238E27FC236}">
                <a16:creationId xmlns:a16="http://schemas.microsoft.com/office/drawing/2014/main" id="{5F01183C-9277-382D-B101-40D08EACCF5A}"/>
              </a:ext>
            </a:extLst>
          </p:cNvPr>
          <p:cNvSpPr txBox="1"/>
          <p:nvPr/>
        </p:nvSpPr>
        <p:spPr>
          <a:xfrm>
            <a:off x="5154919" y="914400"/>
            <a:ext cx="3996455" cy="131542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It looks like this before indexing:</a:t>
            </a:r>
          </a:p>
        </p:txBody>
      </p:sp>
      <p:sp>
        <p:nvSpPr>
          <p:cNvPr id="11" name="Rectangle: Rounded Corners 10">
            <a:extLst>
              <a:ext uri="{FF2B5EF4-FFF2-40B4-BE49-F238E27FC236}">
                <a16:creationId xmlns:a16="http://schemas.microsoft.com/office/drawing/2014/main" id="{7852C352-1570-3262-3893-BF6AC8740D61}"/>
              </a:ext>
            </a:extLst>
          </p:cNvPr>
          <p:cNvSpPr/>
          <p:nvPr/>
        </p:nvSpPr>
        <p:spPr>
          <a:xfrm>
            <a:off x="762000" y="3195144"/>
            <a:ext cx="4343400" cy="8329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5871FDEF-0D4B-D354-FB3A-816F4FDCF05D}"/>
              </a:ext>
            </a:extLst>
          </p:cNvPr>
          <p:cNvGraphicFramePr>
            <a:graphicFrameLocks noGrp="1"/>
          </p:cNvGraphicFramePr>
          <p:nvPr>
            <p:extLst>
              <p:ext uri="{D42A27DB-BD31-4B8C-83A1-F6EECF244321}">
                <p14:modId xmlns:p14="http://schemas.microsoft.com/office/powerpoint/2010/main" val="4251311191"/>
              </p:ext>
            </p:extLst>
          </p:nvPr>
        </p:nvGraphicFramePr>
        <p:xfrm>
          <a:off x="5212146" y="2382225"/>
          <a:ext cx="3733800" cy="4297527"/>
        </p:xfrm>
        <a:graphic>
          <a:graphicData uri="http://schemas.openxmlformats.org/drawingml/2006/table">
            <a:tbl>
              <a:tblPr>
                <a:tableStyleId>{5DA37D80-6434-44D0-A028-1B22A696006F}</a:tableStyleId>
              </a:tblPr>
              <a:tblGrid>
                <a:gridCol w="1219200">
                  <a:extLst>
                    <a:ext uri="{9D8B030D-6E8A-4147-A177-3AD203B41FA5}">
                      <a16:colId xmlns:a16="http://schemas.microsoft.com/office/drawing/2014/main" val="2506556019"/>
                    </a:ext>
                  </a:extLst>
                </a:gridCol>
                <a:gridCol w="1447800">
                  <a:extLst>
                    <a:ext uri="{9D8B030D-6E8A-4147-A177-3AD203B41FA5}">
                      <a16:colId xmlns:a16="http://schemas.microsoft.com/office/drawing/2014/main" val="1064664915"/>
                    </a:ext>
                  </a:extLst>
                </a:gridCol>
                <a:gridCol w="1066800">
                  <a:extLst>
                    <a:ext uri="{9D8B030D-6E8A-4147-A177-3AD203B41FA5}">
                      <a16:colId xmlns:a16="http://schemas.microsoft.com/office/drawing/2014/main" val="3325785795"/>
                    </a:ext>
                  </a:extLst>
                </a:gridCol>
              </a:tblGrid>
              <a:tr h="1043089">
                <a:tc>
                  <a:txBody>
                    <a:bodyPr/>
                    <a:lstStyle/>
                    <a:p>
                      <a:pPr>
                        <a:buNone/>
                      </a:pPr>
                      <a:r>
                        <a:rPr lang="en-US" sz="2200"/>
                        <a:t>Region</a:t>
                      </a:r>
                    </a:p>
                  </a:txBody>
                  <a:tcPr anchor="ctr">
                    <a:solidFill>
                      <a:schemeClr val="bg1"/>
                    </a:solidFill>
                  </a:tcPr>
                </a:tc>
                <a:tc>
                  <a:txBody>
                    <a:bodyPr/>
                    <a:lstStyle/>
                    <a:p>
                      <a:pPr>
                        <a:buNone/>
                      </a:pPr>
                      <a:r>
                        <a:rPr lang="en-US" sz="2200"/>
                        <a:t>State</a:t>
                      </a:r>
                    </a:p>
                  </a:txBody>
                  <a:tcPr anchor="ctr">
                    <a:solidFill>
                      <a:schemeClr val="bg1"/>
                    </a:solidFill>
                  </a:tcPr>
                </a:tc>
                <a:tc>
                  <a:txBody>
                    <a:bodyPr/>
                    <a:lstStyle/>
                    <a:p>
                      <a:pPr>
                        <a:buNone/>
                      </a:pPr>
                      <a:r>
                        <a:rPr lang="en-US" sz="2200"/>
                        <a:t>Sales</a:t>
                      </a:r>
                    </a:p>
                  </a:txBody>
                  <a:tcPr anchor="ctr">
                    <a:solidFill>
                      <a:schemeClr val="bg1"/>
                    </a:solidFill>
                  </a:tcPr>
                </a:tc>
                <a:extLst>
                  <a:ext uri="{0D108BD9-81ED-4DB2-BD59-A6C34878D82A}">
                    <a16:rowId xmlns:a16="http://schemas.microsoft.com/office/drawing/2014/main" val="759742754"/>
                  </a:ext>
                </a:extLst>
              </a:tr>
              <a:tr h="584130">
                <a:tc>
                  <a:txBody>
                    <a:bodyPr/>
                    <a:lstStyle/>
                    <a:p>
                      <a:pPr>
                        <a:buNone/>
                      </a:pPr>
                      <a:r>
                        <a:rPr lang="en-US" sz="2200" dirty="0"/>
                        <a:t>NSW</a:t>
                      </a:r>
                    </a:p>
                  </a:txBody>
                  <a:tcPr anchor="ctr">
                    <a:solidFill>
                      <a:schemeClr val="bg1"/>
                    </a:solidFill>
                  </a:tcPr>
                </a:tc>
                <a:tc>
                  <a:txBody>
                    <a:bodyPr/>
                    <a:lstStyle/>
                    <a:p>
                      <a:pPr>
                        <a:buNone/>
                      </a:pPr>
                      <a:r>
                        <a:rPr lang="en-US" sz="2200"/>
                        <a:t>Sydney</a:t>
                      </a:r>
                    </a:p>
                  </a:txBody>
                  <a:tcPr anchor="ctr">
                    <a:solidFill>
                      <a:schemeClr val="bg1"/>
                    </a:solidFill>
                  </a:tcPr>
                </a:tc>
                <a:tc>
                  <a:txBody>
                    <a:bodyPr/>
                    <a:lstStyle/>
                    <a:p>
                      <a:pPr>
                        <a:buNone/>
                      </a:pPr>
                      <a:r>
                        <a:rPr lang="en-US" sz="2200"/>
                        <a:t>200</a:t>
                      </a:r>
                    </a:p>
                  </a:txBody>
                  <a:tcPr anchor="ctr">
                    <a:solidFill>
                      <a:schemeClr val="bg1"/>
                    </a:solidFill>
                  </a:tcPr>
                </a:tc>
                <a:extLst>
                  <a:ext uri="{0D108BD9-81ED-4DB2-BD59-A6C34878D82A}">
                    <a16:rowId xmlns:a16="http://schemas.microsoft.com/office/drawing/2014/main" val="3855040114"/>
                  </a:ext>
                </a:extLst>
              </a:tr>
              <a:tr h="1043089">
                <a:tc>
                  <a:txBody>
                    <a:bodyPr/>
                    <a:lstStyle/>
                    <a:p>
                      <a:pPr>
                        <a:buNone/>
                      </a:pPr>
                      <a:r>
                        <a:rPr lang="en-US" sz="2200"/>
                        <a:t>NSW</a:t>
                      </a:r>
                    </a:p>
                  </a:txBody>
                  <a:tcPr anchor="ctr">
                    <a:solidFill>
                      <a:schemeClr val="bg1"/>
                    </a:solidFill>
                  </a:tcPr>
                </a:tc>
                <a:tc>
                  <a:txBody>
                    <a:bodyPr/>
                    <a:lstStyle/>
                    <a:p>
                      <a:pPr>
                        <a:buNone/>
                      </a:pPr>
                      <a:r>
                        <a:rPr lang="en-US" sz="2200" dirty="0"/>
                        <a:t>Newcastle</a:t>
                      </a:r>
                    </a:p>
                  </a:txBody>
                  <a:tcPr anchor="ctr">
                    <a:solidFill>
                      <a:schemeClr val="bg1"/>
                    </a:solidFill>
                  </a:tcPr>
                </a:tc>
                <a:tc>
                  <a:txBody>
                    <a:bodyPr/>
                    <a:lstStyle/>
                    <a:p>
                      <a:pPr>
                        <a:buNone/>
                      </a:pPr>
                      <a:r>
                        <a:rPr lang="en-US" sz="2200" dirty="0"/>
                        <a:t>150</a:t>
                      </a:r>
                    </a:p>
                  </a:txBody>
                  <a:tcPr anchor="ctr">
                    <a:solidFill>
                      <a:schemeClr val="bg1"/>
                    </a:solidFill>
                  </a:tcPr>
                </a:tc>
                <a:extLst>
                  <a:ext uri="{0D108BD9-81ED-4DB2-BD59-A6C34878D82A}">
                    <a16:rowId xmlns:a16="http://schemas.microsoft.com/office/drawing/2014/main" val="3284990131"/>
                  </a:ext>
                </a:extLst>
              </a:tr>
              <a:tr h="1043089">
                <a:tc>
                  <a:txBody>
                    <a:bodyPr/>
                    <a:lstStyle/>
                    <a:p>
                      <a:pPr>
                        <a:buNone/>
                      </a:pPr>
                      <a:r>
                        <a:rPr lang="en-US" sz="2200"/>
                        <a:t>VIC</a:t>
                      </a:r>
                    </a:p>
                  </a:txBody>
                  <a:tcPr anchor="ctr">
                    <a:solidFill>
                      <a:schemeClr val="bg1"/>
                    </a:solidFill>
                  </a:tcPr>
                </a:tc>
                <a:tc>
                  <a:txBody>
                    <a:bodyPr/>
                    <a:lstStyle/>
                    <a:p>
                      <a:pPr>
                        <a:buNone/>
                      </a:pPr>
                      <a:r>
                        <a:rPr lang="en-US" sz="2200"/>
                        <a:t>Melbourne</a:t>
                      </a:r>
                    </a:p>
                  </a:txBody>
                  <a:tcPr anchor="ctr">
                    <a:solidFill>
                      <a:schemeClr val="bg1"/>
                    </a:solidFill>
                  </a:tcPr>
                </a:tc>
                <a:tc>
                  <a:txBody>
                    <a:bodyPr/>
                    <a:lstStyle/>
                    <a:p>
                      <a:pPr>
                        <a:buNone/>
                      </a:pPr>
                      <a:r>
                        <a:rPr lang="en-US" sz="2200"/>
                        <a:t>300</a:t>
                      </a:r>
                    </a:p>
                  </a:txBody>
                  <a:tcPr anchor="ctr">
                    <a:solidFill>
                      <a:schemeClr val="bg1"/>
                    </a:solidFill>
                  </a:tcPr>
                </a:tc>
                <a:extLst>
                  <a:ext uri="{0D108BD9-81ED-4DB2-BD59-A6C34878D82A}">
                    <a16:rowId xmlns:a16="http://schemas.microsoft.com/office/drawing/2014/main" val="18026696"/>
                  </a:ext>
                </a:extLst>
              </a:tr>
              <a:tr h="584130">
                <a:tc>
                  <a:txBody>
                    <a:bodyPr/>
                    <a:lstStyle/>
                    <a:p>
                      <a:pPr>
                        <a:buNone/>
                      </a:pPr>
                      <a:r>
                        <a:rPr lang="en-US" sz="2200"/>
                        <a:t>VIC</a:t>
                      </a:r>
                    </a:p>
                  </a:txBody>
                  <a:tcPr anchor="ctr">
                    <a:solidFill>
                      <a:schemeClr val="bg1"/>
                    </a:solidFill>
                  </a:tcPr>
                </a:tc>
                <a:tc>
                  <a:txBody>
                    <a:bodyPr/>
                    <a:lstStyle/>
                    <a:p>
                      <a:pPr>
                        <a:buNone/>
                      </a:pPr>
                      <a:r>
                        <a:rPr lang="en-US" sz="2200"/>
                        <a:t>Geelong</a:t>
                      </a:r>
                    </a:p>
                  </a:txBody>
                  <a:tcPr anchor="ctr">
                    <a:solidFill>
                      <a:schemeClr val="bg1"/>
                    </a:solidFill>
                  </a:tcPr>
                </a:tc>
                <a:tc>
                  <a:txBody>
                    <a:bodyPr/>
                    <a:lstStyle/>
                    <a:p>
                      <a:pPr>
                        <a:buNone/>
                      </a:pPr>
                      <a:r>
                        <a:rPr lang="en-US" sz="2200" dirty="0"/>
                        <a:t>120</a:t>
                      </a:r>
                    </a:p>
                  </a:txBody>
                  <a:tcPr anchor="ctr">
                    <a:solidFill>
                      <a:schemeClr val="bg1"/>
                    </a:solidFill>
                  </a:tcPr>
                </a:tc>
                <a:extLst>
                  <a:ext uri="{0D108BD9-81ED-4DB2-BD59-A6C34878D82A}">
                    <a16:rowId xmlns:a16="http://schemas.microsoft.com/office/drawing/2014/main" val="3813809866"/>
                  </a:ext>
                </a:extLst>
              </a:tr>
            </a:tbl>
          </a:graphicData>
        </a:graphic>
      </p:graphicFrame>
    </p:spTree>
    <p:extLst>
      <p:ext uri="{BB962C8B-B14F-4D97-AF65-F5344CB8AC3E}">
        <p14:creationId xmlns:p14="http://schemas.microsoft.com/office/powerpoint/2010/main" val="384738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7AA79-C6BD-6F80-756A-1965F9FB1D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2BF9AC-4C7B-FB8B-AF7A-460BD75558A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3DFFA926-2BE0-8E37-69D6-960DC3FE61F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261CFE2C-1E2C-3B9B-8EE3-B4C4952BD621}"/>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10" name="TextBox 9">
            <a:extLst>
              <a:ext uri="{FF2B5EF4-FFF2-40B4-BE49-F238E27FC236}">
                <a16:creationId xmlns:a16="http://schemas.microsoft.com/office/drawing/2014/main" id="{D21BEAE2-836A-1092-2D4B-00633539D6F2}"/>
              </a:ext>
            </a:extLst>
          </p:cNvPr>
          <p:cNvSpPr txBox="1"/>
          <p:nvPr/>
        </p:nvSpPr>
        <p:spPr>
          <a:xfrm>
            <a:off x="5154919" y="914400"/>
            <a:ext cx="3996455" cy="5842497"/>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Here we tell Pandas:</a:t>
            </a:r>
          </a:p>
          <a:p>
            <a:pPr>
              <a:lnSpc>
                <a:spcPct val="150000"/>
              </a:lnSpc>
            </a:pPr>
            <a:r>
              <a:rPr lang="en-US" sz="2800" dirty="0">
                <a:latin typeface="+mj-lt"/>
              </a:rPr>
              <a:t>“Use Region and State as row labels (index) instead of the default 0, 1, 2, 3.”</a:t>
            </a:r>
          </a:p>
          <a:p>
            <a:pPr>
              <a:lnSpc>
                <a:spcPct val="150000"/>
              </a:lnSpc>
            </a:pPr>
            <a:r>
              <a:rPr lang="en-US" sz="2800" dirty="0">
                <a:latin typeface="+mj-lt"/>
              </a:rPr>
              <a:t>This creates a multi-level (hierarchical) index — meaning we can now look up data </a:t>
            </a:r>
            <a:r>
              <a:rPr lang="en-US" sz="2800" i="1" dirty="0">
                <a:latin typeface="+mj-lt"/>
              </a:rPr>
              <a:t>first by Region</a:t>
            </a:r>
            <a:r>
              <a:rPr lang="en-US" sz="2800" dirty="0">
                <a:latin typeface="+mj-lt"/>
              </a:rPr>
              <a:t>, then </a:t>
            </a:r>
            <a:r>
              <a:rPr lang="en-US" sz="2800" i="1" dirty="0">
                <a:latin typeface="+mj-lt"/>
              </a:rPr>
              <a:t>by State</a:t>
            </a:r>
            <a:r>
              <a:rPr lang="en-US" sz="2800" dirty="0">
                <a:latin typeface="+mj-lt"/>
              </a:rPr>
              <a:t> inside it.</a:t>
            </a:r>
          </a:p>
        </p:txBody>
      </p:sp>
      <p:sp>
        <p:nvSpPr>
          <p:cNvPr id="11" name="Rectangle: Rounded Corners 10">
            <a:extLst>
              <a:ext uri="{FF2B5EF4-FFF2-40B4-BE49-F238E27FC236}">
                <a16:creationId xmlns:a16="http://schemas.microsoft.com/office/drawing/2014/main" id="{C9DBA531-49B1-1AC9-2775-C76D6B93BCF9}"/>
              </a:ext>
            </a:extLst>
          </p:cNvPr>
          <p:cNvSpPr/>
          <p:nvPr/>
        </p:nvSpPr>
        <p:spPr>
          <a:xfrm>
            <a:off x="762000" y="3962400"/>
            <a:ext cx="4343400" cy="228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4709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2F92-0462-44CD-BA00-F80F28578A4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F5620E-2842-EFD5-9E23-BD51735065B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0B4FE769-470A-145F-9EDE-D11A8112ED7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6F19B8A0-2C93-BFF7-7D53-E5397D93B98D}"/>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10" name="TextBox 9">
            <a:extLst>
              <a:ext uri="{FF2B5EF4-FFF2-40B4-BE49-F238E27FC236}">
                <a16:creationId xmlns:a16="http://schemas.microsoft.com/office/drawing/2014/main" id="{FBA4D620-9BFD-4582-882C-3E03F9D65990}"/>
              </a:ext>
            </a:extLst>
          </p:cNvPr>
          <p:cNvSpPr txBox="1"/>
          <p:nvPr/>
        </p:nvSpPr>
        <p:spPr>
          <a:xfrm>
            <a:off x="5154919" y="914400"/>
            <a:ext cx="3996455" cy="2610843"/>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We display the final table.</a:t>
            </a:r>
            <a:br>
              <a:rPr lang="en-US" sz="2800" dirty="0">
                <a:latin typeface="+mj-lt"/>
              </a:rPr>
            </a:br>
            <a:r>
              <a:rPr lang="en-US" sz="2800" dirty="0">
                <a:latin typeface="+mj-lt"/>
              </a:rPr>
              <a:t>It now shows Region and State stacked together on the left side (the index):</a:t>
            </a:r>
          </a:p>
        </p:txBody>
      </p:sp>
      <p:sp>
        <p:nvSpPr>
          <p:cNvPr id="11" name="Rectangle: Rounded Corners 10">
            <a:extLst>
              <a:ext uri="{FF2B5EF4-FFF2-40B4-BE49-F238E27FC236}">
                <a16:creationId xmlns:a16="http://schemas.microsoft.com/office/drawing/2014/main" id="{1B9EF749-6B05-E799-5A6F-F2466E2E1A7B}"/>
              </a:ext>
            </a:extLst>
          </p:cNvPr>
          <p:cNvSpPr/>
          <p:nvPr/>
        </p:nvSpPr>
        <p:spPr>
          <a:xfrm>
            <a:off x="762000" y="4170555"/>
            <a:ext cx="4343400" cy="228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690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BE099-1EE5-1222-13A4-ED2B465A01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47CD97-5015-AC72-3083-24A655882A8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Hierarchical Indexing</a:t>
            </a:r>
            <a:endParaRPr spc="-20" dirty="0">
              <a:latin typeface="+mj-lt"/>
            </a:endParaRPr>
          </a:p>
        </p:txBody>
      </p:sp>
      <p:sp>
        <p:nvSpPr>
          <p:cNvPr id="5" name="object 5">
            <a:extLst>
              <a:ext uri="{FF2B5EF4-FFF2-40B4-BE49-F238E27FC236}">
                <a16:creationId xmlns:a16="http://schemas.microsoft.com/office/drawing/2014/main" id="{096A877F-5CBC-373F-74E8-B9F2319750A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270F384F-497D-C0C7-7B90-624F236D7D06}"/>
              </a:ext>
            </a:extLst>
          </p:cNvPr>
          <p:cNvPicPr>
            <a:picLocks noChangeAspect="1"/>
          </p:cNvPicPr>
          <p:nvPr/>
        </p:nvPicPr>
        <p:blipFill>
          <a:blip r:embed="rId2"/>
          <a:srcRect b="15926"/>
          <a:stretch>
            <a:fillRect/>
          </a:stretch>
        </p:blipFill>
        <p:spPr>
          <a:xfrm>
            <a:off x="-42145" y="1066800"/>
            <a:ext cx="9144000" cy="4324350"/>
          </a:xfrm>
          <a:prstGeom prst="rect">
            <a:avLst/>
          </a:prstGeom>
        </p:spPr>
      </p:pic>
      <p:sp>
        <p:nvSpPr>
          <p:cNvPr id="6" name="TextBox 5">
            <a:extLst>
              <a:ext uri="{FF2B5EF4-FFF2-40B4-BE49-F238E27FC236}">
                <a16:creationId xmlns:a16="http://schemas.microsoft.com/office/drawing/2014/main" id="{80A7D2CC-80CD-E0FB-9809-41A7C68E9B08}"/>
              </a:ext>
            </a:extLst>
          </p:cNvPr>
          <p:cNvSpPr txBox="1"/>
          <p:nvPr/>
        </p:nvSpPr>
        <p:spPr>
          <a:xfrm>
            <a:off x="5024226" y="369172"/>
            <a:ext cx="4133385" cy="6488828"/>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mj-lt"/>
              </a:rPr>
              <a:t>In Simple Terms: Imagine a filing cabinet:</a:t>
            </a:r>
          </a:p>
          <a:p>
            <a:pPr marL="457200" indent="-457200">
              <a:lnSpc>
                <a:spcPct val="150000"/>
              </a:lnSpc>
              <a:buFont typeface="Arial" panose="020B0604020202020204" pitchFamily="34" charset="0"/>
              <a:buChar char="•"/>
            </a:pPr>
            <a:r>
              <a:rPr lang="en-US" sz="2800" dirty="0">
                <a:latin typeface="+mj-lt"/>
              </a:rPr>
              <a:t>The top drawer is Region (NSW, VIC).</a:t>
            </a:r>
          </a:p>
          <a:p>
            <a:pPr marL="457200" indent="-457200">
              <a:lnSpc>
                <a:spcPct val="150000"/>
              </a:lnSpc>
              <a:buFont typeface="Arial" panose="020B0604020202020204" pitchFamily="34" charset="0"/>
              <a:buChar char="•"/>
            </a:pPr>
            <a:r>
              <a:rPr lang="en-US" sz="2800" dirty="0">
                <a:latin typeface="+mj-lt"/>
              </a:rPr>
              <a:t>Inside each drawer are folders for State (Sydney, Newcastle, etc.).</a:t>
            </a:r>
          </a:p>
          <a:p>
            <a:pPr marL="457200" indent="-457200">
              <a:lnSpc>
                <a:spcPct val="150000"/>
              </a:lnSpc>
              <a:buFont typeface="Arial" panose="020B0604020202020204" pitchFamily="34" charset="0"/>
              <a:buChar char="•"/>
            </a:pPr>
            <a:r>
              <a:rPr lang="en-US" sz="2800" dirty="0">
                <a:latin typeface="+mj-lt"/>
              </a:rPr>
              <a:t>Inside each folder, you find the Sales numbers.</a:t>
            </a:r>
          </a:p>
        </p:txBody>
      </p:sp>
    </p:spTree>
    <p:extLst>
      <p:ext uri="{BB962C8B-B14F-4D97-AF65-F5344CB8AC3E}">
        <p14:creationId xmlns:p14="http://schemas.microsoft.com/office/powerpoint/2010/main" val="3405474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1C17-B165-0E97-C769-0FB9964060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8BA40B-3712-DB9D-8458-A123F8BF2CF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16106DC9-1CE5-EEDC-E757-9C65BB249BC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8" name="TextBox 7">
            <a:extLst>
              <a:ext uri="{FF2B5EF4-FFF2-40B4-BE49-F238E27FC236}">
                <a16:creationId xmlns:a16="http://schemas.microsoft.com/office/drawing/2014/main" id="{1147CA68-BAE6-1207-5A71-446645AF3D99}"/>
              </a:ext>
            </a:extLst>
          </p:cNvPr>
          <p:cNvSpPr txBox="1"/>
          <p:nvPr/>
        </p:nvSpPr>
        <p:spPr>
          <a:xfrm>
            <a:off x="34327" y="1066800"/>
            <a:ext cx="9143999" cy="1964512"/>
          </a:xfrm>
          <a:prstGeom prst="rect">
            <a:avLst/>
          </a:prstGeom>
          <a:noFill/>
        </p:spPr>
        <p:txBody>
          <a:bodyPr wrap="square">
            <a:spAutoFit/>
          </a:bodyPr>
          <a:lstStyle/>
          <a:p>
            <a:pPr>
              <a:lnSpc>
                <a:spcPct val="150000"/>
              </a:lnSpc>
            </a:pPr>
            <a:r>
              <a:rPr lang="en-US" sz="2800" dirty="0">
                <a:latin typeface="+mj-lt"/>
              </a:rPr>
              <a:t>We’ll </a:t>
            </a:r>
            <a:r>
              <a:rPr lang="en-US" sz="2800" dirty="0" err="1">
                <a:latin typeface="+mj-lt"/>
              </a:rPr>
              <a:t>practise</a:t>
            </a:r>
            <a:r>
              <a:rPr lang="en-US" sz="2800" dirty="0">
                <a:latin typeface="+mj-lt"/>
              </a:rPr>
              <a:t> hierarchical indexing with a fun workplace example!</a:t>
            </a:r>
          </a:p>
          <a:p>
            <a:pPr>
              <a:lnSpc>
                <a:spcPct val="150000"/>
              </a:lnSpc>
            </a:pPr>
            <a:r>
              <a:rPr lang="en-US" sz="2800" dirty="0">
                <a:latin typeface="+mj-lt"/>
              </a:rPr>
              <a:t>Create a </a:t>
            </a:r>
            <a:r>
              <a:rPr lang="en-US" sz="2800" dirty="0" err="1">
                <a:latin typeface="+mj-lt"/>
              </a:rPr>
              <a:t>DataFrame</a:t>
            </a:r>
            <a:r>
              <a:rPr lang="en-US" sz="2800" dirty="0">
                <a:latin typeface="+mj-lt"/>
              </a:rPr>
              <a:t> with “Department” + “Team” as index</a:t>
            </a:r>
          </a:p>
        </p:txBody>
      </p:sp>
      <p:pic>
        <p:nvPicPr>
          <p:cNvPr id="3" name="Timer">
            <a:hlinkClick r:id="" action="ppaction://media"/>
            <a:extLst>
              <a:ext uri="{FF2B5EF4-FFF2-40B4-BE49-F238E27FC236}">
                <a16:creationId xmlns:a16="http://schemas.microsoft.com/office/drawing/2014/main" id="{A330CBBE-A306-0491-85E8-A3BEA8D7F3D3}"/>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30083" y="4038600"/>
            <a:ext cx="1683834" cy="758283"/>
          </a:xfrm>
          <a:prstGeom prst="rect">
            <a:avLst/>
          </a:prstGeom>
          <a:ln w="38100">
            <a:solidFill>
              <a:srgbClr val="FF0000"/>
            </a:solidFill>
          </a:ln>
        </p:spPr>
      </p:pic>
    </p:spTree>
    <p:extLst>
      <p:ext uri="{BB962C8B-B14F-4D97-AF65-F5344CB8AC3E}">
        <p14:creationId xmlns:p14="http://schemas.microsoft.com/office/powerpoint/2010/main" val="2774474890"/>
      </p:ext>
    </p:extLst>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1C17-B165-0E97-C769-0FB9964060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8BA40B-3712-DB9D-8458-A123F8BF2CF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16106DC9-1CE5-EEDC-E757-9C65BB249BC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EB383448-38D4-A771-A5CF-8C3417AE15B5}"/>
              </a:ext>
            </a:extLst>
          </p:cNvPr>
          <p:cNvPicPr>
            <a:picLocks noChangeAspect="1"/>
          </p:cNvPicPr>
          <p:nvPr/>
        </p:nvPicPr>
        <p:blipFill>
          <a:blip r:embed="rId2"/>
          <a:srcRect r="31809" b="18889"/>
          <a:stretch>
            <a:fillRect/>
          </a:stretch>
        </p:blipFill>
        <p:spPr>
          <a:xfrm>
            <a:off x="15055" y="457200"/>
            <a:ext cx="6235390" cy="4171950"/>
          </a:xfrm>
          <a:prstGeom prst="rect">
            <a:avLst/>
          </a:prstGeom>
        </p:spPr>
      </p:pic>
      <p:sp>
        <p:nvSpPr>
          <p:cNvPr id="7" name="Rectangle 1">
            <a:extLst>
              <a:ext uri="{FF2B5EF4-FFF2-40B4-BE49-F238E27FC236}">
                <a16:creationId xmlns:a16="http://schemas.microsoft.com/office/drawing/2014/main" id="{1EF0AAAA-BC62-C14D-8E00-E6738CC69EE5}"/>
              </a:ext>
            </a:extLst>
          </p:cNvPr>
          <p:cNvSpPr>
            <a:spLocks noChangeArrowheads="1"/>
          </p:cNvSpPr>
          <p:nvPr/>
        </p:nvSpPr>
        <p:spPr bwMode="auto">
          <a:xfrm>
            <a:off x="6176726" y="1143000"/>
            <a:ext cx="2989397"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We first build a small table (</a:t>
            </a:r>
            <a:r>
              <a:rPr kumimoji="0" lang="en-US" altLang="en-US" sz="2800" i="0" u="none" strike="noStrike" cap="none" normalizeH="0" baseline="0" dirty="0" err="1">
                <a:ln>
                  <a:noFill/>
                </a:ln>
                <a:solidFill>
                  <a:schemeClr val="tx1"/>
                </a:solidFill>
                <a:effectLst/>
                <a:latin typeface="+mj-lt"/>
              </a:rPr>
              <a:t>DataFrame</a:t>
            </a:r>
            <a:r>
              <a:rPr kumimoji="0" lang="en-US" altLang="en-US" sz="2800" i="0" u="none" strike="noStrike" cap="none" normalizeH="0" baseline="0" dirty="0">
                <a:ln>
                  <a:noFill/>
                </a:ln>
                <a:solidFill>
                  <a:schemeClr val="tx1"/>
                </a:solidFill>
                <a:effectLst/>
                <a:latin typeface="+mj-lt"/>
              </a:rPr>
              <a:t>) with three columns.</a:t>
            </a:r>
          </a:p>
        </p:txBody>
      </p:sp>
      <p:sp>
        <p:nvSpPr>
          <p:cNvPr id="10" name="TextBox 9">
            <a:extLst>
              <a:ext uri="{FF2B5EF4-FFF2-40B4-BE49-F238E27FC236}">
                <a16:creationId xmlns:a16="http://schemas.microsoft.com/office/drawing/2014/main" id="{E04EEA1C-D574-FA3A-1297-078A8B684115}"/>
              </a:ext>
            </a:extLst>
          </p:cNvPr>
          <p:cNvSpPr txBox="1"/>
          <p:nvPr/>
        </p:nvSpPr>
        <p:spPr>
          <a:xfrm>
            <a:off x="33448" y="4606935"/>
            <a:ext cx="9152695" cy="2251065"/>
          </a:xfrm>
          <a:prstGeom prst="rect">
            <a:avLst/>
          </a:prstGeom>
          <a:solidFill>
            <a:schemeClr val="bg1"/>
          </a:solidFill>
        </p:spPr>
        <p:txBody>
          <a:bodyPr wrap="square">
            <a:spAutoFit/>
          </a:bodyPr>
          <a:lstStyle/>
          <a:p>
            <a:pPr marL="457200" indent="-457200">
              <a:lnSpc>
                <a:spcPct val="150000"/>
              </a:lnSpc>
              <a:buFont typeface="Arial" panose="020B0604020202020204" pitchFamily="34" charset="0"/>
              <a:buChar char="•"/>
            </a:pPr>
            <a:r>
              <a:rPr lang="en-US" sz="2400" b="1" dirty="0">
                <a:latin typeface="+mj-lt"/>
              </a:rPr>
              <a:t>Department</a:t>
            </a:r>
            <a:r>
              <a:rPr lang="en-US" sz="2400" dirty="0">
                <a:latin typeface="+mj-lt"/>
              </a:rPr>
              <a:t> – shows which department each team belongs to</a:t>
            </a:r>
          </a:p>
          <a:p>
            <a:pPr marL="457200" indent="-457200">
              <a:lnSpc>
                <a:spcPct val="150000"/>
              </a:lnSpc>
              <a:buFont typeface="Arial" panose="020B0604020202020204" pitchFamily="34" charset="0"/>
              <a:buChar char="•"/>
            </a:pPr>
            <a:r>
              <a:rPr lang="en-US" sz="2400" b="1" dirty="0">
                <a:latin typeface="+mj-lt"/>
              </a:rPr>
              <a:t>Team</a:t>
            </a:r>
            <a:r>
              <a:rPr lang="en-US" sz="2400" dirty="0">
                <a:latin typeface="+mj-lt"/>
              </a:rPr>
              <a:t> – the name of the team</a:t>
            </a:r>
          </a:p>
          <a:p>
            <a:pPr marL="457200" indent="-457200">
              <a:lnSpc>
                <a:spcPct val="150000"/>
              </a:lnSpc>
              <a:buFont typeface="Arial" panose="020B0604020202020204" pitchFamily="34" charset="0"/>
              <a:buChar char="•"/>
            </a:pPr>
            <a:r>
              <a:rPr lang="en-US" sz="2400" b="1" dirty="0">
                <a:latin typeface="+mj-lt"/>
              </a:rPr>
              <a:t>Employees</a:t>
            </a:r>
            <a:r>
              <a:rPr lang="en-US" sz="2400" dirty="0">
                <a:latin typeface="+mj-lt"/>
              </a:rPr>
              <a:t> – how many people work in that team</a:t>
            </a:r>
          </a:p>
          <a:p>
            <a:pPr>
              <a:lnSpc>
                <a:spcPct val="150000"/>
              </a:lnSpc>
            </a:pPr>
            <a:r>
              <a:rPr lang="en-US" sz="2400" dirty="0">
                <a:latin typeface="+mj-lt"/>
              </a:rPr>
              <a:t>This table is stored in a variable called </a:t>
            </a:r>
            <a:r>
              <a:rPr lang="en-US" sz="2400" dirty="0" err="1">
                <a:latin typeface="+mj-lt"/>
              </a:rPr>
              <a:t>df</a:t>
            </a:r>
            <a:endParaRPr lang="en-US" sz="2400" dirty="0">
              <a:latin typeface="+mj-lt"/>
            </a:endParaRPr>
          </a:p>
        </p:txBody>
      </p:sp>
      <p:sp>
        <p:nvSpPr>
          <p:cNvPr id="11" name="Rectangle: Rounded Corners 10">
            <a:extLst>
              <a:ext uri="{FF2B5EF4-FFF2-40B4-BE49-F238E27FC236}">
                <a16:creationId xmlns:a16="http://schemas.microsoft.com/office/drawing/2014/main" id="{007B4E0D-062C-5AC2-B912-0277BE2A3C2D}"/>
              </a:ext>
            </a:extLst>
          </p:cNvPr>
          <p:cNvSpPr/>
          <p:nvPr/>
        </p:nvSpPr>
        <p:spPr>
          <a:xfrm>
            <a:off x="838200" y="2590800"/>
            <a:ext cx="5334000" cy="13716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2928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3BEF2-C33C-BC52-C1C0-295447AB68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65C9B3-32AC-C7FD-99D5-D0B771C34F4E}"/>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EA60056C-2CD3-2BAB-98D8-5DA226BBEA7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F95FC03B-2FC6-AC69-9019-A242D2A3F807}"/>
              </a:ext>
            </a:extLst>
          </p:cNvPr>
          <p:cNvPicPr>
            <a:picLocks noChangeAspect="1"/>
          </p:cNvPicPr>
          <p:nvPr/>
        </p:nvPicPr>
        <p:blipFill>
          <a:blip r:embed="rId2"/>
          <a:srcRect r="31809" b="18889"/>
          <a:stretch>
            <a:fillRect/>
          </a:stretch>
        </p:blipFill>
        <p:spPr>
          <a:xfrm>
            <a:off x="15055" y="457200"/>
            <a:ext cx="6235390" cy="4171950"/>
          </a:xfrm>
          <a:prstGeom prst="rect">
            <a:avLst/>
          </a:prstGeom>
        </p:spPr>
      </p:pic>
      <p:sp>
        <p:nvSpPr>
          <p:cNvPr id="7" name="Rectangle 1">
            <a:extLst>
              <a:ext uri="{FF2B5EF4-FFF2-40B4-BE49-F238E27FC236}">
                <a16:creationId xmlns:a16="http://schemas.microsoft.com/office/drawing/2014/main" id="{E16F50D1-8164-5973-C859-46BA5433A818}"/>
              </a:ext>
            </a:extLst>
          </p:cNvPr>
          <p:cNvSpPr>
            <a:spLocks noChangeArrowheads="1"/>
          </p:cNvSpPr>
          <p:nvPr/>
        </p:nvSpPr>
        <p:spPr bwMode="auto">
          <a:xfrm>
            <a:off x="3554542" y="-15364"/>
            <a:ext cx="4267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spcBef>
                <a:spcPct val="0"/>
              </a:spcBef>
              <a:spcAft>
                <a:spcPct val="0"/>
              </a:spcAft>
              <a:buClrTx/>
              <a:buSzTx/>
              <a:buFont typeface="Arial" panose="020B0604020202020204" pitchFamily="34" charset="0"/>
              <a:buChar char="•"/>
              <a:tabLst/>
            </a:pPr>
            <a:r>
              <a:rPr lang="en-US" sz="2800" dirty="0">
                <a:latin typeface="+mj-lt"/>
              </a:rPr>
              <a:t>Set multi-level index</a:t>
            </a:r>
            <a:endParaRPr kumimoji="0" lang="en-US" altLang="en-US" sz="2800" i="0" u="none" strike="noStrike" cap="none" normalizeH="0" baseline="0" dirty="0">
              <a:ln>
                <a:noFill/>
              </a:ln>
              <a:solidFill>
                <a:schemeClr val="tx1"/>
              </a:solidFill>
              <a:effectLst/>
              <a:latin typeface="+mj-lt"/>
            </a:endParaRPr>
          </a:p>
        </p:txBody>
      </p:sp>
      <p:sp>
        <p:nvSpPr>
          <p:cNvPr id="10" name="TextBox 9">
            <a:extLst>
              <a:ext uri="{FF2B5EF4-FFF2-40B4-BE49-F238E27FC236}">
                <a16:creationId xmlns:a16="http://schemas.microsoft.com/office/drawing/2014/main" id="{21DEFDFC-FE88-FD0D-D973-51DA811007C0}"/>
              </a:ext>
            </a:extLst>
          </p:cNvPr>
          <p:cNvSpPr txBox="1"/>
          <p:nvPr/>
        </p:nvSpPr>
        <p:spPr>
          <a:xfrm>
            <a:off x="6358657" y="1064048"/>
            <a:ext cx="2785343" cy="5626027"/>
          </a:xfrm>
          <a:prstGeom prst="rect">
            <a:avLst/>
          </a:prstGeom>
          <a:solidFill>
            <a:schemeClr val="bg1"/>
          </a:solidFill>
        </p:spPr>
        <p:txBody>
          <a:bodyPr wrap="square">
            <a:spAutoFit/>
          </a:bodyPr>
          <a:lstStyle/>
          <a:p>
            <a:pPr>
              <a:lnSpc>
                <a:spcPct val="150000"/>
              </a:lnSpc>
            </a:pPr>
            <a:r>
              <a:rPr lang="en-US" sz="2200" dirty="0">
                <a:latin typeface="+mj-lt"/>
              </a:rPr>
              <a:t>This line sets two columns (Department and Team) as the index of the table.</a:t>
            </a:r>
          </a:p>
          <a:p>
            <a:pPr marL="342900" indent="-342900">
              <a:lnSpc>
                <a:spcPct val="150000"/>
              </a:lnSpc>
              <a:buFont typeface="Arial" panose="020B0604020202020204" pitchFamily="34" charset="0"/>
              <a:buChar char="•"/>
            </a:pPr>
            <a:r>
              <a:rPr lang="en-US" sz="2200" dirty="0">
                <a:latin typeface="+mj-lt"/>
              </a:rPr>
              <a:t>A multi-level index means the table is now </a:t>
            </a:r>
            <a:r>
              <a:rPr lang="en-US" sz="2200" dirty="0" err="1">
                <a:latin typeface="+mj-lt"/>
              </a:rPr>
              <a:t>organised</a:t>
            </a:r>
            <a:r>
              <a:rPr lang="en-US" sz="2200" dirty="0">
                <a:latin typeface="+mj-lt"/>
              </a:rPr>
              <a:t> in two layers:</a:t>
            </a:r>
          </a:p>
          <a:p>
            <a:pPr marL="536575" lvl="1" indent="-342900">
              <a:lnSpc>
                <a:spcPct val="150000"/>
              </a:lnSpc>
              <a:buFont typeface="Arial" panose="020B0604020202020204" pitchFamily="34" charset="0"/>
              <a:buChar char="•"/>
            </a:pPr>
            <a:r>
              <a:rPr lang="en-US" sz="2200" dirty="0">
                <a:latin typeface="+mj-lt"/>
              </a:rPr>
              <a:t>Level 1 → Department</a:t>
            </a:r>
          </a:p>
          <a:p>
            <a:pPr marL="536575" lvl="1" indent="-342900">
              <a:lnSpc>
                <a:spcPct val="150000"/>
              </a:lnSpc>
              <a:buFont typeface="Arial" panose="020B0604020202020204" pitchFamily="34" charset="0"/>
              <a:buChar char="•"/>
            </a:pPr>
            <a:r>
              <a:rPr lang="en-US" sz="2200" dirty="0">
                <a:latin typeface="+mj-lt"/>
              </a:rPr>
              <a:t>Level 2 → Team</a:t>
            </a:r>
          </a:p>
        </p:txBody>
      </p:sp>
      <p:sp>
        <p:nvSpPr>
          <p:cNvPr id="11" name="Rectangle: Rounded Corners 10">
            <a:extLst>
              <a:ext uri="{FF2B5EF4-FFF2-40B4-BE49-F238E27FC236}">
                <a16:creationId xmlns:a16="http://schemas.microsoft.com/office/drawing/2014/main" id="{3EE190E3-6D7F-5229-D347-35B021D7AE34}"/>
              </a:ext>
            </a:extLst>
          </p:cNvPr>
          <p:cNvSpPr/>
          <p:nvPr/>
        </p:nvSpPr>
        <p:spPr>
          <a:xfrm>
            <a:off x="887542" y="4038599"/>
            <a:ext cx="5334000" cy="35442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1E8FA8F-920B-A3B3-AAD1-2567468C93E7}"/>
              </a:ext>
            </a:extLst>
          </p:cNvPr>
          <p:cNvSpPr txBox="1"/>
          <p:nvPr/>
        </p:nvSpPr>
        <p:spPr>
          <a:xfrm>
            <a:off x="15054" y="4629377"/>
            <a:ext cx="6385745" cy="2071208"/>
          </a:xfrm>
          <a:prstGeom prst="rect">
            <a:avLst/>
          </a:prstGeom>
          <a:noFill/>
        </p:spPr>
        <p:txBody>
          <a:bodyPr wrap="square">
            <a:spAutoFit/>
          </a:bodyPr>
          <a:lstStyle/>
          <a:p>
            <a:pPr>
              <a:lnSpc>
                <a:spcPct val="150000"/>
              </a:lnSpc>
              <a:buNone/>
            </a:pPr>
            <a:r>
              <a:rPr lang="en-US" sz="2200" dirty="0">
                <a:latin typeface="+mj-lt"/>
              </a:rPr>
              <a:t>So each row can be identified by both Department and Team.</a:t>
            </a:r>
          </a:p>
          <a:p>
            <a:pPr>
              <a:lnSpc>
                <a:spcPct val="150000"/>
              </a:lnSpc>
              <a:buNone/>
            </a:pPr>
            <a:r>
              <a:rPr lang="en-US" sz="2200" dirty="0">
                <a:latin typeface="+mj-lt"/>
              </a:rPr>
              <a:t>It helps when you want to group, filter, or </a:t>
            </a:r>
            <a:r>
              <a:rPr lang="en-US" sz="2200" dirty="0" err="1">
                <a:latin typeface="+mj-lt"/>
              </a:rPr>
              <a:t>summarise</a:t>
            </a:r>
            <a:r>
              <a:rPr lang="en-US" sz="2200" dirty="0">
                <a:latin typeface="+mj-lt"/>
              </a:rPr>
              <a:t> data later.</a:t>
            </a:r>
          </a:p>
        </p:txBody>
      </p:sp>
    </p:spTree>
    <p:extLst>
      <p:ext uri="{BB962C8B-B14F-4D97-AF65-F5344CB8AC3E}">
        <p14:creationId xmlns:p14="http://schemas.microsoft.com/office/powerpoint/2010/main" val="88712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1576-CCFC-7D53-A3B4-6471C80B27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5DEDA3-0ED8-0267-0C5F-A74B9904858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EF453E6E-6AC3-A24D-BDFC-E9A94A44867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DB51600C-DEA9-71C6-F109-1DBFD7C7ABA0}"/>
              </a:ext>
            </a:extLst>
          </p:cNvPr>
          <p:cNvPicPr>
            <a:picLocks noChangeAspect="1"/>
          </p:cNvPicPr>
          <p:nvPr/>
        </p:nvPicPr>
        <p:blipFill>
          <a:blip r:embed="rId2"/>
          <a:srcRect r="31809" b="18889"/>
          <a:stretch>
            <a:fillRect/>
          </a:stretch>
        </p:blipFill>
        <p:spPr>
          <a:xfrm>
            <a:off x="15055" y="457200"/>
            <a:ext cx="6235390" cy="4171950"/>
          </a:xfrm>
          <a:prstGeom prst="rect">
            <a:avLst/>
          </a:prstGeom>
        </p:spPr>
      </p:pic>
      <p:sp>
        <p:nvSpPr>
          <p:cNvPr id="10" name="TextBox 9">
            <a:extLst>
              <a:ext uri="{FF2B5EF4-FFF2-40B4-BE49-F238E27FC236}">
                <a16:creationId xmlns:a16="http://schemas.microsoft.com/office/drawing/2014/main" id="{E7D18634-E1BC-EE8C-860C-6D11FE28914B}"/>
              </a:ext>
            </a:extLst>
          </p:cNvPr>
          <p:cNvSpPr txBox="1"/>
          <p:nvPr/>
        </p:nvSpPr>
        <p:spPr>
          <a:xfrm>
            <a:off x="6358657" y="1064048"/>
            <a:ext cx="2785343" cy="1318181"/>
          </a:xfrm>
          <a:prstGeom prst="rect">
            <a:avLst/>
          </a:prstGeom>
          <a:solidFill>
            <a:schemeClr val="bg1"/>
          </a:solidFill>
        </p:spPr>
        <p:txBody>
          <a:bodyPr wrap="square">
            <a:spAutoFit/>
          </a:bodyPr>
          <a:lstStyle/>
          <a:p>
            <a:pPr>
              <a:lnSpc>
                <a:spcPct val="150000"/>
              </a:lnSpc>
            </a:pPr>
            <a:r>
              <a:rPr lang="en-US" sz="2800" dirty="0">
                <a:latin typeface="+mj-lt"/>
              </a:rPr>
              <a:t>Print the final table</a:t>
            </a:r>
          </a:p>
        </p:txBody>
      </p:sp>
      <p:sp>
        <p:nvSpPr>
          <p:cNvPr id="11" name="Rectangle: Rounded Corners 10">
            <a:extLst>
              <a:ext uri="{FF2B5EF4-FFF2-40B4-BE49-F238E27FC236}">
                <a16:creationId xmlns:a16="http://schemas.microsoft.com/office/drawing/2014/main" id="{24EB6003-C22B-A5FC-93B3-2F7C79D2FF70}"/>
              </a:ext>
            </a:extLst>
          </p:cNvPr>
          <p:cNvSpPr/>
          <p:nvPr/>
        </p:nvSpPr>
        <p:spPr>
          <a:xfrm>
            <a:off x="769681" y="4382811"/>
            <a:ext cx="5334000" cy="20964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DC6C21-0D50-A02D-C68A-D1EC1C6430C8}"/>
              </a:ext>
            </a:extLst>
          </p:cNvPr>
          <p:cNvSpPr txBox="1"/>
          <p:nvPr/>
        </p:nvSpPr>
        <p:spPr>
          <a:xfrm>
            <a:off x="15054" y="4629377"/>
            <a:ext cx="9128946" cy="1318181"/>
          </a:xfrm>
          <a:prstGeom prst="rect">
            <a:avLst/>
          </a:prstGeom>
          <a:noFill/>
        </p:spPr>
        <p:txBody>
          <a:bodyPr wrap="square">
            <a:spAutoFit/>
          </a:bodyPr>
          <a:lstStyle/>
          <a:p>
            <a:pPr>
              <a:lnSpc>
                <a:spcPct val="150000"/>
              </a:lnSpc>
              <a:buNone/>
            </a:pPr>
            <a:r>
              <a:rPr lang="en-US" sz="2800" dirty="0">
                <a:latin typeface="+mj-lt"/>
              </a:rPr>
              <a:t>This shows the table in the output with the new multi-level index format:</a:t>
            </a:r>
          </a:p>
        </p:txBody>
      </p:sp>
    </p:spTree>
    <p:extLst>
      <p:ext uri="{BB962C8B-B14F-4D97-AF65-F5344CB8AC3E}">
        <p14:creationId xmlns:p14="http://schemas.microsoft.com/office/powerpoint/2010/main" val="199079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67F2-3B22-B557-9FAE-1697F0DFF5E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44F331-0AAA-65E8-5B06-41BCE8DC3C26}"/>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9EC15B90-8750-0885-B60D-B15C69D3C84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E16FF74F-4ABD-0B83-3203-8CDCEF0EA167}"/>
              </a:ext>
            </a:extLst>
          </p:cNvPr>
          <p:cNvPicPr>
            <a:picLocks noChangeAspect="1"/>
          </p:cNvPicPr>
          <p:nvPr/>
        </p:nvPicPr>
        <p:blipFill>
          <a:blip r:embed="rId2"/>
          <a:srcRect r="31809" b="18889"/>
          <a:stretch>
            <a:fillRect/>
          </a:stretch>
        </p:blipFill>
        <p:spPr>
          <a:xfrm>
            <a:off x="-9002" y="492774"/>
            <a:ext cx="5776145" cy="3864680"/>
          </a:xfrm>
          <a:prstGeom prst="rect">
            <a:avLst/>
          </a:prstGeom>
        </p:spPr>
      </p:pic>
      <p:sp>
        <p:nvSpPr>
          <p:cNvPr id="7" name="Rectangle 1">
            <a:extLst>
              <a:ext uri="{FF2B5EF4-FFF2-40B4-BE49-F238E27FC236}">
                <a16:creationId xmlns:a16="http://schemas.microsoft.com/office/drawing/2014/main" id="{FDD9D42B-439C-FEFF-ECFD-7A9666E7BB7B}"/>
              </a:ext>
            </a:extLst>
          </p:cNvPr>
          <p:cNvSpPr>
            <a:spLocks noChangeArrowheads="1"/>
          </p:cNvSpPr>
          <p:nvPr/>
        </p:nvSpPr>
        <p:spPr bwMode="auto">
          <a:xfrm>
            <a:off x="6154603" y="3093074"/>
            <a:ext cx="2989397"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mj-lt"/>
              </a:rPr>
              <a:t>In summary,</a:t>
            </a:r>
          </a:p>
        </p:txBody>
      </p:sp>
      <p:sp>
        <p:nvSpPr>
          <p:cNvPr id="10" name="TextBox 9">
            <a:extLst>
              <a:ext uri="{FF2B5EF4-FFF2-40B4-BE49-F238E27FC236}">
                <a16:creationId xmlns:a16="http://schemas.microsoft.com/office/drawing/2014/main" id="{0A38B422-B66E-E1A4-2E13-F5D846A1DA64}"/>
              </a:ext>
            </a:extLst>
          </p:cNvPr>
          <p:cNvSpPr txBox="1"/>
          <p:nvPr/>
        </p:nvSpPr>
        <p:spPr>
          <a:xfrm>
            <a:off x="0" y="4278961"/>
            <a:ext cx="9113888" cy="2579039"/>
          </a:xfrm>
          <a:prstGeom prst="rect">
            <a:avLst/>
          </a:prstGeom>
          <a:solidFill>
            <a:schemeClr val="bg1"/>
          </a:solidFill>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We made a small company table.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We used two columns (Department + Team) as a combined label (multi-index).</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This makes the data easier to </a:t>
            </a:r>
            <a:r>
              <a:rPr kumimoji="0" lang="en-US" altLang="en-US" sz="2200" i="0" u="none" strike="noStrike" cap="none" normalizeH="0" baseline="0" dirty="0" err="1">
                <a:ln>
                  <a:noFill/>
                </a:ln>
                <a:solidFill>
                  <a:schemeClr val="tx1"/>
                </a:solidFill>
                <a:effectLst/>
                <a:latin typeface="+mj-lt"/>
              </a:rPr>
              <a:t>organise</a:t>
            </a:r>
            <a:r>
              <a:rPr kumimoji="0" lang="en-US" altLang="en-US" sz="2200" i="0" u="none" strike="noStrike" cap="none" normalizeH="0" baseline="0" dirty="0">
                <a:ln>
                  <a:noFill/>
                </a:ln>
                <a:solidFill>
                  <a:schemeClr val="tx1"/>
                </a:solidFill>
                <a:effectLst/>
                <a:latin typeface="+mj-lt"/>
              </a:rPr>
              <a:t> and </a:t>
            </a:r>
            <a:r>
              <a:rPr kumimoji="0" lang="en-US" altLang="en-US" sz="2200" i="0" u="none" strike="noStrike" cap="none" normalizeH="0" baseline="0" dirty="0" err="1">
                <a:ln>
                  <a:noFill/>
                </a:ln>
                <a:solidFill>
                  <a:schemeClr val="tx1"/>
                </a:solidFill>
                <a:effectLst/>
                <a:latin typeface="+mj-lt"/>
              </a:rPr>
              <a:t>analyse</a:t>
            </a:r>
            <a:r>
              <a:rPr kumimoji="0" lang="en-US" altLang="en-US" sz="2200" i="0" u="none" strike="noStrike" cap="none" normalizeH="0" baseline="0" dirty="0">
                <a:ln>
                  <a:noFill/>
                </a:ln>
                <a:solidFill>
                  <a:schemeClr val="tx1"/>
                </a:solidFill>
                <a:effectLst/>
                <a:latin typeface="+mj-lt"/>
              </a:rPr>
              <a:t>, for example by department or by team.</a:t>
            </a:r>
          </a:p>
        </p:txBody>
      </p:sp>
    </p:spTree>
    <p:extLst>
      <p:ext uri="{BB962C8B-B14F-4D97-AF65-F5344CB8AC3E}">
        <p14:creationId xmlns:p14="http://schemas.microsoft.com/office/powerpoint/2010/main" val="2620056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8D69D-4053-A34E-A62B-6539B2205E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5F4CDEF-F692-07A5-48DF-38AB475287A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a:t>
            </a:r>
            <a:endParaRPr spc="-20" dirty="0">
              <a:latin typeface="+mj-lt"/>
            </a:endParaRPr>
          </a:p>
        </p:txBody>
      </p:sp>
      <p:sp>
        <p:nvSpPr>
          <p:cNvPr id="5" name="object 5">
            <a:extLst>
              <a:ext uri="{FF2B5EF4-FFF2-40B4-BE49-F238E27FC236}">
                <a16:creationId xmlns:a16="http://schemas.microsoft.com/office/drawing/2014/main" id="{A3F93C13-317F-97BC-4239-63A2B80E66B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4" name="Picture 3">
            <a:extLst>
              <a:ext uri="{FF2B5EF4-FFF2-40B4-BE49-F238E27FC236}">
                <a16:creationId xmlns:a16="http://schemas.microsoft.com/office/drawing/2014/main" id="{E4D15A6C-821D-3F76-7C93-2389DBF90878}"/>
              </a:ext>
            </a:extLst>
          </p:cNvPr>
          <p:cNvPicPr>
            <a:picLocks noChangeAspect="1"/>
          </p:cNvPicPr>
          <p:nvPr/>
        </p:nvPicPr>
        <p:blipFill>
          <a:blip r:embed="rId2"/>
          <a:srcRect l="15865" t="46587" r="55198" b="22928"/>
          <a:stretch>
            <a:fillRect/>
          </a:stretch>
        </p:blipFill>
        <p:spPr>
          <a:xfrm>
            <a:off x="0" y="534131"/>
            <a:ext cx="4572000" cy="2709332"/>
          </a:xfrm>
          <a:prstGeom prst="rect">
            <a:avLst/>
          </a:prstGeom>
        </p:spPr>
      </p:pic>
      <p:sp>
        <p:nvSpPr>
          <p:cNvPr id="10" name="TextBox 9">
            <a:extLst>
              <a:ext uri="{FF2B5EF4-FFF2-40B4-BE49-F238E27FC236}">
                <a16:creationId xmlns:a16="http://schemas.microsoft.com/office/drawing/2014/main" id="{DF3B096A-C505-0BEF-702A-5C3B18040B4A}"/>
              </a:ext>
            </a:extLst>
          </p:cNvPr>
          <p:cNvSpPr txBox="1"/>
          <p:nvPr/>
        </p:nvSpPr>
        <p:spPr>
          <a:xfrm>
            <a:off x="-23751" y="3279875"/>
            <a:ext cx="9152695" cy="3254417"/>
          </a:xfrm>
          <a:prstGeom prst="rect">
            <a:avLst/>
          </a:prstGeom>
          <a:solidFill>
            <a:schemeClr val="bg1"/>
          </a:solidFill>
          <a:ln>
            <a:solidFill>
              <a:srgbClr val="FF0000"/>
            </a:solidFill>
          </a:ln>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dirty="0">
                <a:latin typeface="+mj-lt"/>
              </a:rPr>
              <a:t>Our code creates a small table showing each Department and its Team with the number of employees, then sets Department and Team as a multi-level index — so the output neatly groups teams under each department (like folders within folders).</a:t>
            </a:r>
            <a:endParaRPr kumimoji="0" lang="en-US" altLang="en-US" sz="25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790087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6316-CDDC-0B2E-1A84-1F981A7EE6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02CD43-A469-5484-1E2F-D36D247A77A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2</a:t>
            </a:r>
            <a:endParaRPr spc="-20" dirty="0">
              <a:latin typeface="+mj-lt"/>
            </a:endParaRPr>
          </a:p>
        </p:txBody>
      </p:sp>
      <p:sp>
        <p:nvSpPr>
          <p:cNvPr id="5" name="object 5">
            <a:extLst>
              <a:ext uri="{FF2B5EF4-FFF2-40B4-BE49-F238E27FC236}">
                <a16:creationId xmlns:a16="http://schemas.microsoft.com/office/drawing/2014/main" id="{268103E3-1923-D45F-8558-9BE6197FCC4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8" name="TextBox 7">
            <a:extLst>
              <a:ext uri="{FF2B5EF4-FFF2-40B4-BE49-F238E27FC236}">
                <a16:creationId xmlns:a16="http://schemas.microsoft.com/office/drawing/2014/main" id="{4105B3B6-C65C-AAA2-18EA-0B5E8582E274}"/>
              </a:ext>
            </a:extLst>
          </p:cNvPr>
          <p:cNvSpPr txBox="1"/>
          <p:nvPr/>
        </p:nvSpPr>
        <p:spPr>
          <a:xfrm>
            <a:off x="34327" y="1066800"/>
            <a:ext cx="9143999" cy="671851"/>
          </a:xfrm>
          <a:prstGeom prst="rect">
            <a:avLst/>
          </a:prstGeom>
          <a:noFill/>
        </p:spPr>
        <p:txBody>
          <a:bodyPr wrap="square">
            <a:spAutoFit/>
          </a:bodyPr>
          <a:lstStyle/>
          <a:p>
            <a:pPr>
              <a:lnSpc>
                <a:spcPct val="150000"/>
              </a:lnSpc>
            </a:pPr>
            <a:r>
              <a:rPr lang="en-US" sz="2800" dirty="0">
                <a:latin typeface="+mj-lt"/>
              </a:rPr>
              <a:t>Show all rows from one Department (</a:t>
            </a:r>
            <a:r>
              <a:rPr lang="en-US" sz="2800" dirty="0">
                <a:highlight>
                  <a:srgbClr val="FFFF00"/>
                </a:highlight>
                <a:latin typeface="+mj-lt"/>
              </a:rPr>
              <a:t>1-2 min</a:t>
            </a:r>
            <a:r>
              <a:rPr lang="en-US" sz="2800" dirty="0">
                <a:latin typeface="+mj-lt"/>
              </a:rPr>
              <a:t>)</a:t>
            </a:r>
          </a:p>
        </p:txBody>
      </p:sp>
    </p:spTree>
    <p:extLst>
      <p:ext uri="{BB962C8B-B14F-4D97-AF65-F5344CB8AC3E}">
        <p14:creationId xmlns:p14="http://schemas.microsoft.com/office/powerpoint/2010/main" val="2423720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6316-CDDC-0B2E-1A84-1F981A7EE6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02CD43-A469-5484-1E2F-D36D247A77A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2</a:t>
            </a:r>
            <a:endParaRPr spc="-20" dirty="0">
              <a:latin typeface="+mj-lt"/>
            </a:endParaRPr>
          </a:p>
        </p:txBody>
      </p:sp>
      <p:sp>
        <p:nvSpPr>
          <p:cNvPr id="5" name="object 5">
            <a:extLst>
              <a:ext uri="{FF2B5EF4-FFF2-40B4-BE49-F238E27FC236}">
                <a16:creationId xmlns:a16="http://schemas.microsoft.com/office/drawing/2014/main" id="{268103E3-1923-D45F-8558-9BE6197FCC4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46D87C26-899A-7263-0CC4-4F2649F94367}"/>
              </a:ext>
            </a:extLst>
          </p:cNvPr>
          <p:cNvPicPr>
            <a:picLocks noChangeAspect="1"/>
          </p:cNvPicPr>
          <p:nvPr/>
        </p:nvPicPr>
        <p:blipFill>
          <a:blip r:embed="rId2"/>
          <a:srcRect b="30741"/>
          <a:stretch>
            <a:fillRect/>
          </a:stretch>
        </p:blipFill>
        <p:spPr>
          <a:xfrm>
            <a:off x="0" y="1611816"/>
            <a:ext cx="9144000" cy="3562350"/>
          </a:xfrm>
          <a:prstGeom prst="rect">
            <a:avLst/>
          </a:prstGeom>
        </p:spPr>
      </p:pic>
    </p:spTree>
    <p:extLst>
      <p:ext uri="{BB962C8B-B14F-4D97-AF65-F5344CB8AC3E}">
        <p14:creationId xmlns:p14="http://schemas.microsoft.com/office/powerpoint/2010/main" val="2801161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9CD6-C188-8401-1F19-A95306A334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F883B4-18F1-A240-2A24-0691AD4559E4}"/>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3</a:t>
            </a:r>
            <a:endParaRPr spc="-20" dirty="0">
              <a:latin typeface="+mj-lt"/>
            </a:endParaRPr>
          </a:p>
        </p:txBody>
      </p:sp>
      <p:sp>
        <p:nvSpPr>
          <p:cNvPr id="5" name="object 5">
            <a:extLst>
              <a:ext uri="{FF2B5EF4-FFF2-40B4-BE49-F238E27FC236}">
                <a16:creationId xmlns:a16="http://schemas.microsoft.com/office/drawing/2014/main" id="{EDFE4B7F-E1F3-376A-4637-A12F46661C9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FE6492CE-ADE4-094D-C43D-053E216C24AB}"/>
              </a:ext>
            </a:extLst>
          </p:cNvPr>
          <p:cNvSpPr txBox="1"/>
          <p:nvPr/>
        </p:nvSpPr>
        <p:spPr>
          <a:xfrm>
            <a:off x="4127" y="534132"/>
            <a:ext cx="7463473" cy="1318181"/>
          </a:xfrm>
          <a:prstGeom prst="rect">
            <a:avLst/>
          </a:prstGeom>
          <a:noFill/>
        </p:spPr>
        <p:txBody>
          <a:bodyPr wrap="square">
            <a:spAutoFit/>
          </a:bodyPr>
          <a:lstStyle/>
          <a:p>
            <a:pPr>
              <a:lnSpc>
                <a:spcPct val="150000"/>
              </a:lnSpc>
            </a:pPr>
            <a:r>
              <a:rPr lang="en-US" sz="2800" dirty="0">
                <a:latin typeface="+mj-lt"/>
              </a:rPr>
              <a:t>Add a new column “Budget” with different values in $ thousands then filter rows by Budget &gt; 200</a:t>
            </a:r>
          </a:p>
        </p:txBody>
      </p:sp>
      <p:pic>
        <p:nvPicPr>
          <p:cNvPr id="7" name="Timer">
            <a:hlinkClick r:id="" action="ppaction://media"/>
            <a:extLst>
              <a:ext uri="{FF2B5EF4-FFF2-40B4-BE49-F238E27FC236}">
                <a16:creationId xmlns:a16="http://schemas.microsoft.com/office/drawing/2014/main" id="{70A36D4F-1550-743A-F6B4-676573DFBF9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30083" y="3049858"/>
            <a:ext cx="1683834" cy="758283"/>
          </a:xfrm>
          <a:prstGeom prst="rect">
            <a:avLst/>
          </a:prstGeom>
          <a:ln w="38100">
            <a:solidFill>
              <a:srgbClr val="FF0000"/>
            </a:solidFill>
          </a:ln>
        </p:spPr>
      </p:pic>
    </p:spTree>
    <p:extLst>
      <p:ext uri="{BB962C8B-B14F-4D97-AF65-F5344CB8AC3E}">
        <p14:creationId xmlns:p14="http://schemas.microsoft.com/office/powerpoint/2010/main" val="3562369319"/>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29CD6-C188-8401-1F19-A95306A334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F883B4-18F1-A240-2A24-0691AD4559E4}"/>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3</a:t>
            </a:r>
            <a:endParaRPr spc="-20" dirty="0">
              <a:latin typeface="+mj-lt"/>
            </a:endParaRPr>
          </a:p>
        </p:txBody>
      </p:sp>
      <p:sp>
        <p:nvSpPr>
          <p:cNvPr id="5" name="object 5">
            <a:extLst>
              <a:ext uri="{FF2B5EF4-FFF2-40B4-BE49-F238E27FC236}">
                <a16:creationId xmlns:a16="http://schemas.microsoft.com/office/drawing/2014/main" id="{EDFE4B7F-E1F3-376A-4637-A12F46661C9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BD6ADD36-D854-0D0B-8297-FE3710FF8E0C}"/>
              </a:ext>
            </a:extLst>
          </p:cNvPr>
          <p:cNvPicPr>
            <a:picLocks noChangeAspect="1"/>
          </p:cNvPicPr>
          <p:nvPr/>
        </p:nvPicPr>
        <p:blipFill>
          <a:blip r:embed="rId2"/>
          <a:srcRect b="29259"/>
          <a:stretch>
            <a:fillRect/>
          </a:stretch>
        </p:blipFill>
        <p:spPr>
          <a:xfrm>
            <a:off x="-23751" y="640562"/>
            <a:ext cx="9144000" cy="3638550"/>
          </a:xfrm>
          <a:prstGeom prst="rect">
            <a:avLst/>
          </a:prstGeom>
        </p:spPr>
      </p:pic>
      <p:sp>
        <p:nvSpPr>
          <p:cNvPr id="8" name="Rectangle 1">
            <a:extLst>
              <a:ext uri="{FF2B5EF4-FFF2-40B4-BE49-F238E27FC236}">
                <a16:creationId xmlns:a16="http://schemas.microsoft.com/office/drawing/2014/main" id="{CE0CFBBC-BD70-8A69-3351-7A34F9F81757}"/>
              </a:ext>
            </a:extLst>
          </p:cNvPr>
          <p:cNvSpPr>
            <a:spLocks noChangeArrowheads="1"/>
          </p:cNvSpPr>
          <p:nvPr/>
        </p:nvSpPr>
        <p:spPr bwMode="auto">
          <a:xfrm>
            <a:off x="-4647" y="4224855"/>
            <a:ext cx="9153293" cy="2610843"/>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We create a new column Budget that shows each team’s budget (in $ thousands).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Then we apply a condition &gt; 200 to keep only the teams whose budget is greater than 200.</a:t>
            </a:r>
          </a:p>
        </p:txBody>
      </p:sp>
    </p:spTree>
    <p:extLst>
      <p:ext uri="{BB962C8B-B14F-4D97-AF65-F5344CB8AC3E}">
        <p14:creationId xmlns:p14="http://schemas.microsoft.com/office/powerpoint/2010/main" val="1623295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B75B-B820-70C1-236B-D066349F80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686174-EA04-B21D-B1F6-DCD1984C63B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4</a:t>
            </a:r>
            <a:endParaRPr spc="-20" dirty="0">
              <a:latin typeface="+mj-lt"/>
            </a:endParaRPr>
          </a:p>
        </p:txBody>
      </p:sp>
      <p:sp>
        <p:nvSpPr>
          <p:cNvPr id="5" name="object 5">
            <a:extLst>
              <a:ext uri="{FF2B5EF4-FFF2-40B4-BE49-F238E27FC236}">
                <a16:creationId xmlns:a16="http://schemas.microsoft.com/office/drawing/2014/main" id="{BDEC1E1C-2E6E-25CD-8343-48E890FB331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6BC9D9E3-2875-5B25-B0B0-0A8A5B9EBCFB}"/>
              </a:ext>
            </a:extLst>
          </p:cNvPr>
          <p:cNvSpPr txBox="1"/>
          <p:nvPr/>
        </p:nvSpPr>
        <p:spPr>
          <a:xfrm>
            <a:off x="4127" y="534132"/>
            <a:ext cx="7463473" cy="671851"/>
          </a:xfrm>
          <a:prstGeom prst="rect">
            <a:avLst/>
          </a:prstGeom>
          <a:noFill/>
        </p:spPr>
        <p:txBody>
          <a:bodyPr wrap="square">
            <a:spAutoFit/>
          </a:bodyPr>
          <a:lstStyle/>
          <a:p>
            <a:pPr>
              <a:lnSpc>
                <a:spcPct val="150000"/>
              </a:lnSpc>
            </a:pPr>
            <a:r>
              <a:rPr lang="en-US" sz="2800" dirty="0">
                <a:latin typeface="+mj-lt"/>
              </a:rPr>
              <a:t>Reset the index and show as a normal table</a:t>
            </a:r>
          </a:p>
        </p:txBody>
      </p:sp>
      <p:pic>
        <p:nvPicPr>
          <p:cNvPr id="7" name="Timer">
            <a:hlinkClick r:id="" action="ppaction://media"/>
            <a:extLst>
              <a:ext uri="{FF2B5EF4-FFF2-40B4-BE49-F238E27FC236}">
                <a16:creationId xmlns:a16="http://schemas.microsoft.com/office/drawing/2014/main" id="{139BA107-1339-4A7A-B10F-A04ECB2948AE}"/>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30083" y="3049858"/>
            <a:ext cx="1683834" cy="758283"/>
          </a:xfrm>
          <a:prstGeom prst="rect">
            <a:avLst/>
          </a:prstGeom>
          <a:ln w="38100">
            <a:solidFill>
              <a:srgbClr val="FF0000"/>
            </a:solidFill>
          </a:ln>
        </p:spPr>
      </p:pic>
    </p:spTree>
    <p:extLst>
      <p:ext uri="{BB962C8B-B14F-4D97-AF65-F5344CB8AC3E}">
        <p14:creationId xmlns:p14="http://schemas.microsoft.com/office/powerpoint/2010/main" val="3538326562"/>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B75B-B820-70C1-236B-D066349F80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686174-EA04-B21D-B1F6-DCD1984C63B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4</a:t>
            </a:r>
            <a:endParaRPr spc="-20" dirty="0">
              <a:latin typeface="+mj-lt"/>
            </a:endParaRPr>
          </a:p>
        </p:txBody>
      </p:sp>
      <p:sp>
        <p:nvSpPr>
          <p:cNvPr id="5" name="object 5">
            <a:extLst>
              <a:ext uri="{FF2B5EF4-FFF2-40B4-BE49-F238E27FC236}">
                <a16:creationId xmlns:a16="http://schemas.microsoft.com/office/drawing/2014/main" id="{BDEC1E1C-2E6E-25CD-8343-48E890FB331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40520EC2-3C4D-97E6-C4D0-A89CB86C1FAA}"/>
              </a:ext>
            </a:extLst>
          </p:cNvPr>
          <p:cNvPicPr>
            <a:picLocks noChangeAspect="1"/>
          </p:cNvPicPr>
          <p:nvPr/>
        </p:nvPicPr>
        <p:blipFill>
          <a:blip r:embed="rId2"/>
          <a:srcRect l="12500" t="64815" r="37500" b="20515"/>
          <a:stretch>
            <a:fillRect/>
          </a:stretch>
        </p:blipFill>
        <p:spPr>
          <a:xfrm>
            <a:off x="13420" y="709239"/>
            <a:ext cx="9144000" cy="1509132"/>
          </a:xfrm>
          <a:prstGeom prst="rect">
            <a:avLst/>
          </a:prstGeom>
        </p:spPr>
      </p:pic>
      <p:pic>
        <p:nvPicPr>
          <p:cNvPr id="9" name="Picture 8">
            <a:extLst>
              <a:ext uri="{FF2B5EF4-FFF2-40B4-BE49-F238E27FC236}">
                <a16:creationId xmlns:a16="http://schemas.microsoft.com/office/drawing/2014/main" id="{77388D62-6687-E3B4-2603-1E9B89042008}"/>
              </a:ext>
            </a:extLst>
          </p:cNvPr>
          <p:cNvPicPr>
            <a:picLocks noChangeAspect="1"/>
          </p:cNvPicPr>
          <p:nvPr/>
        </p:nvPicPr>
        <p:blipFill>
          <a:blip r:embed="rId3"/>
          <a:srcRect l="12500" t="50477" r="43333" b="22720"/>
          <a:stretch>
            <a:fillRect/>
          </a:stretch>
        </p:blipFill>
        <p:spPr>
          <a:xfrm>
            <a:off x="13420" y="2148616"/>
            <a:ext cx="6234980" cy="2128416"/>
          </a:xfrm>
          <a:prstGeom prst="rect">
            <a:avLst/>
          </a:prstGeom>
        </p:spPr>
      </p:pic>
      <p:sp>
        <p:nvSpPr>
          <p:cNvPr id="10" name="Rectangle 1">
            <a:extLst>
              <a:ext uri="{FF2B5EF4-FFF2-40B4-BE49-F238E27FC236}">
                <a16:creationId xmlns:a16="http://schemas.microsoft.com/office/drawing/2014/main" id="{6353BFEF-3E92-E3C8-259C-616C48520973}"/>
              </a:ext>
            </a:extLst>
          </p:cNvPr>
          <p:cNvSpPr>
            <a:spLocks noChangeArrowheads="1"/>
          </p:cNvSpPr>
          <p:nvPr/>
        </p:nvSpPr>
        <p:spPr bwMode="auto">
          <a:xfrm>
            <a:off x="-33583" y="4247157"/>
            <a:ext cx="9144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err="1">
                <a:ln>
                  <a:noFill/>
                </a:ln>
                <a:solidFill>
                  <a:schemeClr val="tx1"/>
                </a:solidFill>
                <a:effectLst/>
                <a:latin typeface="+mj-lt"/>
              </a:rPr>
              <a:t>reset_index</a:t>
            </a:r>
            <a:r>
              <a:rPr kumimoji="0" lang="en-US" altLang="en-US" sz="2800" i="0" u="none" strike="noStrike" cap="none" normalizeH="0" baseline="0" dirty="0">
                <a:ln>
                  <a:noFill/>
                </a:ln>
                <a:solidFill>
                  <a:schemeClr val="tx1"/>
                </a:solidFill>
                <a:effectLst/>
                <a:latin typeface="+mj-lt"/>
              </a:rPr>
              <a:t>() moves Department and Team out of the index area and back into regular columns.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This is useful when you want to export or join with other tables.</a:t>
            </a:r>
          </a:p>
        </p:txBody>
      </p:sp>
    </p:spTree>
    <p:extLst>
      <p:ext uri="{BB962C8B-B14F-4D97-AF65-F5344CB8AC3E}">
        <p14:creationId xmlns:p14="http://schemas.microsoft.com/office/powerpoint/2010/main" val="1129427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84117-674B-3E0E-16FD-DE41B32EAC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734BA00-0A51-DDD4-0521-124F8AA624B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4</a:t>
            </a:r>
            <a:endParaRPr spc="-20" dirty="0">
              <a:latin typeface="+mj-lt"/>
            </a:endParaRPr>
          </a:p>
        </p:txBody>
      </p:sp>
      <p:sp>
        <p:nvSpPr>
          <p:cNvPr id="5" name="object 5">
            <a:extLst>
              <a:ext uri="{FF2B5EF4-FFF2-40B4-BE49-F238E27FC236}">
                <a16:creationId xmlns:a16="http://schemas.microsoft.com/office/drawing/2014/main" id="{5002FD5A-E230-DD05-AFDA-9929E14D872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B53BC29C-3EE1-C8C4-491C-2BDF9679267A}"/>
              </a:ext>
            </a:extLst>
          </p:cNvPr>
          <p:cNvSpPr>
            <a:spLocks noChangeArrowheads="1"/>
          </p:cNvSpPr>
          <p:nvPr/>
        </p:nvSpPr>
        <p:spPr bwMode="auto">
          <a:xfrm>
            <a:off x="0" y="1916776"/>
            <a:ext cx="9144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Think of hierarchical index like grouping folders by </a:t>
            </a:r>
            <a:r>
              <a:rPr kumimoji="0" lang="en-US" altLang="en-US" sz="2800" i="1" u="none" strike="noStrike" cap="none" normalizeH="0" baseline="0" dirty="0">
                <a:ln>
                  <a:noFill/>
                </a:ln>
                <a:solidFill>
                  <a:schemeClr val="tx1"/>
                </a:solidFill>
                <a:effectLst/>
                <a:latin typeface="+mj-lt"/>
              </a:rPr>
              <a:t>Department → Team</a:t>
            </a:r>
            <a:r>
              <a:rPr kumimoji="0" lang="en-US" altLang="en-US" sz="280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You can look inside any folder, add more information (like a Budget column), filter by numbers, and finally flatten everything back into one simple table when you’re done.</a:t>
            </a:r>
          </a:p>
        </p:txBody>
      </p:sp>
    </p:spTree>
    <p:extLst>
      <p:ext uri="{BB962C8B-B14F-4D97-AF65-F5344CB8AC3E}">
        <p14:creationId xmlns:p14="http://schemas.microsoft.com/office/powerpoint/2010/main" val="4294235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B6454-F809-D4B9-01CC-14B535946F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3BFF15-4851-6601-5796-816302EC501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Combining &amp; Merging Datasets</a:t>
            </a:r>
            <a:endParaRPr spc="-20" dirty="0">
              <a:latin typeface="+mj-lt"/>
            </a:endParaRPr>
          </a:p>
        </p:txBody>
      </p:sp>
      <p:sp>
        <p:nvSpPr>
          <p:cNvPr id="5" name="object 5">
            <a:extLst>
              <a:ext uri="{FF2B5EF4-FFF2-40B4-BE49-F238E27FC236}">
                <a16:creationId xmlns:a16="http://schemas.microsoft.com/office/drawing/2014/main" id="{611B16AC-A144-B683-EF60-BD332C8FC3A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F472CEA8-74FA-6DBC-E08E-C9EDD611C000}"/>
              </a:ext>
            </a:extLst>
          </p:cNvPr>
          <p:cNvSpPr>
            <a:spLocks noChangeArrowheads="1"/>
          </p:cNvSpPr>
          <p:nvPr/>
        </p:nvSpPr>
        <p:spPr bwMode="auto">
          <a:xfrm>
            <a:off x="19665" y="990600"/>
            <a:ext cx="9144000"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dirty="0">
                <a:latin typeface="+mj-lt"/>
              </a:rPr>
              <a:t>Merging = like joining two tables together.</a:t>
            </a:r>
            <a:br>
              <a:rPr lang="en-US" sz="2800" dirty="0">
                <a:latin typeface="+mj-lt"/>
              </a:rPr>
            </a:br>
            <a:r>
              <a:rPr lang="en-US" sz="2800" dirty="0">
                <a:latin typeface="+mj-lt"/>
              </a:rPr>
              <a:t>Think of it like matching puzzle pieces — you connect rows that share something in common (like an ID).</a:t>
            </a:r>
            <a:endParaRPr kumimoji="0" lang="en-US" altLang="en-US" sz="28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533499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8DB28-8418-C8E4-8558-61F71B9536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06174EB-30A3-48FF-AA16-DA6BAF26998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Combining &amp; Merging Datasets</a:t>
            </a:r>
            <a:endParaRPr spc="-20" dirty="0">
              <a:latin typeface="+mj-lt"/>
            </a:endParaRPr>
          </a:p>
        </p:txBody>
      </p:sp>
      <p:sp>
        <p:nvSpPr>
          <p:cNvPr id="5" name="object 5">
            <a:extLst>
              <a:ext uri="{FF2B5EF4-FFF2-40B4-BE49-F238E27FC236}">
                <a16:creationId xmlns:a16="http://schemas.microsoft.com/office/drawing/2014/main" id="{05D81DE0-38E9-43D7-5629-9A203D312F6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85DDCB6A-168F-405E-22B9-D5230263A7A1}"/>
              </a:ext>
            </a:extLst>
          </p:cNvPr>
          <p:cNvGraphicFramePr>
            <a:graphicFrameLocks noGrp="1"/>
          </p:cNvGraphicFramePr>
          <p:nvPr>
            <p:extLst>
              <p:ext uri="{D42A27DB-BD31-4B8C-83A1-F6EECF244321}">
                <p14:modId xmlns:p14="http://schemas.microsoft.com/office/powerpoint/2010/main" val="1827064931"/>
              </p:ext>
            </p:extLst>
          </p:nvPr>
        </p:nvGraphicFramePr>
        <p:xfrm>
          <a:off x="190500" y="1143000"/>
          <a:ext cx="8763000" cy="5153385"/>
        </p:xfrm>
        <a:graphic>
          <a:graphicData uri="http://schemas.openxmlformats.org/drawingml/2006/table">
            <a:tbl>
              <a:tblPr>
                <a:tableStyleId>{ED083AE6-46FA-4A59-8FB0-9F97EB10719F}</a:tableStyleId>
              </a:tblPr>
              <a:tblGrid>
                <a:gridCol w="1971265">
                  <a:extLst>
                    <a:ext uri="{9D8B030D-6E8A-4147-A177-3AD203B41FA5}">
                      <a16:colId xmlns:a16="http://schemas.microsoft.com/office/drawing/2014/main" val="2647445170"/>
                    </a:ext>
                  </a:extLst>
                </a:gridCol>
                <a:gridCol w="6791735">
                  <a:extLst>
                    <a:ext uri="{9D8B030D-6E8A-4147-A177-3AD203B41FA5}">
                      <a16:colId xmlns:a16="http://schemas.microsoft.com/office/drawing/2014/main" val="168302287"/>
                    </a:ext>
                  </a:extLst>
                </a:gridCol>
              </a:tblGrid>
              <a:tr h="290861">
                <a:tc>
                  <a:txBody>
                    <a:bodyPr/>
                    <a:lstStyle/>
                    <a:p>
                      <a:pPr>
                        <a:lnSpc>
                          <a:spcPct val="150000"/>
                        </a:lnSpc>
                        <a:buNone/>
                      </a:pPr>
                      <a:r>
                        <a:rPr lang="en-US" sz="2800" b="0" dirty="0">
                          <a:latin typeface="+mj-lt"/>
                        </a:rPr>
                        <a:t>Type</a:t>
                      </a:r>
                    </a:p>
                  </a:txBody>
                  <a:tcPr marL="72715" marR="72715" marT="36358" marB="36358" anchor="ctr">
                    <a:solidFill>
                      <a:schemeClr val="accent4">
                        <a:lumMod val="20000"/>
                        <a:lumOff val="80000"/>
                      </a:schemeClr>
                    </a:solidFill>
                  </a:tcPr>
                </a:tc>
                <a:tc>
                  <a:txBody>
                    <a:bodyPr/>
                    <a:lstStyle/>
                    <a:p>
                      <a:pPr>
                        <a:lnSpc>
                          <a:spcPct val="150000"/>
                        </a:lnSpc>
                        <a:buNone/>
                      </a:pPr>
                      <a:r>
                        <a:rPr lang="en-US" sz="2800" b="0" dirty="0">
                          <a:latin typeface="+mj-lt"/>
                        </a:rPr>
                        <a:t>What It Does</a:t>
                      </a:r>
                    </a:p>
                  </a:txBody>
                  <a:tcPr marL="72715" marR="72715" marT="36358" marB="36358" anchor="ctr">
                    <a:solidFill>
                      <a:schemeClr val="accent4">
                        <a:lumMod val="20000"/>
                        <a:lumOff val="80000"/>
                      </a:schemeClr>
                    </a:solidFill>
                  </a:tcPr>
                </a:tc>
                <a:extLst>
                  <a:ext uri="{0D108BD9-81ED-4DB2-BD59-A6C34878D82A}">
                    <a16:rowId xmlns:a16="http://schemas.microsoft.com/office/drawing/2014/main" val="4059617997"/>
                  </a:ext>
                </a:extLst>
              </a:tr>
              <a:tr h="509007">
                <a:tc>
                  <a:txBody>
                    <a:bodyPr/>
                    <a:lstStyle/>
                    <a:p>
                      <a:pPr>
                        <a:lnSpc>
                          <a:spcPct val="150000"/>
                        </a:lnSpc>
                        <a:buNone/>
                      </a:pPr>
                      <a:r>
                        <a:rPr lang="en-US" sz="2800" b="0" dirty="0">
                          <a:latin typeface="+mj-lt"/>
                        </a:rPr>
                        <a:t>Inner Join</a:t>
                      </a:r>
                    </a:p>
                  </a:txBody>
                  <a:tcPr marL="72715" marR="72715" marT="36358" marB="36358" anchor="ctr"/>
                </a:tc>
                <a:tc>
                  <a:txBody>
                    <a:bodyPr/>
                    <a:lstStyle/>
                    <a:p>
                      <a:pPr>
                        <a:lnSpc>
                          <a:spcPct val="150000"/>
                        </a:lnSpc>
                        <a:buNone/>
                      </a:pPr>
                      <a:r>
                        <a:rPr lang="en-US" sz="2800" b="0">
                          <a:latin typeface="+mj-lt"/>
                        </a:rPr>
                        <a:t>Keeps only rows that match in both tables.</a:t>
                      </a:r>
                    </a:p>
                  </a:txBody>
                  <a:tcPr marL="72715" marR="72715" marT="36358" marB="36358" anchor="ctr"/>
                </a:tc>
                <a:extLst>
                  <a:ext uri="{0D108BD9-81ED-4DB2-BD59-A6C34878D82A}">
                    <a16:rowId xmlns:a16="http://schemas.microsoft.com/office/drawing/2014/main" val="1693018102"/>
                  </a:ext>
                </a:extLst>
              </a:tr>
              <a:tr h="727152">
                <a:tc>
                  <a:txBody>
                    <a:bodyPr/>
                    <a:lstStyle/>
                    <a:p>
                      <a:pPr>
                        <a:lnSpc>
                          <a:spcPct val="150000"/>
                        </a:lnSpc>
                        <a:buNone/>
                      </a:pPr>
                      <a:r>
                        <a:rPr lang="en-US" sz="2800" b="0" dirty="0">
                          <a:latin typeface="+mj-lt"/>
                        </a:rPr>
                        <a:t>Left Join</a:t>
                      </a:r>
                    </a:p>
                  </a:txBody>
                  <a:tcPr marL="72715" marR="72715" marT="36358" marB="36358" anchor="ctr"/>
                </a:tc>
                <a:tc>
                  <a:txBody>
                    <a:bodyPr/>
                    <a:lstStyle/>
                    <a:p>
                      <a:pPr>
                        <a:lnSpc>
                          <a:spcPct val="150000"/>
                        </a:lnSpc>
                        <a:buNone/>
                      </a:pPr>
                      <a:r>
                        <a:rPr lang="en-US" sz="2800" b="0" dirty="0">
                          <a:latin typeface="+mj-lt"/>
                        </a:rPr>
                        <a:t>Keeps all rows from the left table; fills missing from the right with </a:t>
                      </a:r>
                      <a:r>
                        <a:rPr lang="en-US" sz="2800" b="0" dirty="0" err="1">
                          <a:latin typeface="+mj-lt"/>
                        </a:rPr>
                        <a:t>NaN</a:t>
                      </a:r>
                      <a:r>
                        <a:rPr lang="en-US" sz="2800" b="0" dirty="0">
                          <a:latin typeface="+mj-lt"/>
                        </a:rPr>
                        <a:t>.</a:t>
                      </a:r>
                    </a:p>
                  </a:txBody>
                  <a:tcPr marL="72715" marR="72715" marT="36358" marB="36358" anchor="ctr"/>
                </a:tc>
                <a:extLst>
                  <a:ext uri="{0D108BD9-81ED-4DB2-BD59-A6C34878D82A}">
                    <a16:rowId xmlns:a16="http://schemas.microsoft.com/office/drawing/2014/main" val="4195797346"/>
                  </a:ext>
                </a:extLst>
              </a:tr>
              <a:tr h="727152">
                <a:tc>
                  <a:txBody>
                    <a:bodyPr/>
                    <a:lstStyle/>
                    <a:p>
                      <a:pPr>
                        <a:lnSpc>
                          <a:spcPct val="150000"/>
                        </a:lnSpc>
                        <a:buNone/>
                      </a:pPr>
                      <a:r>
                        <a:rPr lang="en-US" sz="2800" b="0" dirty="0">
                          <a:latin typeface="+mj-lt"/>
                        </a:rPr>
                        <a:t>Right Join</a:t>
                      </a:r>
                    </a:p>
                  </a:txBody>
                  <a:tcPr marL="72715" marR="72715" marT="36358" marB="36358" anchor="ctr"/>
                </a:tc>
                <a:tc>
                  <a:txBody>
                    <a:bodyPr/>
                    <a:lstStyle/>
                    <a:p>
                      <a:pPr>
                        <a:lnSpc>
                          <a:spcPct val="150000"/>
                        </a:lnSpc>
                        <a:buNone/>
                      </a:pPr>
                      <a:r>
                        <a:rPr lang="en-US" sz="2800" b="0">
                          <a:latin typeface="+mj-lt"/>
                        </a:rPr>
                        <a:t>Keeps all rows from the right table; fills missing from the left with NaN.</a:t>
                      </a:r>
                    </a:p>
                  </a:txBody>
                  <a:tcPr marL="72715" marR="72715" marT="36358" marB="36358" anchor="ctr"/>
                </a:tc>
                <a:extLst>
                  <a:ext uri="{0D108BD9-81ED-4DB2-BD59-A6C34878D82A}">
                    <a16:rowId xmlns:a16="http://schemas.microsoft.com/office/drawing/2014/main" val="166190475"/>
                  </a:ext>
                </a:extLst>
              </a:tr>
              <a:tr h="727152">
                <a:tc>
                  <a:txBody>
                    <a:bodyPr/>
                    <a:lstStyle/>
                    <a:p>
                      <a:pPr>
                        <a:lnSpc>
                          <a:spcPct val="150000"/>
                        </a:lnSpc>
                        <a:buNone/>
                      </a:pPr>
                      <a:r>
                        <a:rPr lang="en-US" sz="2800" b="0" dirty="0">
                          <a:latin typeface="+mj-lt"/>
                        </a:rPr>
                        <a:t>Outer Join</a:t>
                      </a:r>
                    </a:p>
                  </a:txBody>
                  <a:tcPr marL="72715" marR="72715" marT="36358" marB="36358" anchor="ctr"/>
                </a:tc>
                <a:tc>
                  <a:txBody>
                    <a:bodyPr/>
                    <a:lstStyle/>
                    <a:p>
                      <a:pPr>
                        <a:lnSpc>
                          <a:spcPct val="150000"/>
                        </a:lnSpc>
                        <a:buNone/>
                      </a:pPr>
                      <a:r>
                        <a:rPr lang="en-US" sz="2800" b="0" dirty="0">
                          <a:latin typeface="+mj-lt"/>
                        </a:rPr>
                        <a:t>Keeps everything from both; fills missing with </a:t>
                      </a:r>
                      <a:r>
                        <a:rPr lang="en-US" sz="2800" b="0" dirty="0" err="1">
                          <a:latin typeface="+mj-lt"/>
                        </a:rPr>
                        <a:t>NaN</a:t>
                      </a:r>
                      <a:r>
                        <a:rPr lang="en-US" sz="2800" b="0" dirty="0">
                          <a:latin typeface="+mj-lt"/>
                        </a:rPr>
                        <a:t>.</a:t>
                      </a:r>
                    </a:p>
                  </a:txBody>
                  <a:tcPr marL="72715" marR="72715" marT="36358" marB="36358" anchor="ctr"/>
                </a:tc>
                <a:extLst>
                  <a:ext uri="{0D108BD9-81ED-4DB2-BD59-A6C34878D82A}">
                    <a16:rowId xmlns:a16="http://schemas.microsoft.com/office/drawing/2014/main" val="85533665"/>
                  </a:ext>
                </a:extLst>
              </a:tr>
            </a:tbl>
          </a:graphicData>
        </a:graphic>
      </p:graphicFrame>
    </p:spTree>
    <p:extLst>
      <p:ext uri="{BB962C8B-B14F-4D97-AF65-F5344CB8AC3E}">
        <p14:creationId xmlns:p14="http://schemas.microsoft.com/office/powerpoint/2010/main" val="2497947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5C535-6915-1C02-1426-74200C6D8184}"/>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2D00BF70-F673-FD95-DFE1-14E43FCEFE3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FCA62B9E-AB78-1663-169F-97AD19E2D561}"/>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2B6B3171-EB16-FCA5-73F8-F06D02BA0280}"/>
              </a:ext>
            </a:extLst>
          </p:cNvPr>
          <p:cNvSpPr>
            <a:spLocks noChangeArrowheads="1"/>
          </p:cNvSpPr>
          <p:nvPr/>
        </p:nvSpPr>
        <p:spPr bwMode="auto">
          <a:xfrm>
            <a:off x="0" y="4248150"/>
            <a:ext cx="9144000" cy="2610843"/>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We make two tables: one for employees, one for departments.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Both have a column id that connects them.</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how='inner' means keep only IDs that appear in both.</a:t>
            </a:r>
          </a:p>
        </p:txBody>
      </p:sp>
    </p:spTree>
    <p:extLst>
      <p:ext uri="{BB962C8B-B14F-4D97-AF65-F5344CB8AC3E}">
        <p14:creationId xmlns:p14="http://schemas.microsoft.com/office/powerpoint/2010/main" val="242219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611A8-D0E7-1667-64F0-91C60F690576}"/>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AF861A84-625A-C052-E12E-C70C04AF8F1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1B7D6307-5C80-A057-673E-43E2C2337A34}"/>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3D10C61C-1298-5403-B8B9-5B5D331ECFA0}"/>
              </a:ext>
            </a:extLst>
          </p:cNvPr>
          <p:cNvSpPr>
            <a:spLocks noChangeArrowheads="1"/>
          </p:cNvSpPr>
          <p:nvPr/>
        </p:nvSpPr>
        <p:spPr bwMode="auto">
          <a:xfrm>
            <a:off x="0" y="4571316"/>
            <a:ext cx="9144000" cy="196451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mj-lt"/>
              </a:rPr>
              <a:t>We start by importing the Pandas library, which helps us work with tables (</a:t>
            </a:r>
            <a:r>
              <a:rPr lang="en-US" sz="2800" dirty="0" err="1">
                <a:latin typeface="+mj-lt"/>
              </a:rPr>
              <a:t>DataFrames</a:t>
            </a:r>
            <a:r>
              <a:rPr lang="en-US" sz="2800" dirty="0">
                <a:latin typeface="+mj-lt"/>
              </a:rPr>
              <a:t>) in Python — like Excel sheets but smarter.</a:t>
            </a:r>
          </a:p>
        </p:txBody>
      </p:sp>
      <p:sp>
        <p:nvSpPr>
          <p:cNvPr id="2" name="Rectangle: Rounded Corners 1">
            <a:extLst>
              <a:ext uri="{FF2B5EF4-FFF2-40B4-BE49-F238E27FC236}">
                <a16:creationId xmlns:a16="http://schemas.microsoft.com/office/drawing/2014/main" id="{53FB25C9-A8CA-EABE-56C9-DB38690BDE11}"/>
              </a:ext>
            </a:extLst>
          </p:cNvPr>
          <p:cNvSpPr/>
          <p:nvPr/>
        </p:nvSpPr>
        <p:spPr>
          <a:xfrm>
            <a:off x="1371600" y="1887792"/>
            <a:ext cx="2743200" cy="381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059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95B6-D62D-6A02-9278-247DBECA4492}"/>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59AC7FA-1801-8D57-CACE-C6C7549E2AC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986D2613-053D-E7B9-7394-9AE8ADD16F1B}"/>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B5EF824B-D611-A981-B0E9-67D53DBB241F}"/>
              </a:ext>
            </a:extLst>
          </p:cNvPr>
          <p:cNvSpPr>
            <a:spLocks noChangeArrowheads="1"/>
          </p:cNvSpPr>
          <p:nvPr/>
        </p:nvSpPr>
        <p:spPr bwMode="auto">
          <a:xfrm>
            <a:off x="0" y="4265174"/>
            <a:ext cx="9144000" cy="2576796"/>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200" b="1" dirty="0">
                <a:latin typeface="+mj-lt"/>
              </a:rPr>
              <a:t>This creates our first table</a:t>
            </a:r>
            <a:r>
              <a:rPr lang="en-US" sz="2200" dirty="0">
                <a:latin typeface="+mj-lt"/>
              </a:rPr>
              <a:t> — a list of employees.</a:t>
            </a:r>
            <a:br>
              <a:rPr lang="en-US" sz="2200" dirty="0">
                <a:latin typeface="+mj-lt"/>
              </a:rPr>
            </a:br>
            <a:r>
              <a:rPr lang="en-US" sz="2200" dirty="0">
                <a:latin typeface="+mj-lt"/>
              </a:rPr>
              <a:t>It has two columns:</a:t>
            </a:r>
          </a:p>
          <a:p>
            <a:pPr marL="633413" lvl="1" indent="-342900">
              <a:lnSpc>
                <a:spcPct val="150000"/>
              </a:lnSpc>
              <a:buFont typeface="Arial" panose="020B0604020202020204" pitchFamily="34" charset="0"/>
              <a:buChar char="•"/>
            </a:pPr>
            <a:r>
              <a:rPr lang="en-US" sz="2200" dirty="0">
                <a:latin typeface="+mj-lt"/>
              </a:rPr>
              <a:t>id → each person’s unique number</a:t>
            </a:r>
          </a:p>
          <a:p>
            <a:pPr marL="633413" lvl="1" indent="-342900">
              <a:lnSpc>
                <a:spcPct val="150000"/>
              </a:lnSpc>
              <a:buFont typeface="Arial" panose="020B0604020202020204" pitchFamily="34" charset="0"/>
              <a:buChar char="•"/>
            </a:pPr>
            <a:r>
              <a:rPr lang="en-US" sz="2200" dirty="0">
                <a:latin typeface="+mj-lt"/>
              </a:rPr>
              <a:t>name → their name</a:t>
            </a:r>
          </a:p>
          <a:p>
            <a:pPr>
              <a:lnSpc>
                <a:spcPct val="150000"/>
              </a:lnSpc>
            </a:pPr>
            <a:r>
              <a:rPr lang="en-US" sz="2200" i="1" dirty="0">
                <a:latin typeface="+mj-lt"/>
              </a:rPr>
              <a:t>Think of it as a small “Employee List.”</a:t>
            </a:r>
            <a:endParaRPr lang="en-US" sz="2200" dirty="0">
              <a:latin typeface="+mj-lt"/>
            </a:endParaRPr>
          </a:p>
        </p:txBody>
      </p:sp>
      <p:sp>
        <p:nvSpPr>
          <p:cNvPr id="2" name="Rectangle: Rounded Corners 1">
            <a:extLst>
              <a:ext uri="{FF2B5EF4-FFF2-40B4-BE49-F238E27FC236}">
                <a16:creationId xmlns:a16="http://schemas.microsoft.com/office/drawing/2014/main" id="{F528B1BA-DFB1-18C1-F311-D4E93889A0E4}"/>
              </a:ext>
            </a:extLst>
          </p:cNvPr>
          <p:cNvSpPr/>
          <p:nvPr/>
        </p:nvSpPr>
        <p:spPr>
          <a:xfrm>
            <a:off x="1371599" y="2286000"/>
            <a:ext cx="6445045" cy="30971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0106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9E0D0-F28B-C495-702A-0E34E768468E}"/>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8CA8882-1F79-33E6-17E9-BAABF1ED7A1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03806179-84D9-BFE8-90FE-F944A5AB1969}"/>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8687D9BC-D6AB-0D76-79DA-97F4D5A9D556}"/>
              </a:ext>
            </a:extLst>
          </p:cNvPr>
          <p:cNvSpPr>
            <a:spLocks noChangeArrowheads="1"/>
          </p:cNvSpPr>
          <p:nvPr/>
        </p:nvSpPr>
        <p:spPr bwMode="auto">
          <a:xfrm>
            <a:off x="0" y="4384342"/>
            <a:ext cx="9144000" cy="233846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500" b="1" dirty="0">
                <a:latin typeface="+mj-lt"/>
              </a:rPr>
              <a:t>This creates the second table</a:t>
            </a:r>
            <a:r>
              <a:rPr lang="en-US" sz="2500" dirty="0">
                <a:latin typeface="+mj-lt"/>
              </a:rPr>
              <a:t>, showing departments.</a:t>
            </a:r>
            <a:br>
              <a:rPr lang="en-US" sz="2500" dirty="0">
                <a:latin typeface="+mj-lt"/>
              </a:rPr>
            </a:br>
            <a:r>
              <a:rPr lang="en-US" sz="2500" dirty="0">
                <a:latin typeface="+mj-lt"/>
              </a:rPr>
              <a:t>It also has an id column — which will help us connect employees to departments — and a dept column for the department name.</a:t>
            </a:r>
          </a:p>
          <a:p>
            <a:pPr>
              <a:lnSpc>
                <a:spcPct val="150000"/>
              </a:lnSpc>
            </a:pPr>
            <a:r>
              <a:rPr lang="en-US" sz="2500" i="1" dirty="0">
                <a:latin typeface="+mj-lt"/>
              </a:rPr>
              <a:t>This is our “Department List.”</a:t>
            </a:r>
            <a:endParaRPr lang="en-US" sz="2500" dirty="0">
              <a:latin typeface="+mj-lt"/>
            </a:endParaRPr>
          </a:p>
        </p:txBody>
      </p:sp>
      <p:sp>
        <p:nvSpPr>
          <p:cNvPr id="2" name="Rectangle: Rounded Corners 1">
            <a:extLst>
              <a:ext uri="{FF2B5EF4-FFF2-40B4-BE49-F238E27FC236}">
                <a16:creationId xmlns:a16="http://schemas.microsoft.com/office/drawing/2014/main" id="{BF5B2B27-7A80-6B61-145D-86EED4D76687}"/>
              </a:ext>
            </a:extLst>
          </p:cNvPr>
          <p:cNvSpPr/>
          <p:nvPr/>
        </p:nvSpPr>
        <p:spPr>
          <a:xfrm>
            <a:off x="1349477" y="2568677"/>
            <a:ext cx="6445045" cy="25072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161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52155-3718-7071-067A-B4DEF9926C3B}"/>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6F8D064F-A83D-7959-59B8-2D55B47701B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23A6136E-5971-F246-BA44-16DF100DB2B8}"/>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C30B6B14-B3DB-4654-DC0B-18A617252052}"/>
              </a:ext>
            </a:extLst>
          </p:cNvPr>
          <p:cNvSpPr>
            <a:spLocks noChangeArrowheads="1"/>
          </p:cNvSpPr>
          <p:nvPr/>
        </p:nvSpPr>
        <p:spPr bwMode="auto">
          <a:xfrm>
            <a:off x="2213088" y="3861395"/>
            <a:ext cx="6957951" cy="308687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200" dirty="0">
                <a:latin typeface="+mj-lt"/>
              </a:rPr>
              <a:t>This is the main action — the merge!</a:t>
            </a:r>
            <a:br>
              <a:rPr lang="en-US" sz="2200" dirty="0">
                <a:latin typeface="+mj-lt"/>
              </a:rPr>
            </a:br>
            <a:r>
              <a:rPr lang="en-US" sz="2200" dirty="0">
                <a:latin typeface="+mj-lt"/>
              </a:rPr>
              <a:t>We tell Pandas to:</a:t>
            </a:r>
          </a:p>
          <a:p>
            <a:pPr marL="342900" indent="-342900">
              <a:lnSpc>
                <a:spcPct val="150000"/>
              </a:lnSpc>
              <a:buFont typeface="Arial" panose="020B0604020202020204" pitchFamily="34" charset="0"/>
              <a:buChar char="•"/>
            </a:pPr>
            <a:r>
              <a:rPr lang="en-US" sz="2200" dirty="0">
                <a:latin typeface="+mj-lt"/>
              </a:rPr>
              <a:t>Join both tables where the “id” matches</a:t>
            </a:r>
          </a:p>
          <a:p>
            <a:pPr marL="342900" indent="-342900">
              <a:lnSpc>
                <a:spcPct val="150000"/>
              </a:lnSpc>
              <a:buFont typeface="Arial" panose="020B0604020202020204" pitchFamily="34" charset="0"/>
              <a:buChar char="•"/>
            </a:pPr>
            <a:r>
              <a:rPr lang="en-US" sz="2200" dirty="0">
                <a:latin typeface="+mj-lt"/>
              </a:rPr>
              <a:t>Use an Inner Join, which means:</a:t>
            </a:r>
            <a:br>
              <a:rPr lang="en-US" sz="2200" dirty="0">
                <a:latin typeface="+mj-lt"/>
              </a:rPr>
            </a:br>
            <a:r>
              <a:rPr lang="en-US" sz="2200" dirty="0">
                <a:latin typeface="+mj-lt"/>
              </a:rPr>
              <a:t>   Keep only rows that appear in both tables</a:t>
            </a:r>
          </a:p>
          <a:p>
            <a:pPr>
              <a:lnSpc>
                <a:spcPct val="150000"/>
              </a:lnSpc>
            </a:pPr>
            <a:r>
              <a:rPr lang="en-US" sz="2200" i="1" dirty="0">
                <a:latin typeface="+mj-lt"/>
              </a:rPr>
              <a:t>It’s like finding names that exist in both attendance sheets.</a:t>
            </a:r>
            <a:endParaRPr lang="en-US" sz="2200" dirty="0">
              <a:latin typeface="+mj-lt"/>
            </a:endParaRPr>
          </a:p>
        </p:txBody>
      </p:sp>
      <p:sp>
        <p:nvSpPr>
          <p:cNvPr id="2" name="Rectangle: Rounded Corners 1">
            <a:extLst>
              <a:ext uri="{FF2B5EF4-FFF2-40B4-BE49-F238E27FC236}">
                <a16:creationId xmlns:a16="http://schemas.microsoft.com/office/drawing/2014/main" id="{7431574A-EBCB-8227-F725-CF951BD35CFC}"/>
              </a:ext>
            </a:extLst>
          </p:cNvPr>
          <p:cNvSpPr/>
          <p:nvPr/>
        </p:nvSpPr>
        <p:spPr>
          <a:xfrm>
            <a:off x="1349477" y="2949677"/>
            <a:ext cx="6445045" cy="25072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9120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BF31D-A744-6DFB-7CDF-9AD7FFBD012B}"/>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93692870-473D-5703-0A03-B21BA5E39EA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55757137-E2DB-7F85-5385-8EC3EB83E0A1}"/>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BB4DE9ED-DFE9-80E2-8C85-7FEBF3559E1E}"/>
              </a:ext>
            </a:extLst>
          </p:cNvPr>
          <p:cNvSpPr>
            <a:spLocks noChangeArrowheads="1"/>
          </p:cNvSpPr>
          <p:nvPr/>
        </p:nvSpPr>
        <p:spPr bwMode="auto">
          <a:xfrm>
            <a:off x="0" y="5068905"/>
            <a:ext cx="9171039" cy="67185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mj-lt"/>
              </a:rPr>
              <a:t>Show the final result.</a:t>
            </a:r>
          </a:p>
        </p:txBody>
      </p:sp>
      <p:sp>
        <p:nvSpPr>
          <p:cNvPr id="2" name="Rectangle: Rounded Corners 1">
            <a:extLst>
              <a:ext uri="{FF2B5EF4-FFF2-40B4-BE49-F238E27FC236}">
                <a16:creationId xmlns:a16="http://schemas.microsoft.com/office/drawing/2014/main" id="{735A83DE-98DE-8FDD-01DD-39583C37C70E}"/>
              </a:ext>
            </a:extLst>
          </p:cNvPr>
          <p:cNvSpPr/>
          <p:nvPr/>
        </p:nvSpPr>
        <p:spPr>
          <a:xfrm>
            <a:off x="1349477" y="3163529"/>
            <a:ext cx="6445045" cy="25072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9908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D5AEC-2ECA-629F-3B1F-7024DA7D9EBA}"/>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4A29E58-BDDB-6050-62EF-48B27C8F2FA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9A61F176-F1E0-4682-600D-0467E30C8E0C}"/>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0376FE34-374E-901E-CDBA-27AB848824EF}"/>
              </a:ext>
            </a:extLst>
          </p:cNvPr>
          <p:cNvSpPr>
            <a:spLocks noChangeArrowheads="1"/>
          </p:cNvSpPr>
          <p:nvPr/>
        </p:nvSpPr>
        <p:spPr bwMode="auto">
          <a:xfrm>
            <a:off x="4976751" y="1650067"/>
            <a:ext cx="4191000" cy="5196166"/>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indent="-457200">
              <a:lnSpc>
                <a:spcPct val="150000"/>
              </a:lnSpc>
              <a:buFont typeface="Arial" panose="020B0604020202020204" pitchFamily="34" charset="0"/>
              <a:buChar char="•"/>
            </a:pPr>
            <a:r>
              <a:rPr lang="en-US" sz="2800" dirty="0">
                <a:latin typeface="+mj-lt"/>
              </a:rPr>
              <a:t>Only Ali (id=1) and Sara (id=2) appear in both tables.</a:t>
            </a:r>
          </a:p>
          <a:p>
            <a:pPr marL="457200" indent="-457200">
              <a:lnSpc>
                <a:spcPct val="150000"/>
              </a:lnSpc>
              <a:buFont typeface="Arial" panose="020B0604020202020204" pitchFamily="34" charset="0"/>
              <a:buChar char="•"/>
            </a:pPr>
            <a:r>
              <a:rPr lang="en-US" sz="2800" dirty="0">
                <a:latin typeface="+mj-lt"/>
              </a:rPr>
              <a:t>John (id=3) doesn’t have a matching department.</a:t>
            </a:r>
          </a:p>
          <a:p>
            <a:pPr marL="457200" indent="-457200">
              <a:lnSpc>
                <a:spcPct val="150000"/>
              </a:lnSpc>
              <a:buFont typeface="Arial" panose="020B0604020202020204" pitchFamily="34" charset="0"/>
              <a:buChar char="•"/>
            </a:pPr>
            <a:r>
              <a:rPr lang="en-US" sz="2800" dirty="0">
                <a:latin typeface="+mj-lt"/>
              </a:rPr>
              <a:t>Finance (id=4) doesn’t have a matching employee.</a:t>
            </a:r>
          </a:p>
        </p:txBody>
      </p:sp>
      <p:sp>
        <p:nvSpPr>
          <p:cNvPr id="2" name="Rectangle: Rounded Corners 1">
            <a:extLst>
              <a:ext uri="{FF2B5EF4-FFF2-40B4-BE49-F238E27FC236}">
                <a16:creationId xmlns:a16="http://schemas.microsoft.com/office/drawing/2014/main" id="{FE9F6C90-4FB1-8779-0678-5E85A7A72BC8}"/>
              </a:ext>
            </a:extLst>
          </p:cNvPr>
          <p:cNvSpPr/>
          <p:nvPr/>
        </p:nvSpPr>
        <p:spPr>
          <a:xfrm>
            <a:off x="1143000" y="3502740"/>
            <a:ext cx="3657600" cy="81915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1950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AA076-6D24-F885-1946-C2EDAF8065F4}"/>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3DB591F9-F323-1541-5443-FFB083D2EEF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7E00222D-A2EA-55DC-DD40-66A8687D5630}"/>
              </a:ext>
            </a:extLst>
          </p:cNvPr>
          <p:cNvPicPr>
            <a:picLocks noChangeAspect="1"/>
          </p:cNvPicPr>
          <p:nvPr/>
        </p:nvPicPr>
        <p:blipFill>
          <a:blip r:embed="rId2"/>
          <a:srcRect b="17407"/>
          <a:stretch>
            <a:fillRect/>
          </a:stretch>
        </p:blipFill>
        <p:spPr>
          <a:xfrm>
            <a:off x="23751" y="0"/>
            <a:ext cx="9144000" cy="4248150"/>
          </a:xfrm>
          <a:prstGeom prst="rect">
            <a:avLst/>
          </a:prstGeom>
        </p:spPr>
      </p:pic>
      <p:sp>
        <p:nvSpPr>
          <p:cNvPr id="9" name="Rectangle 1">
            <a:extLst>
              <a:ext uri="{FF2B5EF4-FFF2-40B4-BE49-F238E27FC236}">
                <a16:creationId xmlns:a16="http://schemas.microsoft.com/office/drawing/2014/main" id="{C2359530-B008-22A2-6111-C6C110AC82AE}"/>
              </a:ext>
            </a:extLst>
          </p:cNvPr>
          <p:cNvSpPr>
            <a:spLocks noChangeArrowheads="1"/>
          </p:cNvSpPr>
          <p:nvPr/>
        </p:nvSpPr>
        <p:spPr bwMode="auto">
          <a:xfrm>
            <a:off x="23751" y="4456986"/>
            <a:ext cx="9144000" cy="196451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mj-lt"/>
              </a:rPr>
              <a:t>So only the matching pairs stay!</a:t>
            </a:r>
            <a:br>
              <a:rPr lang="en-US" sz="2800" dirty="0">
                <a:latin typeface="+mj-lt"/>
              </a:rPr>
            </a:br>
            <a:r>
              <a:rPr lang="en-US" sz="2800" dirty="0">
                <a:latin typeface="+mj-lt"/>
              </a:rPr>
              <a:t>It’s just like joining puzzle pieces that actually fit together — any unmatched ones are left aside.</a:t>
            </a:r>
          </a:p>
        </p:txBody>
      </p:sp>
      <p:sp>
        <p:nvSpPr>
          <p:cNvPr id="2" name="Rectangle: Rounded Corners 1">
            <a:extLst>
              <a:ext uri="{FF2B5EF4-FFF2-40B4-BE49-F238E27FC236}">
                <a16:creationId xmlns:a16="http://schemas.microsoft.com/office/drawing/2014/main" id="{798B57A1-05CA-9E57-7F15-929FC02327E0}"/>
              </a:ext>
            </a:extLst>
          </p:cNvPr>
          <p:cNvSpPr/>
          <p:nvPr/>
        </p:nvSpPr>
        <p:spPr>
          <a:xfrm>
            <a:off x="1143000" y="3502740"/>
            <a:ext cx="3657600" cy="81915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5883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4770-033D-95F7-B5B9-4B0C369ECC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CF5452-B4AF-019F-C1AA-63E64A9965B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752BFF64-97AE-BD3B-5D0D-AD75BE24A64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A72E65B5-A365-244E-72BA-06A6E97429E9}"/>
              </a:ext>
            </a:extLst>
          </p:cNvPr>
          <p:cNvSpPr txBox="1"/>
          <p:nvPr/>
        </p:nvSpPr>
        <p:spPr>
          <a:xfrm>
            <a:off x="4127" y="534132"/>
            <a:ext cx="4263073" cy="1318181"/>
          </a:xfrm>
          <a:prstGeom prst="rect">
            <a:avLst/>
          </a:prstGeom>
          <a:noFill/>
        </p:spPr>
        <p:txBody>
          <a:bodyPr wrap="square">
            <a:spAutoFit/>
          </a:bodyPr>
          <a:lstStyle/>
          <a:p>
            <a:pPr>
              <a:lnSpc>
                <a:spcPct val="150000"/>
              </a:lnSpc>
            </a:pPr>
            <a:r>
              <a:rPr lang="en-US" sz="2800" dirty="0">
                <a:latin typeface="+mj-lt"/>
              </a:rPr>
              <a:t>Merge Students and Grades (Inner Join)</a:t>
            </a:r>
          </a:p>
        </p:txBody>
      </p:sp>
      <p:pic>
        <p:nvPicPr>
          <p:cNvPr id="7" name="Timer">
            <a:hlinkClick r:id="" action="ppaction://media"/>
            <a:extLst>
              <a:ext uri="{FF2B5EF4-FFF2-40B4-BE49-F238E27FC236}">
                <a16:creationId xmlns:a16="http://schemas.microsoft.com/office/drawing/2014/main" id="{5E054936-A435-75F9-4F76-D764DD1A2E8A}"/>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5209886" y="534132"/>
            <a:ext cx="1683834" cy="758283"/>
          </a:xfrm>
          <a:prstGeom prst="rect">
            <a:avLst/>
          </a:prstGeom>
          <a:ln w="38100">
            <a:solidFill>
              <a:srgbClr val="FF0000"/>
            </a:solidFill>
          </a:ln>
        </p:spPr>
      </p:pic>
      <p:sp>
        <p:nvSpPr>
          <p:cNvPr id="6" name="Rectangle 1">
            <a:extLst>
              <a:ext uri="{FF2B5EF4-FFF2-40B4-BE49-F238E27FC236}">
                <a16:creationId xmlns:a16="http://schemas.microsoft.com/office/drawing/2014/main" id="{3673262D-FA98-DF61-016B-5820473E4FD1}"/>
              </a:ext>
            </a:extLst>
          </p:cNvPr>
          <p:cNvSpPr>
            <a:spLocks noChangeArrowheads="1"/>
          </p:cNvSpPr>
          <p:nvPr/>
        </p:nvSpPr>
        <p:spPr bwMode="auto">
          <a:xfrm>
            <a:off x="4127" y="1825274"/>
            <a:ext cx="9139873" cy="5118196"/>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i="0" u="none" strike="noStrike" cap="none" normalizeH="0" baseline="0" dirty="0">
                <a:ln>
                  <a:noFill/>
                </a:ln>
                <a:solidFill>
                  <a:schemeClr val="tx1"/>
                </a:solidFill>
                <a:effectLst/>
                <a:latin typeface="+mj-lt"/>
              </a:rPr>
              <a:t>Create two small tables (</a:t>
            </a:r>
            <a:r>
              <a:rPr kumimoji="0" lang="en-US" altLang="en-US" sz="2200" i="0" u="none" strike="noStrike" cap="none" normalizeH="0" baseline="0" dirty="0" err="1">
                <a:ln>
                  <a:noFill/>
                </a:ln>
                <a:solidFill>
                  <a:schemeClr val="tx1"/>
                </a:solidFill>
                <a:effectLst/>
                <a:latin typeface="+mj-lt"/>
              </a:rPr>
              <a:t>DataFrames</a:t>
            </a:r>
            <a:r>
              <a:rPr kumimoji="0" lang="en-US" altLang="en-US" sz="2200" i="0" u="none" strike="noStrike" cap="none" normalizeH="0" baseline="0" dirty="0">
                <a:ln>
                  <a:noFill/>
                </a:ln>
                <a:solidFill>
                  <a:schemeClr val="tx1"/>
                </a:solidFill>
                <a:effectLst/>
                <a:latin typeface="+mj-lt"/>
              </a:rPr>
              <a:t>):</a:t>
            </a:r>
          </a:p>
          <a:p>
            <a:pPr marL="722313" lvl="1" indent="-342900" algn="l" rtl="0" eaLnBrk="0" fontAlgn="base" hangingPunct="0">
              <a:lnSpc>
                <a:spcPct val="15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mj-lt"/>
              </a:rPr>
              <a:t>One called students with columns id and name.</a:t>
            </a:r>
          </a:p>
          <a:p>
            <a:pPr marL="722313" lvl="1" indent="-342900" algn="l" rtl="0" eaLnBrk="0" fontAlgn="base" hangingPunct="0">
              <a:lnSpc>
                <a:spcPct val="150000"/>
              </a:lnSpc>
              <a:spcBef>
                <a:spcPct val="0"/>
              </a:spcBef>
              <a:spcAft>
                <a:spcPct val="0"/>
              </a:spcAft>
              <a:buFont typeface="Arial" panose="020B0604020202020204" pitchFamily="34" charset="0"/>
              <a:buChar char="•"/>
            </a:pPr>
            <a:r>
              <a:rPr kumimoji="0" lang="en-US" altLang="en-US" sz="2200" i="0" u="none" strike="noStrike" cap="none" normalizeH="0" baseline="0" dirty="0">
                <a:ln>
                  <a:noFill/>
                </a:ln>
                <a:solidFill>
                  <a:schemeClr val="tx1"/>
                </a:solidFill>
                <a:effectLst/>
                <a:latin typeface="+mj-lt"/>
              </a:rPr>
              <a:t>One called grades with columns id and grade.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200" i="0" u="none" strike="noStrike" cap="none" normalizeH="0" baseline="0" dirty="0">
                <a:ln>
                  <a:noFill/>
                </a:ln>
                <a:solidFill>
                  <a:schemeClr val="tx1"/>
                </a:solidFill>
                <a:effectLst/>
                <a:latin typeface="+mj-lt"/>
              </a:rPr>
              <a:t>Use the </a:t>
            </a:r>
            <a:r>
              <a:rPr kumimoji="0" lang="en-US" altLang="en-US" sz="2200" i="0" u="none" strike="noStrike" cap="none" normalizeH="0" baseline="0" dirty="0" err="1">
                <a:ln>
                  <a:noFill/>
                </a:ln>
                <a:solidFill>
                  <a:schemeClr val="tx1"/>
                </a:solidFill>
                <a:effectLst/>
                <a:latin typeface="+mj-lt"/>
              </a:rPr>
              <a:t>pd.merge</a:t>
            </a:r>
            <a:r>
              <a:rPr kumimoji="0" lang="en-US" altLang="en-US" sz="2200" i="0" u="none" strike="noStrike" cap="none" normalizeH="0" baseline="0" dirty="0">
                <a:ln>
                  <a:noFill/>
                </a:ln>
                <a:solidFill>
                  <a:schemeClr val="tx1"/>
                </a:solidFill>
                <a:effectLst/>
                <a:latin typeface="+mj-lt"/>
              </a:rPr>
              <a:t>() function to combine the two tables based on the id column — this is how we connect students to their grades.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200" i="0" u="none" strike="noStrike" cap="none" normalizeH="0" baseline="0" dirty="0">
                <a:ln>
                  <a:noFill/>
                </a:ln>
                <a:solidFill>
                  <a:schemeClr val="tx1"/>
                </a:solidFill>
                <a:effectLst/>
                <a:latin typeface="+mj-lt"/>
              </a:rPr>
              <a:t>Set how='inner' → this means:</a:t>
            </a:r>
            <a:br>
              <a:rPr kumimoji="0" lang="en-US" altLang="en-US" sz="2200" i="0" u="none" strike="noStrike" cap="none" normalizeH="0" baseline="0" dirty="0">
                <a:ln>
                  <a:noFill/>
                </a:ln>
                <a:solidFill>
                  <a:schemeClr val="tx1"/>
                </a:solidFill>
                <a:effectLst/>
                <a:latin typeface="+mj-lt"/>
              </a:rPr>
            </a:br>
            <a:r>
              <a:rPr kumimoji="0" lang="en-US" altLang="en-US" sz="2200" i="1" u="none" strike="noStrike" cap="none" normalizeH="0" baseline="0" dirty="0">
                <a:ln>
                  <a:noFill/>
                </a:ln>
                <a:solidFill>
                  <a:schemeClr val="tx1"/>
                </a:solidFill>
                <a:effectLst/>
                <a:latin typeface="+mj-lt"/>
              </a:rPr>
              <a:t>Keep only the students whose IDs appear in both tables.</a:t>
            </a:r>
            <a:br>
              <a:rPr kumimoji="0" lang="en-US" altLang="en-US" sz="2200" i="0" u="none" strike="noStrike" cap="none" normalizeH="0" baseline="0" dirty="0">
                <a:ln>
                  <a:noFill/>
                </a:ln>
                <a:solidFill>
                  <a:schemeClr val="tx1"/>
                </a:solidFill>
                <a:effectLst/>
                <a:latin typeface="+mj-lt"/>
              </a:rPr>
            </a:br>
            <a:r>
              <a:rPr kumimoji="0" lang="en-US" altLang="en-US" sz="2200" i="0" u="none" strike="noStrike" cap="none" normalizeH="0" baseline="0" dirty="0">
                <a:ln>
                  <a:noFill/>
                </a:ln>
                <a:solidFill>
                  <a:schemeClr val="tx1"/>
                </a:solidFill>
                <a:effectLst/>
                <a:latin typeface="+mj-lt"/>
              </a:rPr>
              <a:t>(If a student has no grade or a grade has no matching student, they will be left out.)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startAt="4"/>
              <a:tabLst/>
            </a:pPr>
            <a:r>
              <a:rPr kumimoji="0" lang="en-US" altLang="en-US" sz="2200" i="0" u="none" strike="noStrike" cap="none" normalizeH="0" baseline="0" dirty="0">
                <a:ln>
                  <a:noFill/>
                </a:ln>
                <a:solidFill>
                  <a:schemeClr val="tx1"/>
                </a:solidFill>
                <a:effectLst/>
                <a:latin typeface="+mj-lt"/>
              </a:rPr>
              <a:t>Print the merged result to see which students have grades.</a:t>
            </a:r>
          </a:p>
        </p:txBody>
      </p:sp>
    </p:spTree>
    <p:extLst>
      <p:ext uri="{BB962C8B-B14F-4D97-AF65-F5344CB8AC3E}">
        <p14:creationId xmlns:p14="http://schemas.microsoft.com/office/powerpoint/2010/main" val="287336357"/>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4770-033D-95F7-B5B9-4B0C369ECC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CF5452-B4AF-019F-C1AA-63E64A9965B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752BFF64-97AE-BD3B-5D0D-AD75BE24A64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75F2DEA7-4D66-9E56-B882-87EAF2C16F86}"/>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EBE31C05-E94E-1C7C-FDB8-A565E753F3A1}"/>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13" name="Rectangle 1">
            <a:extLst>
              <a:ext uri="{FF2B5EF4-FFF2-40B4-BE49-F238E27FC236}">
                <a16:creationId xmlns:a16="http://schemas.microsoft.com/office/drawing/2014/main" id="{2FB25AC2-6F50-5365-EBD5-63D37987E580}"/>
              </a:ext>
            </a:extLst>
          </p:cNvPr>
          <p:cNvSpPr>
            <a:spLocks noChangeArrowheads="1"/>
          </p:cNvSpPr>
          <p:nvPr/>
        </p:nvSpPr>
        <p:spPr bwMode="auto">
          <a:xfrm>
            <a:off x="5695335" y="1691331"/>
            <a:ext cx="3448665" cy="5196166"/>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We connect students and grades where their id matches.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Students without grades or grades without students are ignored.</a:t>
            </a:r>
          </a:p>
        </p:txBody>
      </p:sp>
    </p:spTree>
    <p:extLst>
      <p:ext uri="{BB962C8B-B14F-4D97-AF65-F5344CB8AC3E}">
        <p14:creationId xmlns:p14="http://schemas.microsoft.com/office/powerpoint/2010/main" val="1035092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B585-9DE0-4E26-1231-8DE618EB804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C554762-3920-B07F-26DF-AC76BD22C46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17F42E44-17E2-D900-14C2-F0AC02AD5BE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21B35287-B165-0F3B-04A6-E39DC0FAB115}"/>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4DF586B1-8D33-9CD7-C3CE-16B1CA8BC6EA}"/>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4" name="TextBox 3">
            <a:extLst>
              <a:ext uri="{FF2B5EF4-FFF2-40B4-BE49-F238E27FC236}">
                <a16:creationId xmlns:a16="http://schemas.microsoft.com/office/drawing/2014/main" id="{0A2F8209-7B8B-E35F-19FD-7D8A2976F88F}"/>
              </a:ext>
            </a:extLst>
          </p:cNvPr>
          <p:cNvSpPr txBox="1"/>
          <p:nvPr/>
        </p:nvSpPr>
        <p:spPr>
          <a:xfrm>
            <a:off x="5486400" y="2133600"/>
            <a:ext cx="3677265" cy="3254417"/>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Step 1: Create the first table — students</a:t>
            </a:r>
          </a:p>
          <a:p>
            <a:pPr>
              <a:lnSpc>
                <a:spcPct val="150000"/>
              </a:lnSpc>
            </a:pPr>
            <a:r>
              <a:rPr lang="en-US" sz="2800" dirty="0">
                <a:latin typeface="+mj-lt"/>
              </a:rPr>
              <a:t>This creates a table (called a </a:t>
            </a:r>
            <a:r>
              <a:rPr lang="en-US" sz="2800" dirty="0" err="1">
                <a:latin typeface="+mj-lt"/>
              </a:rPr>
              <a:t>DataFrame</a:t>
            </a:r>
            <a:r>
              <a:rPr lang="en-US" sz="2800" dirty="0">
                <a:latin typeface="+mj-lt"/>
              </a:rPr>
              <a:t>) with:</a:t>
            </a:r>
          </a:p>
        </p:txBody>
      </p:sp>
      <p:sp>
        <p:nvSpPr>
          <p:cNvPr id="6" name="Rectangle: Rounded Corners 5">
            <a:extLst>
              <a:ext uri="{FF2B5EF4-FFF2-40B4-BE49-F238E27FC236}">
                <a16:creationId xmlns:a16="http://schemas.microsoft.com/office/drawing/2014/main" id="{6B36DBD4-9A17-6977-334D-CFF4AF7CAC76}"/>
              </a:ext>
            </a:extLst>
          </p:cNvPr>
          <p:cNvSpPr/>
          <p:nvPr/>
        </p:nvSpPr>
        <p:spPr>
          <a:xfrm>
            <a:off x="1143000" y="2895600"/>
            <a:ext cx="4191000" cy="8382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5433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A506-B124-5C9D-78BF-A25848C78B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C3E6D0-DDAB-528D-F399-71F872560AA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E096FADA-4984-2BF9-B1CF-4294D44C922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0710340A-6855-A991-04B8-51329839F4CE}"/>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33FEF604-B234-3F3B-AD30-16C5027FA921}"/>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4" name="TextBox 3">
            <a:extLst>
              <a:ext uri="{FF2B5EF4-FFF2-40B4-BE49-F238E27FC236}">
                <a16:creationId xmlns:a16="http://schemas.microsoft.com/office/drawing/2014/main" id="{71A1C7B1-729C-9AAE-C8FA-697B274E9FE6}"/>
              </a:ext>
            </a:extLst>
          </p:cNvPr>
          <p:cNvSpPr txBox="1"/>
          <p:nvPr/>
        </p:nvSpPr>
        <p:spPr>
          <a:xfrm>
            <a:off x="5486400" y="2133600"/>
            <a:ext cx="3677265" cy="2610843"/>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Step 2: Create the second table — grades</a:t>
            </a:r>
          </a:p>
          <a:p>
            <a:pPr>
              <a:lnSpc>
                <a:spcPct val="150000"/>
              </a:lnSpc>
            </a:pPr>
            <a:r>
              <a:rPr lang="en-US" sz="2800" dirty="0">
                <a:latin typeface="+mj-lt"/>
              </a:rPr>
              <a:t>This creates another </a:t>
            </a:r>
            <a:r>
              <a:rPr lang="en-US" sz="2800" dirty="0" err="1">
                <a:latin typeface="+mj-lt"/>
              </a:rPr>
              <a:t>DataFrame</a:t>
            </a:r>
            <a:endParaRPr lang="en-US" sz="2800" dirty="0">
              <a:latin typeface="+mj-lt"/>
            </a:endParaRPr>
          </a:p>
        </p:txBody>
      </p:sp>
      <p:sp>
        <p:nvSpPr>
          <p:cNvPr id="6" name="Rectangle: Rounded Corners 5">
            <a:extLst>
              <a:ext uri="{FF2B5EF4-FFF2-40B4-BE49-F238E27FC236}">
                <a16:creationId xmlns:a16="http://schemas.microsoft.com/office/drawing/2014/main" id="{20544296-AC57-68C5-2F27-D6AEC1337985}"/>
              </a:ext>
            </a:extLst>
          </p:cNvPr>
          <p:cNvSpPr/>
          <p:nvPr/>
        </p:nvSpPr>
        <p:spPr>
          <a:xfrm>
            <a:off x="1143000" y="3733800"/>
            <a:ext cx="4191000" cy="9144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67FDC7E-AEF8-F0EE-57ED-5550C60AC302}"/>
              </a:ext>
            </a:extLst>
          </p:cNvPr>
          <p:cNvSpPr txBox="1"/>
          <p:nvPr/>
        </p:nvSpPr>
        <p:spPr>
          <a:xfrm>
            <a:off x="-24581" y="5294623"/>
            <a:ext cx="9144000" cy="1563377"/>
          </a:xfrm>
          <a:prstGeom prst="rect">
            <a:avLst/>
          </a:prstGeom>
          <a:solidFill>
            <a:schemeClr val="bg1"/>
          </a:solidFill>
          <a:ln>
            <a:solidFill>
              <a:srgbClr val="FF0000"/>
            </a:solidFill>
          </a:ln>
        </p:spPr>
        <p:txBody>
          <a:bodyPr wrap="square">
            <a:spAutoFit/>
          </a:bodyPr>
          <a:lstStyle/>
          <a:p>
            <a:pPr>
              <a:lnSpc>
                <a:spcPct val="150000"/>
              </a:lnSpc>
              <a:buNone/>
            </a:pPr>
            <a:r>
              <a:rPr lang="en-US" sz="2200" dirty="0">
                <a:latin typeface="+mj-lt"/>
              </a:rPr>
              <a:t>It lists grades for some students, but notice:</a:t>
            </a:r>
          </a:p>
          <a:p>
            <a:pPr marL="457200" indent="-457200">
              <a:lnSpc>
                <a:spcPct val="150000"/>
              </a:lnSpc>
              <a:buFont typeface="Arial" panose="020B0604020202020204" pitchFamily="34" charset="0"/>
              <a:buChar char="•"/>
            </a:pPr>
            <a:r>
              <a:rPr lang="en-US" sz="2200" dirty="0">
                <a:latin typeface="+mj-lt"/>
              </a:rPr>
              <a:t>Only id 2 and 3 exist in both tables.</a:t>
            </a:r>
          </a:p>
          <a:p>
            <a:pPr marL="457200" indent="-457200">
              <a:lnSpc>
                <a:spcPct val="150000"/>
              </a:lnSpc>
              <a:buFont typeface="Arial" panose="020B0604020202020204" pitchFamily="34" charset="0"/>
              <a:buChar char="•"/>
            </a:pPr>
            <a:r>
              <a:rPr lang="en-US" sz="2200" dirty="0">
                <a:latin typeface="+mj-lt"/>
              </a:rPr>
              <a:t>id 5 appears only in grades, not in students.</a:t>
            </a:r>
          </a:p>
        </p:txBody>
      </p:sp>
    </p:spTree>
    <p:extLst>
      <p:ext uri="{BB962C8B-B14F-4D97-AF65-F5344CB8AC3E}">
        <p14:creationId xmlns:p14="http://schemas.microsoft.com/office/powerpoint/2010/main" val="3224452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A713-84D0-CA1A-9D25-19E50E604B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0B0737-2A7A-23F7-6711-6503A823DA14}"/>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52A28D4E-02BF-D82B-4119-88D9DD534EAF}"/>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72300222-45D8-9C30-31D5-6347F3D832AD}"/>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CEF4B9BB-B73F-47C5-DC9D-72F8EAE098B4}"/>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4" name="TextBox 3">
            <a:extLst>
              <a:ext uri="{FF2B5EF4-FFF2-40B4-BE49-F238E27FC236}">
                <a16:creationId xmlns:a16="http://schemas.microsoft.com/office/drawing/2014/main" id="{7E5D741D-569F-0E8A-580F-D2495C16D25F}"/>
              </a:ext>
            </a:extLst>
          </p:cNvPr>
          <p:cNvSpPr txBox="1"/>
          <p:nvPr/>
        </p:nvSpPr>
        <p:spPr>
          <a:xfrm>
            <a:off x="3723966" y="-44396"/>
            <a:ext cx="3677265" cy="131542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Step 3: Merge the two tables (Inner Join)</a:t>
            </a:r>
          </a:p>
        </p:txBody>
      </p:sp>
      <p:sp>
        <p:nvSpPr>
          <p:cNvPr id="6" name="Rectangle: Rounded Corners 5">
            <a:extLst>
              <a:ext uri="{FF2B5EF4-FFF2-40B4-BE49-F238E27FC236}">
                <a16:creationId xmlns:a16="http://schemas.microsoft.com/office/drawing/2014/main" id="{A92126E4-3DC4-27FC-19BA-17BB31EFADB4}"/>
              </a:ext>
            </a:extLst>
          </p:cNvPr>
          <p:cNvSpPr/>
          <p:nvPr/>
        </p:nvSpPr>
        <p:spPr>
          <a:xfrm>
            <a:off x="1066800" y="4708449"/>
            <a:ext cx="4417142" cy="42644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9442D7-0AA4-41A4-F489-372B24228261}"/>
              </a:ext>
            </a:extLst>
          </p:cNvPr>
          <p:cNvSpPr txBox="1"/>
          <p:nvPr/>
        </p:nvSpPr>
        <p:spPr>
          <a:xfrm>
            <a:off x="5483942" y="2247635"/>
            <a:ext cx="3660058" cy="4610365"/>
          </a:xfrm>
          <a:prstGeom prst="rect">
            <a:avLst/>
          </a:prstGeom>
          <a:solidFill>
            <a:schemeClr val="bg1"/>
          </a:solidFill>
          <a:ln>
            <a:solidFill>
              <a:srgbClr val="FF0000"/>
            </a:solidFill>
          </a:ln>
        </p:spPr>
        <p:txBody>
          <a:bodyPr wrap="square">
            <a:spAutoFit/>
          </a:bodyPr>
          <a:lstStyle/>
          <a:p>
            <a:pPr>
              <a:lnSpc>
                <a:spcPct val="150000"/>
              </a:lnSpc>
            </a:pPr>
            <a:r>
              <a:rPr lang="en-US" sz="2200" b="1" dirty="0">
                <a:latin typeface="+mj-lt"/>
              </a:rPr>
              <a:t>What this does:</a:t>
            </a:r>
          </a:p>
          <a:p>
            <a:pPr marL="633413" lvl="1" indent="-342900">
              <a:lnSpc>
                <a:spcPct val="150000"/>
              </a:lnSpc>
              <a:buFont typeface="Arial" panose="020B0604020202020204" pitchFamily="34" charset="0"/>
              <a:buChar char="•"/>
              <a:tabLst>
                <a:tab pos="633413" algn="l"/>
              </a:tabLst>
            </a:pPr>
            <a:r>
              <a:rPr lang="en-US" sz="2200" dirty="0" err="1">
                <a:latin typeface="+mj-lt"/>
              </a:rPr>
              <a:t>pd.merge</a:t>
            </a:r>
            <a:r>
              <a:rPr lang="en-US" sz="2200" dirty="0">
                <a:latin typeface="+mj-lt"/>
              </a:rPr>
              <a:t>() combines the two tables together.</a:t>
            </a:r>
          </a:p>
          <a:p>
            <a:pPr marL="633413" lvl="1" indent="-342900">
              <a:lnSpc>
                <a:spcPct val="150000"/>
              </a:lnSpc>
              <a:buFont typeface="Arial" panose="020B0604020202020204" pitchFamily="34" charset="0"/>
              <a:buChar char="•"/>
              <a:tabLst>
                <a:tab pos="633413" algn="l"/>
              </a:tabLst>
            </a:pPr>
            <a:r>
              <a:rPr lang="en-US" sz="2200" dirty="0">
                <a:latin typeface="+mj-lt"/>
              </a:rPr>
              <a:t>on='id' means they should be matched by the id column.</a:t>
            </a:r>
          </a:p>
          <a:p>
            <a:pPr marL="633413" lvl="1" indent="-342900">
              <a:lnSpc>
                <a:spcPct val="150000"/>
              </a:lnSpc>
              <a:buFont typeface="Arial" panose="020B0604020202020204" pitchFamily="34" charset="0"/>
              <a:buChar char="•"/>
              <a:tabLst>
                <a:tab pos="633413" algn="l"/>
              </a:tabLst>
            </a:pPr>
            <a:r>
              <a:rPr lang="en-US" sz="2200" dirty="0">
                <a:latin typeface="+mj-lt"/>
              </a:rPr>
              <a:t>how='inner' means only keep rows where the id exists in both tables.</a:t>
            </a:r>
          </a:p>
        </p:txBody>
      </p:sp>
    </p:spTree>
    <p:extLst>
      <p:ext uri="{BB962C8B-B14F-4D97-AF65-F5344CB8AC3E}">
        <p14:creationId xmlns:p14="http://schemas.microsoft.com/office/powerpoint/2010/main" val="17084173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EF610-A679-EE21-9163-4E200453EA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8D5B192-EBAC-84E9-2B66-C28A6A1FCD36}"/>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01D4ECC8-7152-517B-521F-E1103B0D871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7984B548-8A78-A111-9EA8-4E0940DC9F64}"/>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D1A7F04F-B789-94D8-C125-456B826E9C30}"/>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6" name="Rectangle: Rounded Corners 5">
            <a:extLst>
              <a:ext uri="{FF2B5EF4-FFF2-40B4-BE49-F238E27FC236}">
                <a16:creationId xmlns:a16="http://schemas.microsoft.com/office/drawing/2014/main" id="{0C8E365B-8A18-FC03-5F11-CBBFB6501778}"/>
              </a:ext>
            </a:extLst>
          </p:cNvPr>
          <p:cNvSpPr/>
          <p:nvPr/>
        </p:nvSpPr>
        <p:spPr>
          <a:xfrm>
            <a:off x="1086462" y="5082063"/>
            <a:ext cx="4417142" cy="21322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ABD98D1-8288-EE2E-F803-B22C2D8B4365}"/>
              </a:ext>
            </a:extLst>
          </p:cNvPr>
          <p:cNvSpPr txBox="1"/>
          <p:nvPr/>
        </p:nvSpPr>
        <p:spPr>
          <a:xfrm>
            <a:off x="5525730" y="3093074"/>
            <a:ext cx="3660058" cy="67185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Display the result</a:t>
            </a:r>
          </a:p>
        </p:txBody>
      </p:sp>
    </p:spTree>
    <p:extLst>
      <p:ext uri="{BB962C8B-B14F-4D97-AF65-F5344CB8AC3E}">
        <p14:creationId xmlns:p14="http://schemas.microsoft.com/office/powerpoint/2010/main" val="3576286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F87E-9B95-C555-2352-F6935EC4C2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19D8BD9-BF2F-BB0B-E2CB-89EC13EF16C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2E849374-C9A3-E587-0C27-C8E2DACE3D0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8" name="Picture 7">
            <a:extLst>
              <a:ext uri="{FF2B5EF4-FFF2-40B4-BE49-F238E27FC236}">
                <a16:creationId xmlns:a16="http://schemas.microsoft.com/office/drawing/2014/main" id="{16DC7B27-B11B-E481-4F7C-CC18E8F0474D}"/>
              </a:ext>
            </a:extLst>
          </p:cNvPr>
          <p:cNvPicPr>
            <a:picLocks noChangeAspect="1"/>
          </p:cNvPicPr>
          <p:nvPr/>
        </p:nvPicPr>
        <p:blipFill>
          <a:blip r:embed="rId2"/>
          <a:srcRect b="15734"/>
          <a:stretch>
            <a:fillRect/>
          </a:stretch>
        </p:blipFill>
        <p:spPr>
          <a:xfrm>
            <a:off x="24581" y="990600"/>
            <a:ext cx="9144000" cy="4334182"/>
          </a:xfrm>
          <a:prstGeom prst="rect">
            <a:avLst/>
          </a:prstGeom>
        </p:spPr>
      </p:pic>
      <p:pic>
        <p:nvPicPr>
          <p:cNvPr id="12" name="Picture 11">
            <a:extLst>
              <a:ext uri="{FF2B5EF4-FFF2-40B4-BE49-F238E27FC236}">
                <a16:creationId xmlns:a16="http://schemas.microsoft.com/office/drawing/2014/main" id="{E1873DA3-AF0D-A59E-8F50-9CCF0A5200EE}"/>
              </a:ext>
            </a:extLst>
          </p:cNvPr>
          <p:cNvPicPr>
            <a:picLocks noChangeAspect="1"/>
          </p:cNvPicPr>
          <p:nvPr/>
        </p:nvPicPr>
        <p:blipFill>
          <a:blip r:embed="rId3"/>
          <a:srcRect l="-2500" t="51626" r="1" b="33704"/>
          <a:stretch>
            <a:fillRect/>
          </a:stretch>
        </p:blipFill>
        <p:spPr>
          <a:xfrm>
            <a:off x="-208935" y="5490117"/>
            <a:ext cx="9372600" cy="754566"/>
          </a:xfrm>
          <a:prstGeom prst="rect">
            <a:avLst/>
          </a:prstGeom>
        </p:spPr>
      </p:pic>
      <p:sp>
        <p:nvSpPr>
          <p:cNvPr id="6" name="Rectangle: Rounded Corners 5">
            <a:extLst>
              <a:ext uri="{FF2B5EF4-FFF2-40B4-BE49-F238E27FC236}">
                <a16:creationId xmlns:a16="http://schemas.microsoft.com/office/drawing/2014/main" id="{774A4349-F041-FEDF-0304-BB62E6208A61}"/>
              </a:ext>
            </a:extLst>
          </p:cNvPr>
          <p:cNvSpPr/>
          <p:nvPr/>
        </p:nvSpPr>
        <p:spPr>
          <a:xfrm>
            <a:off x="973393" y="5500585"/>
            <a:ext cx="2765324" cy="71460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BAAC439-047F-3228-1D07-B1882531350D}"/>
              </a:ext>
            </a:extLst>
          </p:cNvPr>
          <p:cNvSpPr txBox="1"/>
          <p:nvPr/>
        </p:nvSpPr>
        <p:spPr>
          <a:xfrm>
            <a:off x="5405284" y="238433"/>
            <a:ext cx="3753465" cy="6641690"/>
          </a:xfrm>
          <a:prstGeom prst="rect">
            <a:avLst/>
          </a:prstGeom>
          <a:solidFill>
            <a:schemeClr val="bg1"/>
          </a:solidFill>
          <a:ln>
            <a:solidFill>
              <a:srgbClr val="FF0000"/>
            </a:solidFill>
          </a:ln>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Only matching IDs (2 and 3) are included.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Students Noah and Olivia appear in both lists, so they are shown with their grades.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Farshid and Liam (IDs 1 and 4) are missing because they don’t have grades listed.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ID 5 (grade C) is also missing because that student doesn’t exist in the students list.</a:t>
            </a:r>
          </a:p>
        </p:txBody>
      </p:sp>
    </p:spTree>
    <p:extLst>
      <p:ext uri="{BB962C8B-B14F-4D97-AF65-F5344CB8AC3E}">
        <p14:creationId xmlns:p14="http://schemas.microsoft.com/office/powerpoint/2010/main" val="3631052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C46C-7358-DEEE-67CD-2722DA3C09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6D0F0A-F0F4-3237-FBB4-86D07FA1D8D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5</a:t>
            </a:r>
            <a:endParaRPr spc="-20" dirty="0">
              <a:latin typeface="+mj-lt"/>
            </a:endParaRPr>
          </a:p>
        </p:txBody>
      </p:sp>
      <p:sp>
        <p:nvSpPr>
          <p:cNvPr id="5" name="object 5">
            <a:extLst>
              <a:ext uri="{FF2B5EF4-FFF2-40B4-BE49-F238E27FC236}">
                <a16:creationId xmlns:a16="http://schemas.microsoft.com/office/drawing/2014/main" id="{33773494-65D9-695A-BBFE-5600FEF3A91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4713E404-33DE-5BF1-CCBD-CEB6A9942369}"/>
              </a:ext>
            </a:extLst>
          </p:cNvPr>
          <p:cNvGraphicFramePr>
            <a:graphicFrameLocks noGrp="1"/>
          </p:cNvGraphicFramePr>
          <p:nvPr>
            <p:extLst>
              <p:ext uri="{D42A27DB-BD31-4B8C-83A1-F6EECF244321}">
                <p14:modId xmlns:p14="http://schemas.microsoft.com/office/powerpoint/2010/main" val="881188176"/>
              </p:ext>
            </p:extLst>
          </p:nvPr>
        </p:nvGraphicFramePr>
        <p:xfrm>
          <a:off x="407659" y="1917780"/>
          <a:ext cx="8328682" cy="2991082"/>
        </p:xfrm>
        <a:graphic>
          <a:graphicData uri="http://schemas.openxmlformats.org/drawingml/2006/table">
            <a:tbl>
              <a:tblPr>
                <a:tableStyleId>{ED083AE6-46FA-4A59-8FB0-9F97EB10719F}</a:tableStyleId>
              </a:tblPr>
              <a:tblGrid>
                <a:gridCol w="2842282">
                  <a:extLst>
                    <a:ext uri="{9D8B030D-6E8A-4147-A177-3AD203B41FA5}">
                      <a16:colId xmlns:a16="http://schemas.microsoft.com/office/drawing/2014/main" val="1479523760"/>
                    </a:ext>
                  </a:extLst>
                </a:gridCol>
                <a:gridCol w="5486400">
                  <a:extLst>
                    <a:ext uri="{9D8B030D-6E8A-4147-A177-3AD203B41FA5}">
                      <a16:colId xmlns:a16="http://schemas.microsoft.com/office/drawing/2014/main" val="2899344383"/>
                    </a:ext>
                  </a:extLst>
                </a:gridCol>
              </a:tblGrid>
              <a:tr h="583162">
                <a:tc>
                  <a:txBody>
                    <a:bodyPr/>
                    <a:lstStyle/>
                    <a:p>
                      <a:pPr>
                        <a:buNone/>
                      </a:pPr>
                      <a:r>
                        <a:rPr lang="en-US" sz="2800" b="1" dirty="0"/>
                        <a:t>Concept</a:t>
                      </a:r>
                      <a:endParaRPr lang="en-US" sz="2800" b="1" dirty="0">
                        <a:latin typeface="+mj-lt"/>
                      </a:endParaRPr>
                    </a:p>
                  </a:txBody>
                  <a:tcPr anchor="ctr">
                    <a:solidFill>
                      <a:schemeClr val="accent4">
                        <a:lumMod val="20000"/>
                        <a:lumOff val="80000"/>
                      </a:schemeClr>
                    </a:solidFill>
                  </a:tcPr>
                </a:tc>
                <a:tc>
                  <a:txBody>
                    <a:bodyPr/>
                    <a:lstStyle/>
                    <a:p>
                      <a:pPr>
                        <a:buNone/>
                      </a:pPr>
                      <a:r>
                        <a:rPr lang="en-US" sz="2800" b="1" dirty="0"/>
                        <a:t>Meaning</a:t>
                      </a:r>
                      <a:endParaRPr lang="en-US" sz="2800" b="1" dirty="0">
                        <a:latin typeface="+mj-lt"/>
                      </a:endParaRPr>
                    </a:p>
                  </a:txBody>
                  <a:tcPr anchor="ctr">
                    <a:solidFill>
                      <a:schemeClr val="accent4">
                        <a:lumMod val="20000"/>
                        <a:lumOff val="80000"/>
                      </a:schemeClr>
                    </a:solidFill>
                  </a:tcPr>
                </a:tc>
                <a:extLst>
                  <a:ext uri="{0D108BD9-81ED-4DB2-BD59-A6C34878D82A}">
                    <a16:rowId xmlns:a16="http://schemas.microsoft.com/office/drawing/2014/main" val="4269514922"/>
                  </a:ext>
                </a:extLst>
              </a:tr>
              <a:tr h="638498">
                <a:tc>
                  <a:txBody>
                    <a:bodyPr/>
                    <a:lstStyle/>
                    <a:p>
                      <a:pPr>
                        <a:buNone/>
                      </a:pPr>
                      <a:r>
                        <a:rPr lang="en-US" sz="2800" b="0" dirty="0"/>
                        <a:t>Inner Join</a:t>
                      </a:r>
                      <a:endParaRPr lang="en-US" sz="2800" b="0" dirty="0">
                        <a:latin typeface="+mj-lt"/>
                      </a:endParaRPr>
                    </a:p>
                  </a:txBody>
                  <a:tcPr anchor="ctr"/>
                </a:tc>
                <a:tc>
                  <a:txBody>
                    <a:bodyPr/>
                    <a:lstStyle/>
                    <a:p>
                      <a:pPr>
                        <a:buNone/>
                      </a:pPr>
                      <a:r>
                        <a:rPr lang="en-US" sz="2800"/>
                        <a:t>Keeps only the matching rows from both tables</a:t>
                      </a:r>
                      <a:endParaRPr lang="en-US" sz="2800">
                        <a:latin typeface="+mj-lt"/>
                      </a:endParaRPr>
                    </a:p>
                  </a:txBody>
                  <a:tcPr anchor="ctr"/>
                </a:tc>
                <a:extLst>
                  <a:ext uri="{0D108BD9-81ED-4DB2-BD59-A6C34878D82A}">
                    <a16:rowId xmlns:a16="http://schemas.microsoft.com/office/drawing/2014/main" val="2394184684"/>
                  </a:ext>
                </a:extLst>
              </a:tr>
              <a:tr h="150818">
                <a:tc>
                  <a:txBody>
                    <a:bodyPr/>
                    <a:lstStyle/>
                    <a:p>
                      <a:pPr>
                        <a:buNone/>
                      </a:pPr>
                      <a:r>
                        <a:rPr lang="en-US" sz="2800" b="0" dirty="0"/>
                        <a:t>on='id'</a:t>
                      </a:r>
                      <a:endParaRPr lang="en-US" sz="2800" b="0" dirty="0">
                        <a:latin typeface="+mj-lt"/>
                      </a:endParaRPr>
                    </a:p>
                  </a:txBody>
                  <a:tcPr anchor="ctr"/>
                </a:tc>
                <a:tc>
                  <a:txBody>
                    <a:bodyPr/>
                    <a:lstStyle/>
                    <a:p>
                      <a:pPr>
                        <a:buNone/>
                      </a:pPr>
                      <a:r>
                        <a:rPr lang="en-US" sz="2800"/>
                        <a:t>Uses the id column to find matches</a:t>
                      </a:r>
                      <a:endParaRPr lang="en-US" sz="2800">
                        <a:latin typeface="+mj-lt"/>
                      </a:endParaRPr>
                    </a:p>
                  </a:txBody>
                  <a:tcPr anchor="ctr"/>
                </a:tc>
                <a:extLst>
                  <a:ext uri="{0D108BD9-81ED-4DB2-BD59-A6C34878D82A}">
                    <a16:rowId xmlns:a16="http://schemas.microsoft.com/office/drawing/2014/main" val="4081902658"/>
                  </a:ext>
                </a:extLst>
              </a:tr>
              <a:tr h="775658">
                <a:tc>
                  <a:txBody>
                    <a:bodyPr/>
                    <a:lstStyle/>
                    <a:p>
                      <a:pPr>
                        <a:buNone/>
                      </a:pPr>
                      <a:r>
                        <a:rPr lang="en-US" sz="2800" b="0" dirty="0"/>
                        <a:t>Result</a:t>
                      </a:r>
                      <a:endParaRPr lang="en-US" sz="2800" b="0" dirty="0">
                        <a:latin typeface="+mj-lt"/>
                      </a:endParaRPr>
                    </a:p>
                  </a:txBody>
                  <a:tcPr anchor="ctr"/>
                </a:tc>
                <a:tc>
                  <a:txBody>
                    <a:bodyPr/>
                    <a:lstStyle/>
                    <a:p>
                      <a:pPr>
                        <a:buNone/>
                      </a:pPr>
                      <a:r>
                        <a:rPr lang="en-US" sz="2800" dirty="0"/>
                        <a:t>Only shows students who have grades available</a:t>
                      </a:r>
                      <a:endParaRPr lang="en-US" sz="2800" dirty="0">
                        <a:latin typeface="+mj-lt"/>
                      </a:endParaRPr>
                    </a:p>
                  </a:txBody>
                  <a:tcPr anchor="ctr"/>
                </a:tc>
                <a:extLst>
                  <a:ext uri="{0D108BD9-81ED-4DB2-BD59-A6C34878D82A}">
                    <a16:rowId xmlns:a16="http://schemas.microsoft.com/office/drawing/2014/main" val="3135132870"/>
                  </a:ext>
                </a:extLst>
              </a:tr>
            </a:tbl>
          </a:graphicData>
        </a:graphic>
      </p:graphicFrame>
      <p:sp>
        <p:nvSpPr>
          <p:cNvPr id="4" name="Rectangle 1">
            <a:extLst>
              <a:ext uri="{FF2B5EF4-FFF2-40B4-BE49-F238E27FC236}">
                <a16:creationId xmlns:a16="http://schemas.microsoft.com/office/drawing/2014/main" id="{691B541D-1970-D0A4-7926-3A7A2884809B}"/>
              </a:ext>
            </a:extLst>
          </p:cNvPr>
          <p:cNvSpPr>
            <a:spLocks noChangeArrowheads="1"/>
          </p:cNvSpPr>
          <p:nvPr/>
        </p:nvSpPr>
        <p:spPr bwMode="auto">
          <a:xfrm>
            <a:off x="-23751" y="880526"/>
            <a:ext cx="170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Summary:</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370937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4AB2-9AB2-30C7-B96D-D917CD53D1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54363F-D51D-7741-4632-42AA7F66D0B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7C348686-AF29-132A-8113-405766EED0E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1639DE98-94F2-FE77-6532-C1137B069831}"/>
              </a:ext>
            </a:extLst>
          </p:cNvPr>
          <p:cNvSpPr txBox="1"/>
          <p:nvPr/>
        </p:nvSpPr>
        <p:spPr>
          <a:xfrm>
            <a:off x="4127" y="534132"/>
            <a:ext cx="4263073" cy="671851"/>
          </a:xfrm>
          <a:prstGeom prst="rect">
            <a:avLst/>
          </a:prstGeom>
          <a:noFill/>
        </p:spPr>
        <p:txBody>
          <a:bodyPr wrap="square">
            <a:spAutoFit/>
          </a:bodyPr>
          <a:lstStyle/>
          <a:p>
            <a:pPr>
              <a:lnSpc>
                <a:spcPct val="150000"/>
              </a:lnSpc>
            </a:pPr>
            <a:r>
              <a:rPr lang="en-US" sz="2800" dirty="0">
                <a:latin typeface="+mj-lt"/>
              </a:rPr>
              <a:t>Repeat with Left Join</a:t>
            </a:r>
          </a:p>
        </p:txBody>
      </p:sp>
      <p:pic>
        <p:nvPicPr>
          <p:cNvPr id="7" name="Timer">
            <a:hlinkClick r:id="" action="ppaction://media"/>
            <a:extLst>
              <a:ext uri="{FF2B5EF4-FFF2-40B4-BE49-F238E27FC236}">
                <a16:creationId xmlns:a16="http://schemas.microsoft.com/office/drawing/2014/main" id="{DDD371CE-CB17-2D66-2A35-3E3AB46A60A5}"/>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5213280" y="230369"/>
            <a:ext cx="1683834" cy="758283"/>
          </a:xfrm>
          <a:prstGeom prst="rect">
            <a:avLst/>
          </a:prstGeom>
          <a:ln w="38100">
            <a:solidFill>
              <a:srgbClr val="FF0000"/>
            </a:solidFill>
          </a:ln>
        </p:spPr>
      </p:pic>
      <p:sp>
        <p:nvSpPr>
          <p:cNvPr id="6" name="Rectangle 1">
            <a:extLst>
              <a:ext uri="{FF2B5EF4-FFF2-40B4-BE49-F238E27FC236}">
                <a16:creationId xmlns:a16="http://schemas.microsoft.com/office/drawing/2014/main" id="{4A4EBF2A-FE31-4377-3529-2DDA9230BA51}"/>
              </a:ext>
            </a:extLst>
          </p:cNvPr>
          <p:cNvSpPr>
            <a:spLocks noChangeArrowheads="1"/>
          </p:cNvSpPr>
          <p:nvPr/>
        </p:nvSpPr>
        <p:spPr bwMode="auto">
          <a:xfrm>
            <a:off x="14748" y="1163634"/>
            <a:ext cx="9139873" cy="60978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lang="en-US" sz="2500" b="1" dirty="0">
                <a:latin typeface="+mj-lt"/>
              </a:rPr>
              <a:t>Run the code</a:t>
            </a:r>
            <a:r>
              <a:rPr lang="en-US" sz="2500" dirty="0">
                <a:latin typeface="+mj-lt"/>
              </a:rPr>
              <a:t> below in Google </a:t>
            </a:r>
            <a:r>
              <a:rPr lang="en-US" sz="2500" dirty="0" err="1">
                <a:latin typeface="+mj-lt"/>
              </a:rPr>
              <a:t>Colab</a:t>
            </a:r>
            <a:r>
              <a:rPr lang="en-US" sz="2500" dirty="0">
                <a:latin typeface="+mj-lt"/>
              </a:rPr>
              <a:t>:</a:t>
            </a:r>
          </a:p>
        </p:txBody>
      </p:sp>
      <p:pic>
        <p:nvPicPr>
          <p:cNvPr id="8" name="Picture 7">
            <a:extLst>
              <a:ext uri="{FF2B5EF4-FFF2-40B4-BE49-F238E27FC236}">
                <a16:creationId xmlns:a16="http://schemas.microsoft.com/office/drawing/2014/main" id="{A3C8B6D5-C837-CBAF-BCF5-7F08D51EE955}"/>
              </a:ext>
            </a:extLst>
          </p:cNvPr>
          <p:cNvPicPr>
            <a:picLocks noChangeAspect="1"/>
          </p:cNvPicPr>
          <p:nvPr/>
        </p:nvPicPr>
        <p:blipFill>
          <a:blip r:embed="rId5"/>
          <a:srcRect l="10833" t="52963" r="36666" b="31925"/>
          <a:stretch>
            <a:fillRect/>
          </a:stretch>
        </p:blipFill>
        <p:spPr>
          <a:xfrm>
            <a:off x="-36872" y="1734423"/>
            <a:ext cx="9136626" cy="1479375"/>
          </a:xfrm>
          <a:prstGeom prst="rect">
            <a:avLst/>
          </a:prstGeom>
        </p:spPr>
      </p:pic>
      <p:sp>
        <p:nvSpPr>
          <p:cNvPr id="9" name="Rectangle 1">
            <a:extLst>
              <a:ext uri="{FF2B5EF4-FFF2-40B4-BE49-F238E27FC236}">
                <a16:creationId xmlns:a16="http://schemas.microsoft.com/office/drawing/2014/main" id="{75D6158D-6391-D979-1FB9-591237B69B18}"/>
              </a:ext>
            </a:extLst>
          </p:cNvPr>
          <p:cNvSpPr>
            <a:spLocks noChangeArrowheads="1"/>
          </p:cNvSpPr>
          <p:nvPr/>
        </p:nvSpPr>
        <p:spPr bwMode="auto">
          <a:xfrm>
            <a:off x="7373" y="3269226"/>
            <a:ext cx="909238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mj-lt"/>
              </a:rPr>
              <a:t>2.  Observe the output table that appears.</a:t>
            </a:r>
          </a:p>
          <a:p>
            <a:pPr marL="0" marR="0" lvl="0" indent="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mj-lt"/>
              </a:rPr>
              <a:t>3.  Explain in your own words: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What does the how='left' option mean?</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Which table’s data is fully kept (students or grades)?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What happens when a student does not have a grade?</a:t>
            </a:r>
          </a:p>
        </p:txBody>
      </p:sp>
    </p:spTree>
    <p:extLst>
      <p:ext uri="{BB962C8B-B14F-4D97-AF65-F5344CB8AC3E}">
        <p14:creationId xmlns:p14="http://schemas.microsoft.com/office/powerpoint/2010/main" val="960557734"/>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4AB2-9AB2-30C7-B96D-D917CD53D1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54363F-D51D-7741-4632-42AA7F66D0B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7C348686-AF29-132A-8113-405766EED0E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10" name="Picture 9">
            <a:extLst>
              <a:ext uri="{FF2B5EF4-FFF2-40B4-BE49-F238E27FC236}">
                <a16:creationId xmlns:a16="http://schemas.microsoft.com/office/drawing/2014/main" id="{C274F8EE-6725-BEC4-4677-C8B3E0FA4A54}"/>
              </a:ext>
            </a:extLst>
          </p:cNvPr>
          <p:cNvPicPr>
            <a:picLocks noChangeAspect="1"/>
          </p:cNvPicPr>
          <p:nvPr/>
        </p:nvPicPr>
        <p:blipFill>
          <a:blip r:embed="rId2"/>
          <a:srcRect l="11093" t="39619" r="36407" b="26296"/>
          <a:stretch>
            <a:fillRect/>
          </a:stretch>
        </p:blipFill>
        <p:spPr>
          <a:xfrm>
            <a:off x="36871" y="685799"/>
            <a:ext cx="6440129" cy="2351901"/>
          </a:xfrm>
          <a:prstGeom prst="rect">
            <a:avLst/>
          </a:prstGeom>
        </p:spPr>
      </p:pic>
      <p:sp>
        <p:nvSpPr>
          <p:cNvPr id="11" name="Rectangle 1">
            <a:extLst>
              <a:ext uri="{FF2B5EF4-FFF2-40B4-BE49-F238E27FC236}">
                <a16:creationId xmlns:a16="http://schemas.microsoft.com/office/drawing/2014/main" id="{773470A7-D763-A5D2-833F-8AE273C4CD85}"/>
              </a:ext>
            </a:extLst>
          </p:cNvPr>
          <p:cNvSpPr>
            <a:spLocks noChangeArrowheads="1"/>
          </p:cNvSpPr>
          <p:nvPr/>
        </p:nvSpPr>
        <p:spPr bwMode="auto">
          <a:xfrm>
            <a:off x="-11876" y="3168560"/>
            <a:ext cx="9167751" cy="3257174"/>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err="1">
                <a:ln>
                  <a:noFill/>
                </a:ln>
                <a:solidFill>
                  <a:schemeClr val="tx1"/>
                </a:solidFill>
                <a:effectLst/>
                <a:latin typeface="+mj-lt"/>
              </a:rPr>
              <a:t>pd.merge</a:t>
            </a:r>
            <a:r>
              <a:rPr kumimoji="0" lang="en-US" altLang="en-US" sz="2800" b="0" i="0" u="none" strike="noStrike" cap="none" normalizeH="0" baseline="0" dirty="0">
                <a:ln>
                  <a:noFill/>
                </a:ln>
                <a:solidFill>
                  <a:schemeClr val="tx1"/>
                </a:solidFill>
                <a:effectLst/>
                <a:latin typeface="+mj-lt"/>
              </a:rPr>
              <a:t> → joins (combines) two tables.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students, grades</a:t>
            </a:r>
            <a:r>
              <a:rPr kumimoji="0" lang="en-US" altLang="en-US" sz="2800" b="0" i="0" u="none" strike="noStrike" cap="none" normalizeH="0" baseline="0" dirty="0">
                <a:ln>
                  <a:noFill/>
                </a:ln>
                <a:solidFill>
                  <a:schemeClr val="tx1"/>
                </a:solidFill>
                <a:effectLst/>
                <a:latin typeface="+mj-lt"/>
              </a:rPr>
              <a:t> → the two tables being joined.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on='id'</a:t>
            </a:r>
            <a:r>
              <a:rPr kumimoji="0" lang="en-US" altLang="en-US" sz="2800" b="0" i="0" u="none" strike="noStrike" cap="none" normalizeH="0" baseline="0" dirty="0">
                <a:ln>
                  <a:noFill/>
                </a:ln>
                <a:solidFill>
                  <a:schemeClr val="tx1"/>
                </a:solidFill>
                <a:effectLst/>
                <a:latin typeface="+mj-lt"/>
              </a:rPr>
              <a:t> → tells Python to match rows using the id column.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1" i="0" u="none" strike="noStrike" cap="none" normalizeH="0" baseline="0" dirty="0">
                <a:ln>
                  <a:noFill/>
                </a:ln>
                <a:solidFill>
                  <a:schemeClr val="tx1"/>
                </a:solidFill>
                <a:effectLst/>
                <a:latin typeface="+mj-lt"/>
              </a:rPr>
              <a:t>how='left'</a:t>
            </a:r>
            <a:r>
              <a:rPr kumimoji="0" lang="en-US" altLang="en-US" sz="2800" b="0" i="0" u="none" strike="noStrike" cap="none" normalizeH="0" baseline="0" dirty="0">
                <a:ln>
                  <a:noFill/>
                </a:ln>
                <a:solidFill>
                  <a:schemeClr val="tx1"/>
                </a:solidFill>
                <a:effectLst/>
                <a:latin typeface="+mj-lt"/>
              </a:rPr>
              <a:t> → means keep </a:t>
            </a:r>
            <a:r>
              <a:rPr kumimoji="0" lang="en-US" altLang="en-US" sz="2800" i="0" u="none" strike="noStrike" cap="none" normalizeH="0" baseline="0" dirty="0">
                <a:ln>
                  <a:noFill/>
                </a:ln>
                <a:solidFill>
                  <a:schemeClr val="tx1"/>
                </a:solidFill>
                <a:effectLst/>
                <a:latin typeface="+mj-lt"/>
              </a:rPr>
              <a:t>all rows from the left table </a:t>
            </a:r>
            <a:r>
              <a:rPr kumimoji="0" lang="en-US" altLang="en-US" sz="2800" b="0" i="0" u="none" strike="noStrike" cap="none" normalizeH="0" baseline="0" dirty="0">
                <a:ln>
                  <a:noFill/>
                </a:ln>
                <a:solidFill>
                  <a:schemeClr val="tx1"/>
                </a:solidFill>
                <a:effectLst/>
                <a:latin typeface="+mj-lt"/>
              </a:rPr>
              <a:t>(students) even if no match is found in the grades table.</a:t>
            </a:r>
          </a:p>
        </p:txBody>
      </p:sp>
      <p:sp>
        <p:nvSpPr>
          <p:cNvPr id="12" name="Rectangle: Rounded Corners 11">
            <a:extLst>
              <a:ext uri="{FF2B5EF4-FFF2-40B4-BE49-F238E27FC236}">
                <a16:creationId xmlns:a16="http://schemas.microsoft.com/office/drawing/2014/main" id="{AED2229A-D737-E35C-5D17-0C92191997E7}"/>
              </a:ext>
            </a:extLst>
          </p:cNvPr>
          <p:cNvSpPr/>
          <p:nvPr/>
        </p:nvSpPr>
        <p:spPr>
          <a:xfrm>
            <a:off x="381000" y="715295"/>
            <a:ext cx="6781800" cy="6096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9119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8847C-2433-64C0-24F8-3A8EB66A34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19161E-1B71-C940-24CB-1DF6C82F12A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8B565CE0-91AC-7339-B945-479E63F3A60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10" name="Picture 9">
            <a:extLst>
              <a:ext uri="{FF2B5EF4-FFF2-40B4-BE49-F238E27FC236}">
                <a16:creationId xmlns:a16="http://schemas.microsoft.com/office/drawing/2014/main" id="{25CE8D5C-0D73-17EB-140A-05790CA235D0}"/>
              </a:ext>
            </a:extLst>
          </p:cNvPr>
          <p:cNvPicPr>
            <a:picLocks noChangeAspect="1"/>
          </p:cNvPicPr>
          <p:nvPr/>
        </p:nvPicPr>
        <p:blipFill>
          <a:blip r:embed="rId2"/>
          <a:srcRect l="11093" t="39619" r="36407" b="26296"/>
          <a:stretch>
            <a:fillRect/>
          </a:stretch>
        </p:blipFill>
        <p:spPr>
          <a:xfrm>
            <a:off x="36871" y="685799"/>
            <a:ext cx="6440129" cy="2351901"/>
          </a:xfrm>
          <a:prstGeom prst="rect">
            <a:avLst/>
          </a:prstGeom>
        </p:spPr>
      </p:pic>
      <p:sp>
        <p:nvSpPr>
          <p:cNvPr id="11" name="Rectangle 1">
            <a:extLst>
              <a:ext uri="{FF2B5EF4-FFF2-40B4-BE49-F238E27FC236}">
                <a16:creationId xmlns:a16="http://schemas.microsoft.com/office/drawing/2014/main" id="{6EB0D97E-B91C-2122-7DD0-C1F21907B1FF}"/>
              </a:ext>
            </a:extLst>
          </p:cNvPr>
          <p:cNvSpPr>
            <a:spLocks noChangeArrowheads="1"/>
          </p:cNvSpPr>
          <p:nvPr/>
        </p:nvSpPr>
        <p:spPr bwMode="auto">
          <a:xfrm>
            <a:off x="-11876" y="4461221"/>
            <a:ext cx="9167751" cy="67185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dirty="0">
                <a:latin typeface="+mj-lt"/>
              </a:rPr>
              <a:t>print(left) → shows the combined result.</a:t>
            </a:r>
            <a:endParaRPr kumimoji="0" lang="en-US" altLang="en-US" sz="2800" b="0" i="0" u="none" strike="noStrike" cap="none" normalizeH="0" baseline="0" dirty="0">
              <a:ln>
                <a:noFill/>
              </a:ln>
              <a:solidFill>
                <a:schemeClr val="tx1"/>
              </a:solidFill>
              <a:effectLst/>
              <a:latin typeface="+mj-lt"/>
            </a:endParaRPr>
          </a:p>
        </p:txBody>
      </p:sp>
      <p:sp>
        <p:nvSpPr>
          <p:cNvPr id="12" name="Rectangle: Rounded Corners 11">
            <a:extLst>
              <a:ext uri="{FF2B5EF4-FFF2-40B4-BE49-F238E27FC236}">
                <a16:creationId xmlns:a16="http://schemas.microsoft.com/office/drawing/2014/main" id="{3B660E8D-A149-A6DA-BE6B-3E93646B29DB}"/>
              </a:ext>
            </a:extLst>
          </p:cNvPr>
          <p:cNvSpPr/>
          <p:nvPr/>
        </p:nvSpPr>
        <p:spPr>
          <a:xfrm>
            <a:off x="381000" y="1307689"/>
            <a:ext cx="6781800" cy="33149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0951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AFF52-A400-70B9-8FC6-B6A1A2E320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9484D5-7D85-9476-06F3-98BFB021A7A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9E40C715-9146-8DB1-411B-C0B3908A9B19}"/>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10" name="Picture 9">
            <a:extLst>
              <a:ext uri="{FF2B5EF4-FFF2-40B4-BE49-F238E27FC236}">
                <a16:creationId xmlns:a16="http://schemas.microsoft.com/office/drawing/2014/main" id="{F513A1CB-0C59-94DD-2EC0-FFBD51F9B612}"/>
              </a:ext>
            </a:extLst>
          </p:cNvPr>
          <p:cNvPicPr>
            <a:picLocks noChangeAspect="1"/>
          </p:cNvPicPr>
          <p:nvPr/>
        </p:nvPicPr>
        <p:blipFill>
          <a:blip r:embed="rId2"/>
          <a:srcRect l="11093" t="39619" r="36407" b="26296"/>
          <a:stretch>
            <a:fillRect/>
          </a:stretch>
        </p:blipFill>
        <p:spPr>
          <a:xfrm>
            <a:off x="36871" y="685799"/>
            <a:ext cx="6440129" cy="2351901"/>
          </a:xfrm>
          <a:prstGeom prst="rect">
            <a:avLst/>
          </a:prstGeom>
        </p:spPr>
      </p:pic>
      <p:sp>
        <p:nvSpPr>
          <p:cNvPr id="3" name="Rectangle 1">
            <a:extLst>
              <a:ext uri="{FF2B5EF4-FFF2-40B4-BE49-F238E27FC236}">
                <a16:creationId xmlns:a16="http://schemas.microsoft.com/office/drawing/2014/main" id="{0A6389F8-51A9-47AA-3AB9-B76F8BF61679}"/>
              </a:ext>
            </a:extLst>
          </p:cNvPr>
          <p:cNvSpPr>
            <a:spLocks noChangeArrowheads="1"/>
          </p:cNvSpPr>
          <p:nvPr/>
        </p:nvSpPr>
        <p:spPr bwMode="auto">
          <a:xfrm>
            <a:off x="-40957" y="2917912"/>
            <a:ext cx="9130880" cy="3254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mj-lt"/>
              </a:rPr>
              <a:t>What does the how='left' option mean?</a:t>
            </a:r>
          </a:p>
          <a:p>
            <a:pPr marR="0" lvl="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mj-lt"/>
              </a:rPr>
              <a:t>➜ It means keep all students from the left table, even if they don’t have grades.</a:t>
            </a:r>
          </a:p>
          <a:p>
            <a:pPr marR="0" lvl="0" algn="l" defTabSz="914400" rtl="0" eaLnBrk="0" fontAlgn="base" latinLnBrk="0" hangingPunct="0">
              <a:lnSpc>
                <a:spcPct val="15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mj-lt"/>
              </a:rPr>
              <a:t>2.    Which table’s data is fully kept (students or grades)?</a:t>
            </a:r>
          </a:p>
          <a:p>
            <a:pPr marR="0" lvl="0" algn="l" defTabSz="914400" rtl="0" eaLnBrk="0" fontAlgn="base" latinLnBrk="0" hangingPunct="0">
              <a:lnSpc>
                <a:spcPct val="15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mj-lt"/>
              </a:rPr>
              <a:t>➜ The students table is fully kept.</a:t>
            </a:r>
          </a:p>
        </p:txBody>
      </p:sp>
    </p:spTree>
    <p:extLst>
      <p:ext uri="{BB962C8B-B14F-4D97-AF65-F5344CB8AC3E}">
        <p14:creationId xmlns:p14="http://schemas.microsoft.com/office/powerpoint/2010/main" val="115514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39D2-F338-7BE9-E31D-59C7D80A677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F692B03-2255-7991-3E07-1219BCE44A0C}"/>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EEBB9763-60A4-395C-B73F-D059D3C3896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10" name="Picture 9">
            <a:extLst>
              <a:ext uri="{FF2B5EF4-FFF2-40B4-BE49-F238E27FC236}">
                <a16:creationId xmlns:a16="http://schemas.microsoft.com/office/drawing/2014/main" id="{D2CD24E4-53D7-6471-6DDC-CE67E4CD9A48}"/>
              </a:ext>
            </a:extLst>
          </p:cNvPr>
          <p:cNvPicPr>
            <a:picLocks noChangeAspect="1"/>
          </p:cNvPicPr>
          <p:nvPr/>
        </p:nvPicPr>
        <p:blipFill>
          <a:blip r:embed="rId2"/>
          <a:srcRect l="11093" t="39619" r="36407" b="26296"/>
          <a:stretch>
            <a:fillRect/>
          </a:stretch>
        </p:blipFill>
        <p:spPr>
          <a:xfrm>
            <a:off x="36871" y="685799"/>
            <a:ext cx="6440129" cy="2351901"/>
          </a:xfrm>
          <a:prstGeom prst="rect">
            <a:avLst/>
          </a:prstGeom>
        </p:spPr>
      </p:pic>
      <p:sp>
        <p:nvSpPr>
          <p:cNvPr id="3" name="Rectangle 1">
            <a:extLst>
              <a:ext uri="{FF2B5EF4-FFF2-40B4-BE49-F238E27FC236}">
                <a16:creationId xmlns:a16="http://schemas.microsoft.com/office/drawing/2014/main" id="{F0C33EAF-B349-1FC5-6170-A711CCB0D8B7}"/>
              </a:ext>
            </a:extLst>
          </p:cNvPr>
          <p:cNvSpPr>
            <a:spLocks noChangeArrowheads="1"/>
          </p:cNvSpPr>
          <p:nvPr/>
        </p:nvSpPr>
        <p:spPr bwMode="auto">
          <a:xfrm>
            <a:off x="-33368" y="3003287"/>
            <a:ext cx="9113674"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603250" marR="0" lvl="0" indent="-514350" algn="l" defTabSz="914400" rtl="0" eaLnBrk="0" fontAlgn="base" latinLnBrk="0" hangingPunct="0">
              <a:lnSpc>
                <a:spcPct val="150000"/>
              </a:lnSpc>
              <a:spcBef>
                <a:spcPct val="0"/>
              </a:spcBef>
              <a:spcAft>
                <a:spcPct val="0"/>
              </a:spcAft>
              <a:buClrTx/>
              <a:buSzTx/>
              <a:buAutoNum type="arabicPeriod" startAt="3"/>
              <a:tabLst/>
            </a:pPr>
            <a:r>
              <a:rPr lang="en-US" altLang="en-US" sz="2800" b="1" dirty="0">
                <a:solidFill>
                  <a:schemeClr val="tx1"/>
                </a:solidFill>
                <a:latin typeface="+mj-lt"/>
              </a:rPr>
              <a:t>What happens when a student does not have a grade?</a:t>
            </a:r>
          </a:p>
          <a:p>
            <a:pPr marL="88900" marR="0" lvl="0" algn="l" defTabSz="914400" rtl="0" eaLnBrk="0" fontAlgn="base" latinLnBrk="0" hangingPunct="0">
              <a:lnSpc>
                <a:spcPct val="150000"/>
              </a:lnSpc>
              <a:spcBef>
                <a:spcPct val="0"/>
              </a:spcBef>
              <a:spcAft>
                <a:spcPct val="0"/>
              </a:spcAft>
              <a:buClrTx/>
              <a:buSzTx/>
              <a:tabLst/>
            </a:pPr>
            <a:r>
              <a:rPr lang="en-US" altLang="en-US" sz="2800" dirty="0">
                <a:solidFill>
                  <a:schemeClr val="tx1"/>
                </a:solidFill>
                <a:latin typeface="+mj-lt"/>
              </a:rPr>
              <a:t>➜ The grade column shows </a:t>
            </a:r>
            <a:r>
              <a:rPr lang="en-US" altLang="en-US" sz="2800" dirty="0" err="1">
                <a:solidFill>
                  <a:schemeClr val="tx1"/>
                </a:solidFill>
                <a:latin typeface="+mj-lt"/>
              </a:rPr>
              <a:t>NaN</a:t>
            </a:r>
            <a:r>
              <a:rPr lang="en-US" altLang="en-US" sz="2800" dirty="0">
                <a:solidFill>
                  <a:schemeClr val="tx1"/>
                </a:solidFill>
                <a:latin typeface="+mj-lt"/>
              </a:rPr>
              <a:t>, which means “no data” or “missing value.”</a:t>
            </a:r>
          </a:p>
        </p:txBody>
      </p:sp>
    </p:spTree>
    <p:extLst>
      <p:ext uri="{BB962C8B-B14F-4D97-AF65-F5344CB8AC3E}">
        <p14:creationId xmlns:p14="http://schemas.microsoft.com/office/powerpoint/2010/main" val="211334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424BA-A1C1-B10F-BDBE-CEBEBFCD2B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6E7D12-E862-44DB-BC0B-BBAB752E35A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6</a:t>
            </a:r>
            <a:endParaRPr spc="-20" dirty="0">
              <a:latin typeface="+mj-lt"/>
            </a:endParaRPr>
          </a:p>
        </p:txBody>
      </p:sp>
      <p:sp>
        <p:nvSpPr>
          <p:cNvPr id="5" name="object 5">
            <a:extLst>
              <a:ext uri="{FF2B5EF4-FFF2-40B4-BE49-F238E27FC236}">
                <a16:creationId xmlns:a16="http://schemas.microsoft.com/office/drawing/2014/main" id="{E2DE13C7-D605-C9D3-4216-E65DF99CA8A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10" name="Picture 9">
            <a:extLst>
              <a:ext uri="{FF2B5EF4-FFF2-40B4-BE49-F238E27FC236}">
                <a16:creationId xmlns:a16="http://schemas.microsoft.com/office/drawing/2014/main" id="{81B26FF9-58F9-7BAD-9630-60D02D6709CB}"/>
              </a:ext>
            </a:extLst>
          </p:cNvPr>
          <p:cNvPicPr>
            <a:picLocks noChangeAspect="1"/>
          </p:cNvPicPr>
          <p:nvPr/>
        </p:nvPicPr>
        <p:blipFill>
          <a:blip r:embed="rId2"/>
          <a:srcRect l="11093" t="39619" r="36407" b="26296"/>
          <a:stretch>
            <a:fillRect/>
          </a:stretch>
        </p:blipFill>
        <p:spPr>
          <a:xfrm>
            <a:off x="36871" y="685799"/>
            <a:ext cx="6440129" cy="2351901"/>
          </a:xfrm>
          <a:prstGeom prst="rect">
            <a:avLst/>
          </a:prstGeom>
        </p:spPr>
      </p:pic>
      <p:sp>
        <p:nvSpPr>
          <p:cNvPr id="3" name="Rectangle 1">
            <a:extLst>
              <a:ext uri="{FF2B5EF4-FFF2-40B4-BE49-F238E27FC236}">
                <a16:creationId xmlns:a16="http://schemas.microsoft.com/office/drawing/2014/main" id="{C3EB93CB-0E4E-586C-F566-49F28727F0F7}"/>
              </a:ext>
            </a:extLst>
          </p:cNvPr>
          <p:cNvSpPr>
            <a:spLocks noChangeArrowheads="1"/>
          </p:cNvSpPr>
          <p:nvPr/>
        </p:nvSpPr>
        <p:spPr bwMode="auto">
          <a:xfrm>
            <a:off x="58994" y="3045712"/>
            <a:ext cx="9113674" cy="3594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Every student appears in the result (Farshid, Noah, Olivia, Liam).</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Noah and Olivia have grades because they matched with IDs in the grades table.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Farshid and Liam have </a:t>
            </a:r>
            <a:r>
              <a:rPr kumimoji="0" lang="en-US" altLang="en-US" sz="2200" i="0" u="none" strike="noStrike" cap="none" normalizeH="0" baseline="0" dirty="0" err="1">
                <a:ln>
                  <a:noFill/>
                </a:ln>
                <a:solidFill>
                  <a:schemeClr val="tx1"/>
                </a:solidFill>
                <a:effectLst/>
                <a:latin typeface="+mj-lt"/>
              </a:rPr>
              <a:t>NaN</a:t>
            </a:r>
            <a:r>
              <a:rPr kumimoji="0" lang="en-US" altLang="en-US" sz="2200" i="0" u="none" strike="noStrike" cap="none" normalizeH="0" baseline="0" dirty="0">
                <a:ln>
                  <a:noFill/>
                </a:ln>
                <a:solidFill>
                  <a:schemeClr val="tx1"/>
                </a:solidFill>
                <a:effectLst/>
                <a:latin typeface="+mj-lt"/>
              </a:rPr>
              <a:t> because there were no matching IDs in the grades table.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mj-lt"/>
              </a:rPr>
              <a:t>So, a Left Join helps you keep all data from the main list (students) while showing whatever information is available from the second list (grades).</a:t>
            </a:r>
          </a:p>
        </p:txBody>
      </p:sp>
      <p:sp>
        <p:nvSpPr>
          <p:cNvPr id="6" name="Rectangle: Rounded Corners 5">
            <a:extLst>
              <a:ext uri="{FF2B5EF4-FFF2-40B4-BE49-F238E27FC236}">
                <a16:creationId xmlns:a16="http://schemas.microsoft.com/office/drawing/2014/main" id="{A1E7718C-D0A9-DC47-6770-771EDEC5CFE8}"/>
              </a:ext>
            </a:extLst>
          </p:cNvPr>
          <p:cNvSpPr/>
          <p:nvPr/>
        </p:nvSpPr>
        <p:spPr>
          <a:xfrm>
            <a:off x="35241" y="1705896"/>
            <a:ext cx="3757551" cy="12192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15932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BD97-2F7A-966C-C81B-3FC0FECDE3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76AF56-161D-3F00-35EB-78FBDA37635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3B651605-2E85-8053-082F-6FE9DFBDE83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84D54A61-D6E5-CC69-8F4F-ABBBCB0A7D86}"/>
              </a:ext>
            </a:extLst>
          </p:cNvPr>
          <p:cNvSpPr txBox="1"/>
          <p:nvPr/>
        </p:nvSpPr>
        <p:spPr>
          <a:xfrm>
            <a:off x="63121" y="1007144"/>
            <a:ext cx="9095627" cy="3900748"/>
          </a:xfrm>
          <a:prstGeom prst="rect">
            <a:avLst/>
          </a:prstGeom>
          <a:noFill/>
        </p:spPr>
        <p:txBody>
          <a:bodyPr wrap="square">
            <a:spAutoFit/>
          </a:bodyPr>
          <a:lstStyle/>
          <a:p>
            <a:pPr>
              <a:lnSpc>
                <a:spcPct val="150000"/>
              </a:lnSpc>
            </a:pPr>
            <a:r>
              <a:rPr lang="en-US" sz="2800" dirty="0">
                <a:latin typeface="+mj-lt"/>
              </a:rPr>
              <a:t>Add a “Campus” Column and Merge Again</a:t>
            </a:r>
          </a:p>
          <a:p>
            <a:pPr marL="514350" indent="-514350">
              <a:lnSpc>
                <a:spcPct val="150000"/>
              </a:lnSpc>
              <a:buAutoNum type="arabicPeriod"/>
            </a:pPr>
            <a:r>
              <a:rPr lang="en-US" sz="2800" dirty="0">
                <a:latin typeface="+mj-lt"/>
              </a:rPr>
              <a:t>Add a new column called "Campus" to the students table using this code: (</a:t>
            </a:r>
            <a:r>
              <a:rPr lang="en-US" sz="2800" dirty="0">
                <a:highlight>
                  <a:srgbClr val="FFFF00"/>
                </a:highlight>
                <a:latin typeface="+mj-lt"/>
              </a:rPr>
              <a:t>1-2 min</a:t>
            </a:r>
            <a:r>
              <a:rPr lang="en-US" sz="2800" dirty="0">
                <a:latin typeface="+mj-lt"/>
              </a:rPr>
              <a:t>)</a:t>
            </a:r>
          </a:p>
          <a:p>
            <a:pPr marL="514350" indent="-514350">
              <a:lnSpc>
                <a:spcPct val="150000"/>
              </a:lnSpc>
              <a:buAutoNum type="arabicPeriod"/>
            </a:pPr>
            <a:endParaRPr lang="en-US" sz="2800" dirty="0">
              <a:latin typeface="+mj-lt"/>
            </a:endParaRPr>
          </a:p>
          <a:p>
            <a:pPr marL="514350" indent="-514350">
              <a:lnSpc>
                <a:spcPct val="150000"/>
              </a:lnSpc>
              <a:buAutoNum type="arabicPeriod"/>
            </a:pPr>
            <a:r>
              <a:rPr lang="en-US" sz="2800" dirty="0">
                <a:latin typeface="+mj-lt"/>
              </a:rPr>
              <a:t>Merge the updated students table with the grades table again: (</a:t>
            </a:r>
            <a:r>
              <a:rPr lang="en-US" sz="2800" dirty="0">
                <a:highlight>
                  <a:srgbClr val="FFFF00"/>
                </a:highlight>
                <a:latin typeface="+mj-lt"/>
              </a:rPr>
              <a:t>1-2 min</a:t>
            </a:r>
            <a:r>
              <a:rPr lang="en-US" sz="2800" dirty="0">
                <a:latin typeface="+mj-lt"/>
              </a:rPr>
              <a:t>)</a:t>
            </a:r>
          </a:p>
        </p:txBody>
      </p:sp>
      <p:pic>
        <p:nvPicPr>
          <p:cNvPr id="10" name="Picture 9">
            <a:extLst>
              <a:ext uri="{FF2B5EF4-FFF2-40B4-BE49-F238E27FC236}">
                <a16:creationId xmlns:a16="http://schemas.microsoft.com/office/drawing/2014/main" id="{4786D32F-18B9-EB97-7145-2031A251CDD1}"/>
              </a:ext>
            </a:extLst>
          </p:cNvPr>
          <p:cNvPicPr>
            <a:picLocks noChangeAspect="1"/>
          </p:cNvPicPr>
          <p:nvPr/>
        </p:nvPicPr>
        <p:blipFill>
          <a:blip r:embed="rId2"/>
          <a:srcRect t="44122" r="30833" b="45556"/>
          <a:stretch>
            <a:fillRect/>
          </a:stretch>
        </p:blipFill>
        <p:spPr>
          <a:xfrm>
            <a:off x="0" y="2966173"/>
            <a:ext cx="9144000" cy="767627"/>
          </a:xfrm>
          <a:prstGeom prst="rect">
            <a:avLst/>
          </a:prstGeom>
        </p:spPr>
      </p:pic>
      <p:pic>
        <p:nvPicPr>
          <p:cNvPr id="12" name="Picture 11">
            <a:extLst>
              <a:ext uri="{FF2B5EF4-FFF2-40B4-BE49-F238E27FC236}">
                <a16:creationId xmlns:a16="http://schemas.microsoft.com/office/drawing/2014/main" id="{DD761CB6-CC18-FEEF-C911-FC4EF17DCFC0}"/>
              </a:ext>
            </a:extLst>
          </p:cNvPr>
          <p:cNvPicPr>
            <a:picLocks noChangeAspect="1"/>
          </p:cNvPicPr>
          <p:nvPr/>
        </p:nvPicPr>
        <p:blipFill>
          <a:blip r:embed="rId3"/>
          <a:srcRect l="10833" t="55686" r="39167" b="34169"/>
          <a:stretch>
            <a:fillRect/>
          </a:stretch>
        </p:blipFill>
        <p:spPr>
          <a:xfrm>
            <a:off x="31560" y="4907892"/>
            <a:ext cx="9080879" cy="1036416"/>
          </a:xfrm>
          <a:prstGeom prst="rect">
            <a:avLst/>
          </a:prstGeom>
        </p:spPr>
      </p:pic>
    </p:spTree>
    <p:extLst>
      <p:ext uri="{BB962C8B-B14F-4D97-AF65-F5344CB8AC3E}">
        <p14:creationId xmlns:p14="http://schemas.microsoft.com/office/powerpoint/2010/main" val="40144686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BD97-2F7A-966C-C81B-3FC0FECDE3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76AF56-161D-3F00-35EB-78FBDA37635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3B651605-2E85-8053-082F-6FE9DFBDE83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3" name="Rectangle 1">
            <a:extLst>
              <a:ext uri="{FF2B5EF4-FFF2-40B4-BE49-F238E27FC236}">
                <a16:creationId xmlns:a16="http://schemas.microsoft.com/office/drawing/2014/main" id="{F3F2A58D-BD8E-E24C-91C6-EDA62730F91F}"/>
              </a:ext>
            </a:extLst>
          </p:cNvPr>
          <p:cNvSpPr>
            <a:spLocks noChangeArrowheads="1"/>
          </p:cNvSpPr>
          <p:nvPr/>
        </p:nvSpPr>
        <p:spPr bwMode="auto">
          <a:xfrm>
            <a:off x="-23751" y="848683"/>
            <a:ext cx="9166123"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800" b="1" i="0" u="none" strike="noStrike" cap="none" normalizeH="0" baseline="0" dirty="0">
                <a:ln>
                  <a:noFill/>
                </a:ln>
                <a:solidFill>
                  <a:schemeClr val="tx1"/>
                </a:solidFill>
                <a:effectLst/>
                <a:latin typeface="+mj-lt"/>
              </a:rPr>
              <a:t>Run the code</a:t>
            </a:r>
            <a:r>
              <a:rPr kumimoji="0" lang="en-US" altLang="en-US" sz="2800" b="0" i="0" u="none" strike="noStrike" cap="none" normalizeH="0" baseline="0" dirty="0">
                <a:ln>
                  <a:noFill/>
                </a:ln>
                <a:solidFill>
                  <a:schemeClr val="tx1"/>
                </a:solidFill>
                <a:effectLst/>
                <a:latin typeface="+mj-lt"/>
              </a:rPr>
              <a:t> in Google </a:t>
            </a:r>
            <a:r>
              <a:rPr kumimoji="0" lang="en-US" altLang="en-US" sz="2800" b="0" i="0" u="none" strike="noStrike" cap="none" normalizeH="0" baseline="0" dirty="0" err="1">
                <a:ln>
                  <a:noFill/>
                </a:ln>
                <a:solidFill>
                  <a:schemeClr val="tx1"/>
                </a:solidFill>
                <a:effectLst/>
                <a:latin typeface="+mj-lt"/>
              </a:rPr>
              <a:t>Colab</a:t>
            </a:r>
            <a:r>
              <a:rPr kumimoji="0" lang="en-US" altLang="en-US" sz="2800" b="0" i="0" u="none" strike="noStrike" cap="none" normalizeH="0" baseline="0" dirty="0">
                <a:ln>
                  <a:noFill/>
                </a:ln>
                <a:solidFill>
                  <a:schemeClr val="tx1"/>
                </a:solidFill>
                <a:effectLst/>
                <a:latin typeface="+mj-lt"/>
              </a:rPr>
              <a:t> and observe the new table.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800" b="1" i="0" u="none" strike="noStrike" cap="none" normalizeH="0" baseline="0" dirty="0">
                <a:ln>
                  <a:noFill/>
                </a:ln>
                <a:solidFill>
                  <a:schemeClr val="tx1"/>
                </a:solidFill>
                <a:effectLst/>
                <a:latin typeface="+mj-lt"/>
              </a:rPr>
              <a:t>Answer these questions in your own words:</a:t>
            </a:r>
            <a:endParaRPr kumimoji="0" lang="en-US" altLang="en-US" sz="2800" b="0" i="0" u="none" strike="noStrike" cap="none" normalizeH="0" baseline="0" dirty="0">
              <a:ln>
                <a:noFill/>
              </a:ln>
              <a:solidFill>
                <a:schemeClr val="tx1"/>
              </a:solidFill>
              <a:effectLst/>
              <a:latin typeface="+mj-lt"/>
            </a:endParaRP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What new information did we add to the students table?</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What does the merge still use to match rows?</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What happens to the “grade” column for students without a match?</a:t>
            </a:r>
          </a:p>
          <a:p>
            <a:pPr marL="722313"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How does the final table look different from the previous one?</a:t>
            </a:r>
          </a:p>
        </p:txBody>
      </p:sp>
      <p:pic>
        <p:nvPicPr>
          <p:cNvPr id="6" name="Timer">
            <a:hlinkClick r:id="" action="ppaction://media"/>
            <a:extLst>
              <a:ext uri="{FF2B5EF4-FFF2-40B4-BE49-F238E27FC236}">
                <a16:creationId xmlns:a16="http://schemas.microsoft.com/office/drawing/2014/main" id="{7DCFA52A-C20C-563C-03DD-CC9A64A651A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19021" y="6057139"/>
            <a:ext cx="1683834" cy="758283"/>
          </a:xfrm>
          <a:prstGeom prst="rect">
            <a:avLst/>
          </a:prstGeom>
          <a:ln w="38100">
            <a:solidFill>
              <a:srgbClr val="FF0000"/>
            </a:solidFill>
          </a:ln>
        </p:spPr>
      </p:pic>
    </p:spTree>
    <p:extLst>
      <p:ext uri="{BB962C8B-B14F-4D97-AF65-F5344CB8AC3E}">
        <p14:creationId xmlns:p14="http://schemas.microsoft.com/office/powerpoint/2010/main" val="45176859"/>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BD97-2F7A-966C-C81B-3FC0FECDE3D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76AF56-161D-3F00-35EB-78FBDA376357}"/>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3B651605-2E85-8053-082F-6FE9DFBDE83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7490B045-C0FC-BDC2-BFE9-2FE6DCF811CE}"/>
              </a:ext>
            </a:extLst>
          </p:cNvPr>
          <p:cNvPicPr>
            <a:picLocks noChangeAspect="1"/>
          </p:cNvPicPr>
          <p:nvPr/>
        </p:nvPicPr>
        <p:blipFill>
          <a:blip r:embed="rId2"/>
          <a:srcRect l="10806" t="45269" r="30833" b="15926"/>
          <a:stretch>
            <a:fillRect/>
          </a:stretch>
        </p:blipFill>
        <p:spPr>
          <a:xfrm>
            <a:off x="-23751" y="861521"/>
            <a:ext cx="9144000" cy="3420049"/>
          </a:xfrm>
          <a:prstGeom prst="rect">
            <a:avLst/>
          </a:prstGeom>
        </p:spPr>
      </p:pic>
      <p:sp>
        <p:nvSpPr>
          <p:cNvPr id="9" name="TextBox 8">
            <a:extLst>
              <a:ext uri="{FF2B5EF4-FFF2-40B4-BE49-F238E27FC236}">
                <a16:creationId xmlns:a16="http://schemas.microsoft.com/office/drawing/2014/main" id="{74BC312E-49DE-DEAC-C2DA-9855566F8435}"/>
              </a:ext>
            </a:extLst>
          </p:cNvPr>
          <p:cNvSpPr txBox="1"/>
          <p:nvPr/>
        </p:nvSpPr>
        <p:spPr>
          <a:xfrm>
            <a:off x="31125" y="4281570"/>
            <a:ext cx="9167750" cy="2610843"/>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j-lt"/>
              </a:rPr>
              <a:t>What new information did we add to the students table?</a:t>
            </a:r>
          </a:p>
          <a:p>
            <a:pPr>
              <a:lnSpc>
                <a:spcPct val="150000"/>
              </a:lnSpc>
            </a:pPr>
            <a:r>
              <a:rPr lang="en-US" sz="2800" dirty="0">
                <a:latin typeface="+mj-lt"/>
              </a:rPr>
              <a:t>We added a new column called “Campus” that shows where each student studies — for example, Sydney, Melbourne, Brisbane, or Perth.</a:t>
            </a:r>
          </a:p>
        </p:txBody>
      </p:sp>
    </p:spTree>
    <p:extLst>
      <p:ext uri="{BB962C8B-B14F-4D97-AF65-F5344CB8AC3E}">
        <p14:creationId xmlns:p14="http://schemas.microsoft.com/office/powerpoint/2010/main" val="379532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67BB-4655-94A4-2A19-DBA8C70C0F4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E51EB5-7878-6BAE-25F3-190548DBA3C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62BB6E7A-BBE6-B3A1-A238-7CB6A8B8CA1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04F51E2D-423B-9E69-EE77-3CE8FB76A94E}"/>
              </a:ext>
            </a:extLst>
          </p:cNvPr>
          <p:cNvPicPr>
            <a:picLocks noChangeAspect="1"/>
          </p:cNvPicPr>
          <p:nvPr/>
        </p:nvPicPr>
        <p:blipFill>
          <a:blip r:embed="rId2"/>
          <a:srcRect l="10806" t="45269" r="30833" b="15926"/>
          <a:stretch>
            <a:fillRect/>
          </a:stretch>
        </p:blipFill>
        <p:spPr>
          <a:xfrm>
            <a:off x="-23751" y="861521"/>
            <a:ext cx="9144000" cy="3420049"/>
          </a:xfrm>
          <a:prstGeom prst="rect">
            <a:avLst/>
          </a:prstGeom>
        </p:spPr>
      </p:pic>
      <p:sp>
        <p:nvSpPr>
          <p:cNvPr id="9" name="TextBox 8">
            <a:extLst>
              <a:ext uri="{FF2B5EF4-FFF2-40B4-BE49-F238E27FC236}">
                <a16:creationId xmlns:a16="http://schemas.microsoft.com/office/drawing/2014/main" id="{FD28ECA5-D222-2EA5-D1DE-7EF40857F37A}"/>
              </a:ext>
            </a:extLst>
          </p:cNvPr>
          <p:cNvSpPr txBox="1"/>
          <p:nvPr/>
        </p:nvSpPr>
        <p:spPr>
          <a:xfrm>
            <a:off x="31125" y="4281570"/>
            <a:ext cx="9167750" cy="1961755"/>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j-lt"/>
              </a:rPr>
              <a:t>What does the merge still use to match rows?</a:t>
            </a:r>
          </a:p>
          <a:p>
            <a:pPr>
              <a:lnSpc>
                <a:spcPct val="150000"/>
              </a:lnSpc>
            </a:pPr>
            <a:r>
              <a:rPr lang="en-US" sz="2800" dirty="0">
                <a:latin typeface="+mj-lt"/>
              </a:rPr>
              <a:t>The merge still uses the “id” column to connect students with their grades.</a:t>
            </a:r>
          </a:p>
        </p:txBody>
      </p:sp>
    </p:spTree>
    <p:extLst>
      <p:ext uri="{BB962C8B-B14F-4D97-AF65-F5344CB8AC3E}">
        <p14:creationId xmlns:p14="http://schemas.microsoft.com/office/powerpoint/2010/main" val="137831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B6FD-4F6D-7D4D-BC73-D37E19C1E4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24BAEB-A868-9766-1E72-4127C227708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0E071C42-A4EA-80DC-7C77-3231B686147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8901C81B-DF39-767E-8097-9BA7798FC390}"/>
              </a:ext>
            </a:extLst>
          </p:cNvPr>
          <p:cNvPicPr>
            <a:picLocks noChangeAspect="1"/>
          </p:cNvPicPr>
          <p:nvPr/>
        </p:nvPicPr>
        <p:blipFill>
          <a:blip r:embed="rId2"/>
          <a:srcRect l="10806" t="45269" r="30833" b="15926"/>
          <a:stretch>
            <a:fillRect/>
          </a:stretch>
        </p:blipFill>
        <p:spPr>
          <a:xfrm>
            <a:off x="-23751" y="861521"/>
            <a:ext cx="9144000" cy="3420049"/>
          </a:xfrm>
          <a:prstGeom prst="rect">
            <a:avLst/>
          </a:prstGeom>
        </p:spPr>
      </p:pic>
      <p:sp>
        <p:nvSpPr>
          <p:cNvPr id="9" name="TextBox 8">
            <a:extLst>
              <a:ext uri="{FF2B5EF4-FFF2-40B4-BE49-F238E27FC236}">
                <a16:creationId xmlns:a16="http://schemas.microsoft.com/office/drawing/2014/main" id="{6D5EA3AA-471B-9443-6A8C-EB741328A6B2}"/>
              </a:ext>
            </a:extLst>
          </p:cNvPr>
          <p:cNvSpPr txBox="1"/>
          <p:nvPr/>
        </p:nvSpPr>
        <p:spPr>
          <a:xfrm>
            <a:off x="-23751" y="4249914"/>
            <a:ext cx="9167750" cy="2608086"/>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j-lt"/>
              </a:rPr>
              <a:t>What happens to the “grade” column for students without a match?</a:t>
            </a:r>
          </a:p>
          <a:p>
            <a:pPr>
              <a:lnSpc>
                <a:spcPct val="150000"/>
              </a:lnSpc>
            </a:pPr>
            <a:r>
              <a:rPr lang="en-US" sz="2800" dirty="0">
                <a:latin typeface="+mj-lt"/>
              </a:rPr>
              <a:t>If a student doesn’t have a grade, the “grade” column shows </a:t>
            </a:r>
            <a:r>
              <a:rPr lang="en-US" sz="2800" dirty="0" err="1">
                <a:latin typeface="+mj-lt"/>
              </a:rPr>
              <a:t>NaN</a:t>
            </a:r>
            <a:r>
              <a:rPr lang="en-US" sz="2800" dirty="0">
                <a:latin typeface="+mj-lt"/>
              </a:rPr>
              <a:t>, which means “no data” or “not available.”</a:t>
            </a:r>
          </a:p>
        </p:txBody>
      </p:sp>
    </p:spTree>
    <p:extLst>
      <p:ext uri="{BB962C8B-B14F-4D97-AF65-F5344CB8AC3E}">
        <p14:creationId xmlns:p14="http://schemas.microsoft.com/office/powerpoint/2010/main" val="40340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D8B8-AAA6-E40F-CB96-F0BD7EB9C93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EC161C-118E-EE26-A288-5DDA6E1AF9D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9C7AB64C-01B4-D18B-B683-A3E7AA014C1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3ABB10C5-B9F2-7688-9B20-E6E378E438E0}"/>
              </a:ext>
            </a:extLst>
          </p:cNvPr>
          <p:cNvPicPr>
            <a:picLocks noChangeAspect="1"/>
          </p:cNvPicPr>
          <p:nvPr/>
        </p:nvPicPr>
        <p:blipFill>
          <a:blip r:embed="rId2"/>
          <a:srcRect l="10806" t="45269" r="30833" b="15926"/>
          <a:stretch>
            <a:fillRect/>
          </a:stretch>
        </p:blipFill>
        <p:spPr>
          <a:xfrm>
            <a:off x="-23751" y="861521"/>
            <a:ext cx="9144000" cy="3420049"/>
          </a:xfrm>
          <a:prstGeom prst="rect">
            <a:avLst/>
          </a:prstGeom>
        </p:spPr>
      </p:pic>
      <p:sp>
        <p:nvSpPr>
          <p:cNvPr id="9" name="TextBox 8">
            <a:extLst>
              <a:ext uri="{FF2B5EF4-FFF2-40B4-BE49-F238E27FC236}">
                <a16:creationId xmlns:a16="http://schemas.microsoft.com/office/drawing/2014/main" id="{DAB5885D-2FE8-7C9D-2EE6-E98FD422405F}"/>
              </a:ext>
            </a:extLst>
          </p:cNvPr>
          <p:cNvSpPr txBox="1"/>
          <p:nvPr/>
        </p:nvSpPr>
        <p:spPr>
          <a:xfrm>
            <a:off x="-23751" y="4278961"/>
            <a:ext cx="9167750" cy="2579039"/>
          </a:xfrm>
          <a:prstGeom prst="rect">
            <a:avLst/>
          </a:prstGeom>
          <a:solidFill>
            <a:schemeClr val="bg1"/>
          </a:solidFill>
          <a:ln>
            <a:solidFill>
              <a:srgbClr val="FF0000"/>
            </a:solidFill>
          </a:ln>
        </p:spPr>
        <p:txBody>
          <a:bodyPr wrap="square">
            <a:spAutoFit/>
          </a:bodyPr>
          <a:lstStyle/>
          <a:p>
            <a:pPr>
              <a:lnSpc>
                <a:spcPct val="150000"/>
              </a:lnSpc>
            </a:pPr>
            <a:r>
              <a:rPr lang="en-US" sz="2200" b="1" dirty="0">
                <a:latin typeface="+mj-lt"/>
              </a:rPr>
              <a:t>How does the final table look different from the previous one?</a:t>
            </a:r>
          </a:p>
          <a:p>
            <a:pPr>
              <a:lnSpc>
                <a:spcPct val="150000"/>
              </a:lnSpc>
            </a:pPr>
            <a:r>
              <a:rPr lang="en-US" sz="2200" dirty="0">
                <a:latin typeface="+mj-lt"/>
              </a:rPr>
              <a:t>The final table now includes an extra “Campus” column, so each student shows both their campus and their grade (if available).</a:t>
            </a:r>
            <a:br>
              <a:rPr lang="en-US" sz="2200" dirty="0">
                <a:latin typeface="+mj-lt"/>
              </a:rPr>
            </a:br>
            <a:r>
              <a:rPr lang="en-US" sz="2200" dirty="0">
                <a:latin typeface="+mj-lt"/>
              </a:rPr>
              <a:t>Farshid and Liam still have </a:t>
            </a:r>
            <a:r>
              <a:rPr lang="en-US" sz="2200" dirty="0" err="1">
                <a:latin typeface="+mj-lt"/>
              </a:rPr>
              <a:t>NaN</a:t>
            </a:r>
            <a:r>
              <a:rPr lang="en-US" sz="2200" dirty="0">
                <a:latin typeface="+mj-lt"/>
              </a:rPr>
              <a:t> in the grade column, but now we also know their campus.</a:t>
            </a:r>
          </a:p>
        </p:txBody>
      </p:sp>
    </p:spTree>
    <p:extLst>
      <p:ext uri="{BB962C8B-B14F-4D97-AF65-F5344CB8AC3E}">
        <p14:creationId xmlns:p14="http://schemas.microsoft.com/office/powerpoint/2010/main" val="264785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9751E-1F3D-7DDB-AAA3-2F3FB0B4B8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BCB05B-673D-BFA8-DE00-81E12C221A5B}"/>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7</a:t>
            </a:r>
            <a:endParaRPr spc="-20" dirty="0">
              <a:latin typeface="+mj-lt"/>
            </a:endParaRPr>
          </a:p>
        </p:txBody>
      </p:sp>
      <p:sp>
        <p:nvSpPr>
          <p:cNvPr id="5" name="object 5">
            <a:extLst>
              <a:ext uri="{FF2B5EF4-FFF2-40B4-BE49-F238E27FC236}">
                <a16:creationId xmlns:a16="http://schemas.microsoft.com/office/drawing/2014/main" id="{A38F158D-F4B4-0021-02D0-BC223FA993F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ABCA92A6-12BE-09E8-E0BB-D91351A4BA8B}"/>
              </a:ext>
            </a:extLst>
          </p:cNvPr>
          <p:cNvPicPr>
            <a:picLocks noChangeAspect="1"/>
          </p:cNvPicPr>
          <p:nvPr/>
        </p:nvPicPr>
        <p:blipFill>
          <a:blip r:embed="rId2"/>
          <a:srcRect l="10806" t="45269" r="30833" b="15926"/>
          <a:stretch>
            <a:fillRect/>
          </a:stretch>
        </p:blipFill>
        <p:spPr>
          <a:xfrm>
            <a:off x="-1" y="861521"/>
            <a:ext cx="9120249" cy="3420049"/>
          </a:xfrm>
          <a:prstGeom prst="rect">
            <a:avLst/>
          </a:prstGeom>
        </p:spPr>
      </p:pic>
      <p:sp>
        <p:nvSpPr>
          <p:cNvPr id="9" name="TextBox 8">
            <a:extLst>
              <a:ext uri="{FF2B5EF4-FFF2-40B4-BE49-F238E27FC236}">
                <a16:creationId xmlns:a16="http://schemas.microsoft.com/office/drawing/2014/main" id="{7520A7F7-AB6E-CD8C-1CDE-986229FD1796}"/>
              </a:ext>
            </a:extLst>
          </p:cNvPr>
          <p:cNvSpPr txBox="1"/>
          <p:nvPr/>
        </p:nvSpPr>
        <p:spPr>
          <a:xfrm>
            <a:off x="-11875" y="4436826"/>
            <a:ext cx="9167750" cy="1964512"/>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In summary, we made the students table more detailed by adding campus info, and the merge still joins by ID while keeping all students listed.</a:t>
            </a:r>
          </a:p>
        </p:txBody>
      </p:sp>
    </p:spTree>
    <p:extLst>
      <p:ext uri="{BB962C8B-B14F-4D97-AF65-F5344CB8AC3E}">
        <p14:creationId xmlns:p14="http://schemas.microsoft.com/office/powerpoint/2010/main" val="879567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09F8-CFBE-2B07-B91D-D333157B6C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76B2DF-1C6C-5B84-E6AF-A1AB23AC022A}"/>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B77995F4-6F4F-2319-A6EB-18B78F3674A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70B85D47-8812-2BA8-6ABB-D311345D1100}"/>
              </a:ext>
            </a:extLst>
          </p:cNvPr>
          <p:cNvSpPr txBox="1"/>
          <p:nvPr/>
        </p:nvSpPr>
        <p:spPr>
          <a:xfrm>
            <a:off x="-23751" y="986265"/>
            <a:ext cx="9167751" cy="5803512"/>
          </a:xfrm>
          <a:prstGeom prst="rect">
            <a:avLst/>
          </a:prstGeom>
          <a:noFill/>
        </p:spPr>
        <p:txBody>
          <a:bodyPr wrap="square">
            <a:spAutoFit/>
          </a:bodyPr>
          <a:lstStyle/>
          <a:p>
            <a:pPr>
              <a:lnSpc>
                <a:spcPct val="150000"/>
              </a:lnSpc>
              <a:buNone/>
            </a:pPr>
            <a:r>
              <a:rPr lang="en-US" sz="2500" b="1" dirty="0">
                <a:latin typeface="+mj-lt"/>
              </a:rPr>
              <a:t>What If Column Names Differ?</a:t>
            </a:r>
          </a:p>
          <a:p>
            <a:pPr>
              <a:lnSpc>
                <a:spcPct val="150000"/>
              </a:lnSpc>
              <a:buNone/>
            </a:pPr>
            <a:r>
              <a:rPr lang="en-US" sz="2500" dirty="0">
                <a:latin typeface="+mj-lt"/>
              </a:rPr>
              <a:t>Task Instructions (Step-by-Step in Simple Terms):</a:t>
            </a:r>
          </a:p>
          <a:p>
            <a:pPr marL="457200" indent="-457200">
              <a:lnSpc>
                <a:spcPct val="150000"/>
              </a:lnSpc>
              <a:buFont typeface="+mj-lt"/>
              <a:buAutoNum type="arabicPeriod"/>
            </a:pPr>
            <a:r>
              <a:rPr lang="en-US" sz="2500" dirty="0">
                <a:latin typeface="+mj-lt"/>
              </a:rPr>
              <a:t>Create a new table called grades2</a:t>
            </a:r>
          </a:p>
          <a:p>
            <a:pPr marL="800100" lvl="1" indent="-342900">
              <a:lnSpc>
                <a:spcPct val="150000"/>
              </a:lnSpc>
              <a:buFont typeface="Arial" panose="020B0604020202020204" pitchFamily="34" charset="0"/>
              <a:buChar char="•"/>
            </a:pPr>
            <a:r>
              <a:rPr lang="en-US" sz="2500" dirty="0">
                <a:latin typeface="+mj-lt"/>
              </a:rPr>
              <a:t>This table should have two columns:</a:t>
            </a:r>
          </a:p>
          <a:p>
            <a:pPr marL="1257300" lvl="2" indent="-342900">
              <a:lnSpc>
                <a:spcPct val="150000"/>
              </a:lnSpc>
              <a:buFont typeface="Arial" panose="020B0604020202020204" pitchFamily="34" charset="0"/>
              <a:buChar char="•"/>
            </a:pPr>
            <a:r>
              <a:rPr lang="en-US" sz="2500" dirty="0" err="1">
                <a:latin typeface="+mj-lt"/>
              </a:rPr>
              <a:t>student_id</a:t>
            </a:r>
            <a:r>
              <a:rPr lang="en-US" sz="2500" dirty="0">
                <a:latin typeface="+mj-lt"/>
              </a:rPr>
              <a:t> → like the ID card number</a:t>
            </a:r>
          </a:p>
          <a:p>
            <a:pPr marL="1257300" lvl="2" indent="-342900">
              <a:lnSpc>
                <a:spcPct val="150000"/>
              </a:lnSpc>
              <a:buFont typeface="Arial" panose="020B0604020202020204" pitchFamily="34" charset="0"/>
              <a:buChar char="•"/>
            </a:pPr>
            <a:r>
              <a:rPr lang="en-US" sz="2500" dirty="0">
                <a:latin typeface="+mj-lt"/>
              </a:rPr>
              <a:t>grade → the letter grade (A, B, or C)</a:t>
            </a:r>
          </a:p>
          <a:p>
            <a:pPr marL="457200" indent="-457200">
              <a:lnSpc>
                <a:spcPct val="150000"/>
              </a:lnSpc>
              <a:buFont typeface="+mj-lt"/>
              <a:buAutoNum type="arabicPeriod"/>
            </a:pPr>
            <a:r>
              <a:rPr lang="en-US" sz="2500" dirty="0">
                <a:latin typeface="+mj-lt"/>
              </a:rPr>
              <a:t>Notice that this new table doesn’t use the same column name as the students table — it uses </a:t>
            </a:r>
            <a:r>
              <a:rPr lang="en-US" sz="2500" dirty="0" err="1">
                <a:latin typeface="+mj-lt"/>
              </a:rPr>
              <a:t>student_id</a:t>
            </a:r>
            <a:r>
              <a:rPr lang="en-US" sz="2500" dirty="0">
                <a:latin typeface="+mj-lt"/>
              </a:rPr>
              <a:t> instead of id.</a:t>
            </a:r>
            <a:br>
              <a:rPr lang="en-US" sz="2500" dirty="0">
                <a:latin typeface="+mj-lt"/>
              </a:rPr>
            </a:br>
            <a:r>
              <a:rPr lang="en-US" sz="2500" dirty="0">
                <a:latin typeface="+mj-lt"/>
              </a:rPr>
              <a:t>This difference is important because Pandas needs to know which columns to match.</a:t>
            </a:r>
          </a:p>
        </p:txBody>
      </p:sp>
      <p:pic>
        <p:nvPicPr>
          <p:cNvPr id="6" name="Timer">
            <a:hlinkClick r:id="" action="ppaction://media"/>
            <a:extLst>
              <a:ext uri="{FF2B5EF4-FFF2-40B4-BE49-F238E27FC236}">
                <a16:creationId xmlns:a16="http://schemas.microsoft.com/office/drawing/2014/main" id="{82BEAC15-3BB8-A7F4-FD90-F27C045779E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7447876" y="1600200"/>
            <a:ext cx="1683834" cy="758283"/>
          </a:xfrm>
          <a:prstGeom prst="rect">
            <a:avLst/>
          </a:prstGeom>
          <a:ln w="38100">
            <a:solidFill>
              <a:srgbClr val="FF0000"/>
            </a:solidFill>
          </a:ln>
        </p:spPr>
      </p:pic>
    </p:spTree>
    <p:extLst>
      <p:ext uri="{BB962C8B-B14F-4D97-AF65-F5344CB8AC3E}">
        <p14:creationId xmlns:p14="http://schemas.microsoft.com/office/powerpoint/2010/main" val="3305328461"/>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7396-D954-1EAB-425E-67B23259AFA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9CECCE-2E53-47CC-8F01-AB8A3FCB9319}"/>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F2D8E4AC-AF96-6590-710C-238DA233A74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3A7E058A-A68A-2930-5948-B09E525BF7CD}"/>
              </a:ext>
            </a:extLst>
          </p:cNvPr>
          <p:cNvSpPr txBox="1"/>
          <p:nvPr/>
        </p:nvSpPr>
        <p:spPr>
          <a:xfrm>
            <a:off x="-23751" y="838200"/>
            <a:ext cx="9167751" cy="5803512"/>
          </a:xfrm>
          <a:prstGeom prst="rect">
            <a:avLst/>
          </a:prstGeom>
          <a:noFill/>
        </p:spPr>
        <p:txBody>
          <a:bodyPr wrap="square">
            <a:spAutoFit/>
          </a:bodyPr>
          <a:lstStyle/>
          <a:p>
            <a:pPr marL="457200" indent="-457200">
              <a:lnSpc>
                <a:spcPct val="150000"/>
              </a:lnSpc>
              <a:buFont typeface="+mj-lt"/>
              <a:buAutoNum type="arabicPeriod" startAt="3"/>
            </a:pPr>
            <a:r>
              <a:rPr lang="en-US" sz="2500" dirty="0">
                <a:latin typeface="+mj-lt"/>
              </a:rPr>
              <a:t>Merge the two tables (students and grades2) using </a:t>
            </a:r>
            <a:r>
              <a:rPr lang="en-US" sz="2500" dirty="0" err="1">
                <a:latin typeface="+mj-lt"/>
              </a:rPr>
              <a:t>pd.merge</a:t>
            </a:r>
            <a:r>
              <a:rPr lang="en-US" sz="2500" dirty="0">
                <a:latin typeface="+mj-lt"/>
              </a:rPr>
              <a:t>().</a:t>
            </a:r>
          </a:p>
          <a:p>
            <a:pPr marL="800100" lvl="1" indent="-342900">
              <a:lnSpc>
                <a:spcPct val="150000"/>
              </a:lnSpc>
              <a:buFont typeface="Arial" panose="020B0604020202020204" pitchFamily="34" charset="0"/>
              <a:buChar char="•"/>
            </a:pPr>
            <a:r>
              <a:rPr lang="en-US" sz="2500" dirty="0">
                <a:latin typeface="+mj-lt"/>
              </a:rPr>
              <a:t>Use the parameter </a:t>
            </a:r>
            <a:r>
              <a:rPr lang="en-US" sz="2500" dirty="0" err="1">
                <a:latin typeface="+mj-lt"/>
              </a:rPr>
              <a:t>left_on</a:t>
            </a:r>
            <a:r>
              <a:rPr lang="en-US" sz="2500" dirty="0">
                <a:latin typeface="+mj-lt"/>
              </a:rPr>
              <a:t>='id' to tell Pandas:</a:t>
            </a:r>
            <a:br>
              <a:rPr lang="en-US" sz="2500" dirty="0">
                <a:latin typeface="+mj-lt"/>
              </a:rPr>
            </a:br>
            <a:r>
              <a:rPr lang="en-US" sz="2500" dirty="0">
                <a:latin typeface="+mj-lt"/>
              </a:rPr>
              <a:t>“The left table uses the column called id.”</a:t>
            </a:r>
          </a:p>
          <a:p>
            <a:pPr marL="800100" lvl="1" indent="-342900">
              <a:lnSpc>
                <a:spcPct val="150000"/>
              </a:lnSpc>
              <a:buFont typeface="Arial" panose="020B0604020202020204" pitchFamily="34" charset="0"/>
              <a:buChar char="•"/>
            </a:pPr>
            <a:r>
              <a:rPr lang="en-US" sz="2500" dirty="0">
                <a:latin typeface="+mj-lt"/>
              </a:rPr>
              <a:t>Use the parameter </a:t>
            </a:r>
            <a:r>
              <a:rPr lang="en-US" sz="2500" dirty="0" err="1">
                <a:latin typeface="+mj-lt"/>
              </a:rPr>
              <a:t>right_on</a:t>
            </a:r>
            <a:r>
              <a:rPr lang="en-US" sz="2500" dirty="0">
                <a:latin typeface="+mj-lt"/>
              </a:rPr>
              <a:t>='</a:t>
            </a:r>
            <a:r>
              <a:rPr lang="en-US" sz="2500" dirty="0" err="1">
                <a:latin typeface="+mj-lt"/>
              </a:rPr>
              <a:t>student_id</a:t>
            </a:r>
            <a:r>
              <a:rPr lang="en-US" sz="2500" dirty="0">
                <a:latin typeface="+mj-lt"/>
              </a:rPr>
              <a:t>' to tell Pandas:</a:t>
            </a:r>
            <a:br>
              <a:rPr lang="en-US" sz="2500" dirty="0">
                <a:latin typeface="+mj-lt"/>
              </a:rPr>
            </a:br>
            <a:r>
              <a:rPr lang="en-US" sz="2500" dirty="0">
                <a:latin typeface="+mj-lt"/>
              </a:rPr>
              <a:t>“The right table uses the column called </a:t>
            </a:r>
            <a:r>
              <a:rPr lang="en-US" sz="2500" dirty="0" err="1">
                <a:latin typeface="+mj-lt"/>
              </a:rPr>
              <a:t>student_id</a:t>
            </a:r>
            <a:r>
              <a:rPr lang="en-US" sz="2500" dirty="0">
                <a:latin typeface="+mj-lt"/>
              </a:rPr>
              <a:t>.”</a:t>
            </a:r>
          </a:p>
          <a:p>
            <a:pPr marL="800100" lvl="1" indent="-342900">
              <a:lnSpc>
                <a:spcPct val="150000"/>
              </a:lnSpc>
              <a:buFont typeface="Arial" panose="020B0604020202020204" pitchFamily="34" charset="0"/>
              <a:buChar char="•"/>
            </a:pPr>
            <a:r>
              <a:rPr lang="en-US" sz="2500" dirty="0">
                <a:latin typeface="+mj-lt"/>
              </a:rPr>
              <a:t>Use how='left' to keep all students, even if some don’t have a matching grade.</a:t>
            </a:r>
          </a:p>
          <a:p>
            <a:pPr marL="457200" indent="-457200">
              <a:lnSpc>
                <a:spcPct val="150000"/>
              </a:lnSpc>
              <a:buFont typeface="+mj-lt"/>
              <a:buAutoNum type="arabicPeriod" startAt="4"/>
            </a:pPr>
            <a:r>
              <a:rPr lang="en-US" sz="2500" dirty="0">
                <a:latin typeface="+mj-lt"/>
              </a:rPr>
              <a:t>Print the merged result and check:</a:t>
            </a:r>
          </a:p>
          <a:p>
            <a:pPr marL="800100" lvl="1" indent="-342900">
              <a:lnSpc>
                <a:spcPct val="150000"/>
              </a:lnSpc>
              <a:buFont typeface="Arial" panose="020B0604020202020204" pitchFamily="34" charset="0"/>
              <a:buChar char="•"/>
            </a:pPr>
            <a:r>
              <a:rPr lang="en-US" sz="2500" dirty="0">
                <a:latin typeface="+mj-lt"/>
              </a:rPr>
              <a:t>Which students got matched correctly?</a:t>
            </a:r>
          </a:p>
          <a:p>
            <a:pPr marL="800100" lvl="1" indent="-342900">
              <a:lnSpc>
                <a:spcPct val="150000"/>
              </a:lnSpc>
              <a:buFont typeface="Arial" panose="020B0604020202020204" pitchFamily="34" charset="0"/>
              <a:buChar char="•"/>
            </a:pPr>
            <a:r>
              <a:rPr lang="en-US" sz="2500" dirty="0">
                <a:latin typeface="+mj-lt"/>
              </a:rPr>
              <a:t>Which students have </a:t>
            </a:r>
            <a:r>
              <a:rPr lang="en-US" sz="2500" dirty="0" err="1">
                <a:latin typeface="+mj-lt"/>
              </a:rPr>
              <a:t>NaN</a:t>
            </a:r>
            <a:r>
              <a:rPr lang="en-US" sz="2500" dirty="0">
                <a:latin typeface="+mj-lt"/>
              </a:rPr>
              <a:t> (missing grade)?</a:t>
            </a:r>
          </a:p>
        </p:txBody>
      </p:sp>
    </p:spTree>
    <p:extLst>
      <p:ext uri="{BB962C8B-B14F-4D97-AF65-F5344CB8AC3E}">
        <p14:creationId xmlns:p14="http://schemas.microsoft.com/office/powerpoint/2010/main" val="39216903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B8D82-1E8A-3443-9187-E3A20FBD02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C9276F4-811C-BEE4-9343-73A777026A1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385823D4-C8C1-EB52-6CCA-3BF63B0E56D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96C51FE4-2F6D-9931-DD72-B9FEBB5B5BD1}"/>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9" name="Rectangle: Rounded Corners 8">
            <a:extLst>
              <a:ext uri="{FF2B5EF4-FFF2-40B4-BE49-F238E27FC236}">
                <a16:creationId xmlns:a16="http://schemas.microsoft.com/office/drawing/2014/main" id="{E84832E1-2BD9-4E89-F138-F0CA2B820179}"/>
              </a:ext>
            </a:extLst>
          </p:cNvPr>
          <p:cNvSpPr/>
          <p:nvPr/>
        </p:nvSpPr>
        <p:spPr>
          <a:xfrm>
            <a:off x="925193" y="2313244"/>
            <a:ext cx="3733800" cy="762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212F53-34E9-6EE3-F124-2E2F79CBBE8B}"/>
              </a:ext>
            </a:extLst>
          </p:cNvPr>
          <p:cNvSpPr txBox="1"/>
          <p:nvPr/>
        </p:nvSpPr>
        <p:spPr>
          <a:xfrm>
            <a:off x="0" y="5664777"/>
            <a:ext cx="9144000" cy="1318181"/>
          </a:xfrm>
          <a:prstGeom prst="rect">
            <a:avLst/>
          </a:prstGeom>
          <a:solidFill>
            <a:schemeClr val="bg1"/>
          </a:solidFill>
        </p:spPr>
        <p:txBody>
          <a:bodyPr wrap="square">
            <a:spAutoFit/>
          </a:bodyPr>
          <a:lstStyle/>
          <a:p>
            <a:pPr>
              <a:lnSpc>
                <a:spcPct val="150000"/>
              </a:lnSpc>
            </a:pPr>
            <a:r>
              <a:rPr lang="en-US" sz="2800" dirty="0">
                <a:latin typeface="+mj-lt"/>
              </a:rPr>
              <a:t>Notice that the column name is </a:t>
            </a:r>
            <a:r>
              <a:rPr lang="en-US" sz="2800" dirty="0" err="1">
                <a:latin typeface="+mj-lt"/>
              </a:rPr>
              <a:t>student_id</a:t>
            </a:r>
            <a:r>
              <a:rPr lang="en-US" sz="2800" dirty="0">
                <a:latin typeface="+mj-lt"/>
              </a:rPr>
              <a:t>, not id — this is different from the earlier students table.</a:t>
            </a:r>
          </a:p>
        </p:txBody>
      </p:sp>
      <p:sp>
        <p:nvSpPr>
          <p:cNvPr id="8" name="TextBox 7">
            <a:extLst>
              <a:ext uri="{FF2B5EF4-FFF2-40B4-BE49-F238E27FC236}">
                <a16:creationId xmlns:a16="http://schemas.microsoft.com/office/drawing/2014/main" id="{BE24807C-53E2-D3E9-7F15-B488B09DAD89}"/>
              </a:ext>
            </a:extLst>
          </p:cNvPr>
          <p:cNvSpPr txBox="1"/>
          <p:nvPr/>
        </p:nvSpPr>
        <p:spPr>
          <a:xfrm>
            <a:off x="5302045" y="534132"/>
            <a:ext cx="3841955" cy="5196166"/>
          </a:xfrm>
          <a:prstGeom prst="rect">
            <a:avLst/>
          </a:prstGeom>
          <a:solidFill>
            <a:schemeClr val="bg1"/>
          </a:solidFill>
          <a:ln>
            <a:solidFill>
              <a:srgbClr val="FF0000"/>
            </a:solidFill>
          </a:ln>
        </p:spPr>
        <p:txBody>
          <a:bodyPr wrap="square">
            <a:spAutoFit/>
          </a:bodyPr>
          <a:lstStyle/>
          <a:p>
            <a:pPr>
              <a:lnSpc>
                <a:spcPct val="150000"/>
              </a:lnSpc>
              <a:buNone/>
            </a:pPr>
            <a:r>
              <a:rPr lang="en-US" sz="2800" dirty="0">
                <a:latin typeface="+mj-lt"/>
              </a:rPr>
              <a:t>We create a new table (</a:t>
            </a:r>
            <a:r>
              <a:rPr lang="en-US" sz="2800" dirty="0" err="1">
                <a:latin typeface="+mj-lt"/>
              </a:rPr>
              <a:t>DataFrame</a:t>
            </a:r>
            <a:r>
              <a:rPr lang="en-US" sz="2800" dirty="0">
                <a:latin typeface="+mj-lt"/>
              </a:rPr>
              <a:t>) named grades2.</a:t>
            </a:r>
            <a:br>
              <a:rPr lang="en-US" sz="2800" dirty="0">
                <a:latin typeface="+mj-lt"/>
              </a:rPr>
            </a:br>
            <a:r>
              <a:rPr lang="en-US" sz="2800" dirty="0">
                <a:latin typeface="+mj-lt"/>
              </a:rPr>
              <a:t>It has two columns:</a:t>
            </a:r>
          </a:p>
          <a:p>
            <a:pPr marL="457200" indent="-457200">
              <a:lnSpc>
                <a:spcPct val="150000"/>
              </a:lnSpc>
              <a:buFont typeface="Arial" panose="020B0604020202020204" pitchFamily="34" charset="0"/>
              <a:buChar char="•"/>
            </a:pPr>
            <a:r>
              <a:rPr lang="en-US" sz="2800" dirty="0" err="1">
                <a:latin typeface="+mj-lt"/>
              </a:rPr>
              <a:t>student_id</a:t>
            </a:r>
            <a:r>
              <a:rPr lang="en-US" sz="2800" dirty="0">
                <a:latin typeface="+mj-lt"/>
              </a:rPr>
              <a:t> → the student’s ID number</a:t>
            </a:r>
          </a:p>
          <a:p>
            <a:pPr marL="457200" indent="-457200">
              <a:lnSpc>
                <a:spcPct val="150000"/>
              </a:lnSpc>
              <a:buFont typeface="Arial" panose="020B0604020202020204" pitchFamily="34" charset="0"/>
              <a:buChar char="•"/>
            </a:pPr>
            <a:r>
              <a:rPr lang="en-US" sz="2800" dirty="0">
                <a:latin typeface="+mj-lt"/>
              </a:rPr>
              <a:t>grade → the student’s letter grade</a:t>
            </a:r>
          </a:p>
        </p:txBody>
      </p:sp>
    </p:spTree>
    <p:extLst>
      <p:ext uri="{BB962C8B-B14F-4D97-AF65-F5344CB8AC3E}">
        <p14:creationId xmlns:p14="http://schemas.microsoft.com/office/powerpoint/2010/main" val="2914606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A582-5604-2764-4E3F-32C87B634E9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BC96AF-28B8-8257-9DAF-45E992D83A3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9D1A99DB-B82E-C3FB-9258-4ED6E15846E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4937313A-DD8F-864C-624A-9CB00EDE8B97}"/>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9" name="Rectangle: Rounded Corners 8">
            <a:extLst>
              <a:ext uri="{FF2B5EF4-FFF2-40B4-BE49-F238E27FC236}">
                <a16:creationId xmlns:a16="http://schemas.microsoft.com/office/drawing/2014/main" id="{D9ACE856-88B9-FE00-2475-483180898671}"/>
              </a:ext>
            </a:extLst>
          </p:cNvPr>
          <p:cNvSpPr/>
          <p:nvPr/>
        </p:nvSpPr>
        <p:spPr>
          <a:xfrm>
            <a:off x="882445" y="3132215"/>
            <a:ext cx="4375353" cy="71495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3D6D69D-F1E2-B250-D6B0-F559DF2595F4}"/>
              </a:ext>
            </a:extLst>
          </p:cNvPr>
          <p:cNvSpPr txBox="1"/>
          <p:nvPr/>
        </p:nvSpPr>
        <p:spPr>
          <a:xfrm>
            <a:off x="60135" y="5085707"/>
            <a:ext cx="5257798" cy="1563377"/>
          </a:xfrm>
          <a:prstGeom prst="rect">
            <a:avLst/>
          </a:prstGeom>
          <a:solidFill>
            <a:schemeClr val="bg1"/>
          </a:solidFill>
          <a:ln>
            <a:solidFill>
              <a:srgbClr val="FF0000"/>
            </a:solidFill>
          </a:ln>
        </p:spPr>
        <p:txBody>
          <a:bodyPr wrap="square">
            <a:spAutoFit/>
          </a:bodyPr>
          <a:lstStyle/>
          <a:p>
            <a:pPr>
              <a:lnSpc>
                <a:spcPct val="150000"/>
              </a:lnSpc>
            </a:pPr>
            <a:r>
              <a:rPr lang="en-US" sz="2200" dirty="0">
                <a:latin typeface="+mj-lt"/>
              </a:rPr>
              <a:t>In short: we’re saying “Match students and grades using the ID columns, even though the column names are different.”</a:t>
            </a:r>
          </a:p>
        </p:txBody>
      </p:sp>
      <p:sp>
        <p:nvSpPr>
          <p:cNvPr id="8" name="TextBox 7">
            <a:extLst>
              <a:ext uri="{FF2B5EF4-FFF2-40B4-BE49-F238E27FC236}">
                <a16:creationId xmlns:a16="http://schemas.microsoft.com/office/drawing/2014/main" id="{F41216B6-142A-8E0B-A086-55A2090F8BE0}"/>
              </a:ext>
            </a:extLst>
          </p:cNvPr>
          <p:cNvSpPr txBox="1"/>
          <p:nvPr/>
        </p:nvSpPr>
        <p:spPr>
          <a:xfrm>
            <a:off x="5313017" y="740868"/>
            <a:ext cx="3841955" cy="6133859"/>
          </a:xfrm>
          <a:prstGeom prst="rect">
            <a:avLst/>
          </a:prstGeom>
          <a:solidFill>
            <a:schemeClr val="bg1"/>
          </a:solidFill>
          <a:ln>
            <a:solidFill>
              <a:srgbClr val="FF0000"/>
            </a:solidFill>
          </a:ln>
        </p:spPr>
        <p:txBody>
          <a:bodyPr wrap="square">
            <a:spAutoFit/>
          </a:bodyPr>
          <a:lstStyle/>
          <a:p>
            <a:pPr>
              <a:lnSpc>
                <a:spcPct val="150000"/>
              </a:lnSpc>
            </a:pPr>
            <a:r>
              <a:rPr lang="en-US" sz="2200" dirty="0">
                <a:latin typeface="+mj-lt"/>
              </a:rPr>
              <a:t>This line combines (merges) the students table with grades2.</a:t>
            </a:r>
          </a:p>
          <a:p>
            <a:pPr marL="342900" indent="-342900">
              <a:lnSpc>
                <a:spcPct val="150000"/>
              </a:lnSpc>
              <a:buFont typeface="Arial" panose="020B0604020202020204" pitchFamily="34" charset="0"/>
              <a:buChar char="•"/>
            </a:pPr>
            <a:r>
              <a:rPr lang="en-US" sz="2200" dirty="0" err="1">
                <a:latin typeface="+mj-lt"/>
              </a:rPr>
              <a:t>left_on</a:t>
            </a:r>
            <a:r>
              <a:rPr lang="en-US" sz="2200" dirty="0">
                <a:latin typeface="+mj-lt"/>
              </a:rPr>
              <a:t>='id' → The column name used in the students table.</a:t>
            </a:r>
          </a:p>
          <a:p>
            <a:pPr marL="342900" indent="-342900">
              <a:lnSpc>
                <a:spcPct val="150000"/>
              </a:lnSpc>
              <a:buFont typeface="Arial" panose="020B0604020202020204" pitchFamily="34" charset="0"/>
              <a:buChar char="•"/>
            </a:pPr>
            <a:r>
              <a:rPr lang="en-US" sz="2200" dirty="0" err="1">
                <a:latin typeface="+mj-lt"/>
              </a:rPr>
              <a:t>right_on</a:t>
            </a:r>
            <a:r>
              <a:rPr lang="en-US" sz="2200" dirty="0">
                <a:latin typeface="+mj-lt"/>
              </a:rPr>
              <a:t>='</a:t>
            </a:r>
            <a:r>
              <a:rPr lang="en-US" sz="2200" dirty="0" err="1">
                <a:latin typeface="+mj-lt"/>
              </a:rPr>
              <a:t>student_id</a:t>
            </a:r>
            <a:r>
              <a:rPr lang="en-US" sz="2200" dirty="0">
                <a:latin typeface="+mj-lt"/>
              </a:rPr>
              <a:t>' → The column name used in the grades2 table.</a:t>
            </a:r>
          </a:p>
          <a:p>
            <a:pPr marL="342900" indent="-342900">
              <a:lnSpc>
                <a:spcPct val="150000"/>
              </a:lnSpc>
              <a:buFont typeface="Arial" panose="020B0604020202020204" pitchFamily="34" charset="0"/>
              <a:buChar char="•"/>
            </a:pPr>
            <a:r>
              <a:rPr lang="en-US" sz="2200" dirty="0">
                <a:latin typeface="+mj-lt"/>
              </a:rPr>
              <a:t>how='left' → Keep all students from the left table (students), even if they don’t have a grade.</a:t>
            </a:r>
          </a:p>
        </p:txBody>
      </p:sp>
    </p:spTree>
    <p:extLst>
      <p:ext uri="{BB962C8B-B14F-4D97-AF65-F5344CB8AC3E}">
        <p14:creationId xmlns:p14="http://schemas.microsoft.com/office/powerpoint/2010/main" val="4197757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84D4-50EB-C450-649A-BC6E4FFE2C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A97E44-BA55-AEFF-89C5-5B5BFEC0A1E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DB567C53-602C-7C31-78B5-1852A6EA92F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C7B4DDE5-817D-2362-3C0A-0C29A9C60B71}"/>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9" name="Rectangle: Rounded Corners 8">
            <a:extLst>
              <a:ext uri="{FF2B5EF4-FFF2-40B4-BE49-F238E27FC236}">
                <a16:creationId xmlns:a16="http://schemas.microsoft.com/office/drawing/2014/main" id="{7C3B6440-1487-0DE5-EDD0-72ABF3A5439B}"/>
              </a:ext>
            </a:extLst>
          </p:cNvPr>
          <p:cNvSpPr/>
          <p:nvPr/>
        </p:nvSpPr>
        <p:spPr>
          <a:xfrm>
            <a:off x="914400" y="3841596"/>
            <a:ext cx="4375353" cy="18155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DC26618-B440-4DF1-67E5-1848633F675A}"/>
              </a:ext>
            </a:extLst>
          </p:cNvPr>
          <p:cNvSpPr txBox="1"/>
          <p:nvPr/>
        </p:nvSpPr>
        <p:spPr>
          <a:xfrm>
            <a:off x="22123" y="5238413"/>
            <a:ext cx="9099753" cy="131818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This prints out the new merged table so we can see the combined results.</a:t>
            </a:r>
          </a:p>
        </p:txBody>
      </p:sp>
    </p:spTree>
    <p:extLst>
      <p:ext uri="{BB962C8B-B14F-4D97-AF65-F5344CB8AC3E}">
        <p14:creationId xmlns:p14="http://schemas.microsoft.com/office/powerpoint/2010/main" val="19630600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089C4-670E-84D7-2950-89DC881934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872798-65BE-E057-9278-22BCA09B70C6}"/>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9603E2C5-F779-7622-94FC-9BE8D3041CE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26428057-92DC-1775-E3E5-3CC1B35C037B}"/>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9" name="Rectangle: Rounded Corners 8">
            <a:extLst>
              <a:ext uri="{FF2B5EF4-FFF2-40B4-BE49-F238E27FC236}">
                <a16:creationId xmlns:a16="http://schemas.microsoft.com/office/drawing/2014/main" id="{266E12D1-F370-1332-F2A2-5C7E4CF56AB0}"/>
              </a:ext>
            </a:extLst>
          </p:cNvPr>
          <p:cNvSpPr/>
          <p:nvPr/>
        </p:nvSpPr>
        <p:spPr>
          <a:xfrm>
            <a:off x="914401" y="4038600"/>
            <a:ext cx="3429000" cy="89608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9601735-1D16-6D56-D3A4-F300EEDAB7AA}"/>
              </a:ext>
            </a:extLst>
          </p:cNvPr>
          <p:cNvSpPr txBox="1"/>
          <p:nvPr/>
        </p:nvSpPr>
        <p:spPr>
          <a:xfrm>
            <a:off x="5213556" y="1015503"/>
            <a:ext cx="3934161" cy="5842497"/>
          </a:xfrm>
          <a:prstGeom prst="rect">
            <a:avLst/>
          </a:prstGeom>
          <a:solidFill>
            <a:schemeClr val="bg1"/>
          </a:solidFill>
          <a:ln>
            <a:solidFill>
              <a:srgbClr val="FF0000"/>
            </a:solidFill>
          </a:ln>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The merge successfully matched students and grades using id (left table) and </a:t>
            </a:r>
            <a:r>
              <a:rPr kumimoji="0" lang="en-US" altLang="en-US" sz="2800" i="0" u="none" strike="noStrike" cap="none" normalizeH="0" baseline="0" dirty="0" err="1">
                <a:ln>
                  <a:noFill/>
                </a:ln>
                <a:solidFill>
                  <a:schemeClr val="tx1"/>
                </a:solidFill>
                <a:effectLst/>
                <a:latin typeface="+mj-lt"/>
              </a:rPr>
              <a:t>student_id</a:t>
            </a:r>
            <a:r>
              <a:rPr kumimoji="0" lang="en-US" altLang="en-US" sz="2800" i="0" u="none" strike="noStrike" cap="none" normalizeH="0" baseline="0" dirty="0">
                <a:ln>
                  <a:noFill/>
                </a:ln>
                <a:solidFill>
                  <a:schemeClr val="tx1"/>
                </a:solidFill>
                <a:effectLst/>
                <a:latin typeface="+mj-lt"/>
              </a:rPr>
              <a:t> (right table).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Farshid, Olivia, and Liam have matching grades (A, B, and C).</a:t>
            </a:r>
          </a:p>
        </p:txBody>
      </p:sp>
    </p:spTree>
    <p:extLst>
      <p:ext uri="{BB962C8B-B14F-4D97-AF65-F5344CB8AC3E}">
        <p14:creationId xmlns:p14="http://schemas.microsoft.com/office/powerpoint/2010/main" val="1879294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8BEDD-571C-D4C6-BD8B-77C7B689EE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28C4465-4F1C-590F-1EEB-0CDC39DA078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D310EC8E-1376-AA6B-D0FF-3C9E39BC15D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F05C6A3A-8166-FC2B-C840-81418D4AD1DE}"/>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12" name="TextBox 11">
            <a:extLst>
              <a:ext uri="{FF2B5EF4-FFF2-40B4-BE49-F238E27FC236}">
                <a16:creationId xmlns:a16="http://schemas.microsoft.com/office/drawing/2014/main" id="{BF07854F-3B06-3D94-A9DF-7274D941D2CD}"/>
              </a:ext>
            </a:extLst>
          </p:cNvPr>
          <p:cNvSpPr txBox="1"/>
          <p:nvPr/>
        </p:nvSpPr>
        <p:spPr>
          <a:xfrm>
            <a:off x="5227046" y="558713"/>
            <a:ext cx="3934162" cy="6260368"/>
          </a:xfrm>
          <a:prstGeom prst="rect">
            <a:avLst/>
          </a:prstGeom>
          <a:solidFill>
            <a:schemeClr val="bg1"/>
          </a:solidFill>
          <a:ln>
            <a:solidFill>
              <a:srgbClr val="FF0000"/>
            </a:solidFill>
          </a:ln>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700" dirty="0">
                <a:solidFill>
                  <a:schemeClr val="tx1"/>
                </a:solidFill>
                <a:latin typeface="+mj-lt"/>
              </a:rPr>
              <a:t>Noah does not appear in the grades2 table, so his grade is shown as </a:t>
            </a:r>
            <a:r>
              <a:rPr lang="en-US" altLang="en-US" sz="2700" dirty="0" err="1">
                <a:solidFill>
                  <a:schemeClr val="tx1"/>
                </a:solidFill>
                <a:latin typeface="+mj-lt"/>
              </a:rPr>
              <a:t>NaN</a:t>
            </a:r>
            <a:r>
              <a:rPr lang="en-US" altLang="en-US" sz="2700" dirty="0">
                <a:solidFill>
                  <a:schemeClr val="tx1"/>
                </a:solidFill>
                <a:latin typeface="+mj-lt"/>
              </a:rPr>
              <a:t> (which means </a:t>
            </a:r>
            <a:r>
              <a:rPr lang="en-US" altLang="en-US" sz="2700" i="1" dirty="0">
                <a:solidFill>
                  <a:schemeClr val="tx1"/>
                </a:solidFill>
                <a:latin typeface="+mj-lt"/>
              </a:rPr>
              <a:t>no data</a:t>
            </a:r>
            <a:r>
              <a:rPr lang="en-US" altLang="en-US" sz="2700" dirty="0">
                <a:solidFill>
                  <a:schemeClr val="tx1"/>
                </a:solidFill>
                <a:latin typeface="+mj-lt"/>
              </a:rPr>
              <a:t> or </a:t>
            </a:r>
            <a:r>
              <a:rPr lang="en-US" altLang="en-US" sz="2700" i="1" dirty="0">
                <a:solidFill>
                  <a:schemeClr val="tx1"/>
                </a:solidFill>
                <a:latin typeface="+mj-lt"/>
              </a:rPr>
              <a:t>missing</a:t>
            </a:r>
            <a:r>
              <a:rPr lang="en-US" altLang="en-US" sz="2700" dirty="0">
                <a:solidFill>
                  <a:schemeClr val="tx1"/>
                </a:solidFill>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700" dirty="0">
                <a:solidFill>
                  <a:schemeClr val="tx1"/>
                </a:solidFill>
                <a:latin typeface="+mj-lt"/>
              </a:rPr>
              <a:t>Both column names (id and </a:t>
            </a:r>
            <a:r>
              <a:rPr lang="en-US" altLang="en-US" sz="2700" dirty="0" err="1">
                <a:solidFill>
                  <a:schemeClr val="tx1"/>
                </a:solidFill>
                <a:latin typeface="+mj-lt"/>
              </a:rPr>
              <a:t>student_id</a:t>
            </a:r>
            <a:r>
              <a:rPr lang="en-US" altLang="en-US" sz="2700" dirty="0">
                <a:solidFill>
                  <a:schemeClr val="tx1"/>
                </a:solidFill>
                <a:latin typeface="+mj-lt"/>
              </a:rPr>
              <a:t>) appear in the final table to remind us where each came from.</a:t>
            </a:r>
          </a:p>
        </p:txBody>
      </p:sp>
      <p:sp>
        <p:nvSpPr>
          <p:cNvPr id="9" name="Rectangle: Rounded Corners 8">
            <a:extLst>
              <a:ext uri="{FF2B5EF4-FFF2-40B4-BE49-F238E27FC236}">
                <a16:creationId xmlns:a16="http://schemas.microsoft.com/office/drawing/2014/main" id="{522B3522-7473-80F5-2BC3-250329C6D318}"/>
              </a:ext>
            </a:extLst>
          </p:cNvPr>
          <p:cNvSpPr/>
          <p:nvPr/>
        </p:nvSpPr>
        <p:spPr>
          <a:xfrm>
            <a:off x="914401" y="4038600"/>
            <a:ext cx="3429000" cy="89608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98428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A14A-80FE-C8DF-D2CE-AA243443E5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7AB90EC-697E-7C4F-A4F4-F3793F598A5B}"/>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8</a:t>
            </a:r>
            <a:endParaRPr spc="-20" dirty="0">
              <a:latin typeface="+mj-lt"/>
            </a:endParaRPr>
          </a:p>
        </p:txBody>
      </p:sp>
      <p:sp>
        <p:nvSpPr>
          <p:cNvPr id="5" name="object 5">
            <a:extLst>
              <a:ext uri="{FF2B5EF4-FFF2-40B4-BE49-F238E27FC236}">
                <a16:creationId xmlns:a16="http://schemas.microsoft.com/office/drawing/2014/main" id="{BE4426FA-A232-3853-9C62-1E653F0B349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E85CD85E-7438-4499-6315-BA221DFCE257}"/>
              </a:ext>
            </a:extLst>
          </p:cNvPr>
          <p:cNvPicPr>
            <a:picLocks noChangeAspect="1"/>
          </p:cNvPicPr>
          <p:nvPr/>
        </p:nvPicPr>
        <p:blipFill>
          <a:blip r:embed="rId2"/>
          <a:srcRect b="14445"/>
          <a:stretch>
            <a:fillRect/>
          </a:stretch>
        </p:blipFill>
        <p:spPr>
          <a:xfrm>
            <a:off x="44246" y="534132"/>
            <a:ext cx="9144000" cy="4400550"/>
          </a:xfrm>
          <a:prstGeom prst="rect">
            <a:avLst/>
          </a:prstGeom>
        </p:spPr>
      </p:pic>
      <p:sp>
        <p:nvSpPr>
          <p:cNvPr id="12" name="TextBox 11">
            <a:extLst>
              <a:ext uri="{FF2B5EF4-FFF2-40B4-BE49-F238E27FC236}">
                <a16:creationId xmlns:a16="http://schemas.microsoft.com/office/drawing/2014/main" id="{39295EAD-C72E-3338-6685-B9A4967EB2B2}"/>
              </a:ext>
            </a:extLst>
          </p:cNvPr>
          <p:cNvSpPr txBox="1"/>
          <p:nvPr/>
        </p:nvSpPr>
        <p:spPr>
          <a:xfrm>
            <a:off x="5278064" y="2308165"/>
            <a:ext cx="3910182" cy="454983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We just told Python:</a:t>
            </a:r>
          </a:p>
          <a:p>
            <a:pPr>
              <a:lnSpc>
                <a:spcPct val="150000"/>
              </a:lnSpc>
            </a:pPr>
            <a:r>
              <a:rPr lang="en-US" sz="2800" dirty="0">
                <a:latin typeface="+mj-lt"/>
              </a:rPr>
              <a:t>“Hey Pandas, my two tables have different column names for the same thing — please match them anyway using these names.”</a:t>
            </a:r>
          </a:p>
        </p:txBody>
      </p:sp>
    </p:spTree>
    <p:extLst>
      <p:ext uri="{BB962C8B-B14F-4D97-AF65-F5344CB8AC3E}">
        <p14:creationId xmlns:p14="http://schemas.microsoft.com/office/powerpoint/2010/main" val="38443970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3BFF-28C7-C642-2E3D-420140D274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197E393-7963-68BE-4F6B-6589856EB2D2}"/>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88FC3B73-D5A3-EB33-F31A-8973693754E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A80E356F-E5E2-9845-2F4D-246F7B6A41DD}"/>
              </a:ext>
            </a:extLst>
          </p:cNvPr>
          <p:cNvSpPr txBox="1"/>
          <p:nvPr/>
        </p:nvSpPr>
        <p:spPr>
          <a:xfrm>
            <a:off x="0" y="954504"/>
            <a:ext cx="9144000" cy="1318181"/>
          </a:xfrm>
          <a:prstGeom prst="rect">
            <a:avLst/>
          </a:prstGeom>
          <a:noFill/>
        </p:spPr>
        <p:txBody>
          <a:bodyPr wrap="square">
            <a:spAutoFit/>
          </a:bodyPr>
          <a:lstStyle/>
          <a:p>
            <a:pPr>
              <a:lnSpc>
                <a:spcPct val="150000"/>
              </a:lnSpc>
            </a:pPr>
            <a:r>
              <a:rPr lang="en-US" sz="2800" b="1" dirty="0">
                <a:latin typeface="+mj-lt"/>
              </a:rPr>
              <a:t>Reshaping</a:t>
            </a:r>
            <a:r>
              <a:rPr lang="en-US" sz="2800" dirty="0">
                <a:latin typeface="+mj-lt"/>
              </a:rPr>
              <a:t> means changing the </a:t>
            </a:r>
            <a:r>
              <a:rPr lang="en-US" sz="2800" i="1" dirty="0">
                <a:latin typeface="+mj-lt"/>
              </a:rPr>
              <a:t>shape</a:t>
            </a:r>
            <a:r>
              <a:rPr lang="en-US" sz="2800" dirty="0">
                <a:latin typeface="+mj-lt"/>
              </a:rPr>
              <a:t> of your data table — like rotating or unfolding it.</a:t>
            </a:r>
          </a:p>
        </p:txBody>
      </p:sp>
      <p:graphicFrame>
        <p:nvGraphicFramePr>
          <p:cNvPr id="7" name="Table 6">
            <a:extLst>
              <a:ext uri="{FF2B5EF4-FFF2-40B4-BE49-F238E27FC236}">
                <a16:creationId xmlns:a16="http://schemas.microsoft.com/office/drawing/2014/main" id="{CBE63A59-C29C-1AB1-08FA-4F9A549DBA45}"/>
              </a:ext>
            </a:extLst>
          </p:cNvPr>
          <p:cNvGraphicFramePr>
            <a:graphicFrameLocks noGrp="1"/>
          </p:cNvGraphicFramePr>
          <p:nvPr>
            <p:extLst>
              <p:ext uri="{D42A27DB-BD31-4B8C-83A1-F6EECF244321}">
                <p14:modId xmlns:p14="http://schemas.microsoft.com/office/powerpoint/2010/main" val="1548414776"/>
              </p:ext>
            </p:extLst>
          </p:nvPr>
        </p:nvGraphicFramePr>
        <p:xfrm>
          <a:off x="0" y="2260325"/>
          <a:ext cx="9144000" cy="4584360"/>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258457696"/>
                    </a:ext>
                  </a:extLst>
                </a:gridCol>
                <a:gridCol w="3048000">
                  <a:extLst>
                    <a:ext uri="{9D8B030D-6E8A-4147-A177-3AD203B41FA5}">
                      <a16:colId xmlns:a16="http://schemas.microsoft.com/office/drawing/2014/main" val="1815259099"/>
                    </a:ext>
                  </a:extLst>
                </a:gridCol>
                <a:gridCol w="3048000">
                  <a:extLst>
                    <a:ext uri="{9D8B030D-6E8A-4147-A177-3AD203B41FA5}">
                      <a16:colId xmlns:a16="http://schemas.microsoft.com/office/drawing/2014/main" val="67327811"/>
                    </a:ext>
                  </a:extLst>
                </a:gridCol>
              </a:tblGrid>
              <a:tr h="0">
                <a:tc>
                  <a:txBody>
                    <a:bodyPr/>
                    <a:lstStyle/>
                    <a:p>
                      <a:pPr>
                        <a:buNone/>
                      </a:pPr>
                      <a:r>
                        <a:rPr lang="en-US" sz="2800" dirty="0"/>
                        <a:t>Function</a:t>
                      </a:r>
                      <a:endParaRPr lang="en-US" sz="2800" dirty="0">
                        <a:latin typeface="+mj-lt"/>
                      </a:endParaRPr>
                    </a:p>
                  </a:txBody>
                  <a:tcPr marL="63432" marR="63432" marT="31716" marB="31716" anchor="ctr">
                    <a:solidFill>
                      <a:schemeClr val="accent4">
                        <a:lumMod val="20000"/>
                        <a:lumOff val="80000"/>
                      </a:schemeClr>
                    </a:solidFill>
                  </a:tcPr>
                </a:tc>
                <a:tc>
                  <a:txBody>
                    <a:bodyPr/>
                    <a:lstStyle/>
                    <a:p>
                      <a:pPr>
                        <a:buNone/>
                      </a:pPr>
                      <a:r>
                        <a:rPr lang="en-US" sz="2800" dirty="0"/>
                        <a:t>What It Does</a:t>
                      </a:r>
                      <a:endParaRPr lang="en-US" sz="2800" dirty="0">
                        <a:latin typeface="+mj-lt"/>
                      </a:endParaRPr>
                    </a:p>
                  </a:txBody>
                  <a:tcPr marL="63432" marR="63432" marT="31716" marB="31716" anchor="ctr">
                    <a:solidFill>
                      <a:schemeClr val="accent4">
                        <a:lumMod val="20000"/>
                        <a:lumOff val="80000"/>
                      </a:schemeClr>
                    </a:solidFill>
                  </a:tcPr>
                </a:tc>
                <a:tc>
                  <a:txBody>
                    <a:bodyPr/>
                    <a:lstStyle/>
                    <a:p>
                      <a:pPr>
                        <a:buNone/>
                      </a:pPr>
                      <a:r>
                        <a:rPr lang="en-US" sz="2800" dirty="0"/>
                        <a:t>Simple Meaning</a:t>
                      </a:r>
                      <a:endParaRPr lang="en-US" sz="2800" dirty="0">
                        <a:latin typeface="+mj-lt"/>
                      </a:endParaRPr>
                    </a:p>
                  </a:txBody>
                  <a:tcPr marL="63432" marR="63432" marT="31716" marB="31716" anchor="ctr">
                    <a:solidFill>
                      <a:schemeClr val="accent4">
                        <a:lumMod val="20000"/>
                        <a:lumOff val="80000"/>
                      </a:schemeClr>
                    </a:solidFill>
                  </a:tcPr>
                </a:tc>
                <a:extLst>
                  <a:ext uri="{0D108BD9-81ED-4DB2-BD59-A6C34878D82A}">
                    <a16:rowId xmlns:a16="http://schemas.microsoft.com/office/drawing/2014/main" val="2910311692"/>
                  </a:ext>
                </a:extLst>
              </a:tr>
              <a:tr h="119448">
                <a:tc>
                  <a:txBody>
                    <a:bodyPr/>
                    <a:lstStyle/>
                    <a:p>
                      <a:pPr>
                        <a:buNone/>
                      </a:pPr>
                      <a:r>
                        <a:rPr lang="en-US" sz="2800" b="1" dirty="0"/>
                        <a:t>pivot()</a:t>
                      </a:r>
                      <a:endParaRPr lang="en-US" sz="2800" dirty="0">
                        <a:latin typeface="+mj-lt"/>
                      </a:endParaRPr>
                    </a:p>
                  </a:txBody>
                  <a:tcPr marL="63432" marR="63432" marT="31716" marB="31716" anchor="ctr">
                    <a:solidFill>
                      <a:schemeClr val="bg1"/>
                    </a:solidFill>
                  </a:tcPr>
                </a:tc>
                <a:tc>
                  <a:txBody>
                    <a:bodyPr/>
                    <a:lstStyle/>
                    <a:p>
                      <a:pPr>
                        <a:buNone/>
                      </a:pPr>
                      <a:r>
                        <a:rPr lang="en-US" sz="2800"/>
                        <a:t>Turns rows → columns</a:t>
                      </a:r>
                      <a:endParaRPr lang="en-US" sz="2800">
                        <a:latin typeface="+mj-lt"/>
                      </a:endParaRPr>
                    </a:p>
                  </a:txBody>
                  <a:tcPr marL="63432" marR="63432" marT="31716" marB="31716" anchor="ctr">
                    <a:solidFill>
                      <a:schemeClr val="bg1"/>
                    </a:solidFill>
                  </a:tcPr>
                </a:tc>
                <a:tc>
                  <a:txBody>
                    <a:bodyPr/>
                    <a:lstStyle/>
                    <a:p>
                      <a:pPr>
                        <a:buNone/>
                      </a:pPr>
                      <a:r>
                        <a:rPr lang="en-US" sz="2800"/>
                        <a:t>“Flip data sideways”</a:t>
                      </a:r>
                      <a:endParaRPr lang="en-US" sz="2800">
                        <a:latin typeface="+mj-lt"/>
                      </a:endParaRPr>
                    </a:p>
                  </a:txBody>
                  <a:tcPr marL="63432" marR="63432" marT="31716" marB="31716" anchor="ctr">
                    <a:solidFill>
                      <a:schemeClr val="bg1"/>
                    </a:solidFill>
                  </a:tcPr>
                </a:tc>
                <a:extLst>
                  <a:ext uri="{0D108BD9-81ED-4DB2-BD59-A6C34878D82A}">
                    <a16:rowId xmlns:a16="http://schemas.microsoft.com/office/drawing/2014/main" val="523653031"/>
                  </a:ext>
                </a:extLst>
              </a:tr>
              <a:tr h="116976">
                <a:tc>
                  <a:txBody>
                    <a:bodyPr/>
                    <a:lstStyle/>
                    <a:p>
                      <a:pPr>
                        <a:buNone/>
                      </a:pPr>
                      <a:r>
                        <a:rPr lang="en-US" sz="2800" b="1" dirty="0" err="1"/>
                        <a:t>pivot_table</a:t>
                      </a:r>
                      <a:r>
                        <a:rPr lang="en-US" sz="2800" b="1" dirty="0"/>
                        <a:t>()</a:t>
                      </a:r>
                      <a:endParaRPr lang="en-US" sz="2800" dirty="0">
                        <a:latin typeface="+mj-lt"/>
                      </a:endParaRPr>
                    </a:p>
                  </a:txBody>
                  <a:tcPr marL="63432" marR="63432" marT="31716" marB="31716" anchor="ctr">
                    <a:solidFill>
                      <a:schemeClr val="bg1"/>
                    </a:solidFill>
                  </a:tcPr>
                </a:tc>
                <a:tc>
                  <a:txBody>
                    <a:bodyPr/>
                    <a:lstStyle/>
                    <a:p>
                      <a:pPr>
                        <a:buNone/>
                      </a:pPr>
                      <a:r>
                        <a:rPr lang="en-US" sz="2800"/>
                        <a:t>Like pivot(), but can calculate sums or averages</a:t>
                      </a:r>
                      <a:endParaRPr lang="en-US" sz="2800">
                        <a:latin typeface="+mj-lt"/>
                      </a:endParaRPr>
                    </a:p>
                  </a:txBody>
                  <a:tcPr marL="63432" marR="63432" marT="31716" marB="31716" anchor="ctr">
                    <a:solidFill>
                      <a:schemeClr val="bg1"/>
                    </a:solidFill>
                  </a:tcPr>
                </a:tc>
                <a:tc>
                  <a:txBody>
                    <a:bodyPr/>
                    <a:lstStyle/>
                    <a:p>
                      <a:pPr>
                        <a:buNone/>
                      </a:pPr>
                      <a:r>
                        <a:rPr lang="en-US" sz="2800"/>
                        <a:t>“Group + summarize”</a:t>
                      </a:r>
                      <a:endParaRPr lang="en-US" sz="2800">
                        <a:latin typeface="+mj-lt"/>
                      </a:endParaRPr>
                    </a:p>
                  </a:txBody>
                  <a:tcPr marL="63432" marR="63432" marT="31716" marB="31716" anchor="ctr">
                    <a:solidFill>
                      <a:schemeClr val="bg1"/>
                    </a:solidFill>
                  </a:tcPr>
                </a:tc>
                <a:extLst>
                  <a:ext uri="{0D108BD9-81ED-4DB2-BD59-A6C34878D82A}">
                    <a16:rowId xmlns:a16="http://schemas.microsoft.com/office/drawing/2014/main" val="2820776248"/>
                  </a:ext>
                </a:extLst>
              </a:tr>
              <a:tr h="0">
                <a:tc>
                  <a:txBody>
                    <a:bodyPr/>
                    <a:lstStyle/>
                    <a:p>
                      <a:pPr>
                        <a:buNone/>
                      </a:pPr>
                      <a:r>
                        <a:rPr lang="en-US" sz="2800" b="1" dirty="0"/>
                        <a:t>melt()</a:t>
                      </a:r>
                      <a:endParaRPr lang="en-US" sz="2800" dirty="0">
                        <a:latin typeface="+mj-lt"/>
                      </a:endParaRPr>
                    </a:p>
                  </a:txBody>
                  <a:tcPr marL="63432" marR="63432" marT="31716" marB="31716" anchor="ctr">
                    <a:solidFill>
                      <a:schemeClr val="bg1"/>
                    </a:solidFill>
                  </a:tcPr>
                </a:tc>
                <a:tc>
                  <a:txBody>
                    <a:bodyPr/>
                    <a:lstStyle/>
                    <a:p>
                      <a:pPr>
                        <a:buNone/>
                      </a:pPr>
                      <a:r>
                        <a:rPr lang="en-US" sz="2800"/>
                        <a:t>Turns wide → long</a:t>
                      </a:r>
                      <a:endParaRPr lang="en-US" sz="2800">
                        <a:latin typeface="+mj-lt"/>
                      </a:endParaRPr>
                    </a:p>
                  </a:txBody>
                  <a:tcPr marL="63432" marR="63432" marT="31716" marB="31716" anchor="ctr">
                    <a:solidFill>
                      <a:schemeClr val="bg1"/>
                    </a:solidFill>
                  </a:tcPr>
                </a:tc>
                <a:tc>
                  <a:txBody>
                    <a:bodyPr/>
                    <a:lstStyle/>
                    <a:p>
                      <a:pPr>
                        <a:buNone/>
                      </a:pPr>
                      <a:r>
                        <a:rPr lang="en-US" sz="2800" dirty="0"/>
                        <a:t>“Unfold wide data into tall format”</a:t>
                      </a:r>
                      <a:endParaRPr lang="en-US" sz="2800" dirty="0">
                        <a:latin typeface="+mj-lt"/>
                      </a:endParaRPr>
                    </a:p>
                  </a:txBody>
                  <a:tcPr marL="63432" marR="63432" marT="31716" marB="31716" anchor="ctr">
                    <a:solidFill>
                      <a:schemeClr val="bg1"/>
                    </a:solidFill>
                  </a:tcPr>
                </a:tc>
                <a:extLst>
                  <a:ext uri="{0D108BD9-81ED-4DB2-BD59-A6C34878D82A}">
                    <a16:rowId xmlns:a16="http://schemas.microsoft.com/office/drawing/2014/main" val="3200935138"/>
                  </a:ext>
                </a:extLst>
              </a:tr>
              <a:tr h="523512">
                <a:tc>
                  <a:txBody>
                    <a:bodyPr/>
                    <a:lstStyle/>
                    <a:p>
                      <a:pPr>
                        <a:buNone/>
                      </a:pPr>
                      <a:r>
                        <a:rPr lang="en-US" sz="2800" b="1" dirty="0"/>
                        <a:t>stack() / unstack()</a:t>
                      </a:r>
                      <a:endParaRPr lang="en-US" sz="2800" dirty="0">
                        <a:latin typeface="+mj-lt"/>
                      </a:endParaRPr>
                    </a:p>
                  </a:txBody>
                  <a:tcPr marL="63432" marR="63432" marT="31716" marB="31716" anchor="ctr">
                    <a:solidFill>
                      <a:schemeClr val="bg1"/>
                    </a:solidFill>
                  </a:tcPr>
                </a:tc>
                <a:tc>
                  <a:txBody>
                    <a:bodyPr/>
                    <a:lstStyle/>
                    <a:p>
                      <a:pPr>
                        <a:buNone/>
                      </a:pPr>
                      <a:r>
                        <a:rPr lang="en-US" sz="2800"/>
                        <a:t>Moves columns ↔ rows</a:t>
                      </a:r>
                      <a:endParaRPr lang="en-US" sz="2800">
                        <a:latin typeface="+mj-lt"/>
                      </a:endParaRPr>
                    </a:p>
                  </a:txBody>
                  <a:tcPr marL="63432" marR="63432" marT="31716" marB="31716" anchor="ctr">
                    <a:solidFill>
                      <a:schemeClr val="bg1"/>
                    </a:solidFill>
                  </a:tcPr>
                </a:tc>
                <a:tc>
                  <a:txBody>
                    <a:bodyPr/>
                    <a:lstStyle/>
                    <a:p>
                      <a:pPr>
                        <a:buNone/>
                      </a:pPr>
                      <a:r>
                        <a:rPr lang="en-US" sz="2800" dirty="0"/>
                        <a:t>“Fold or unfold multi-level data”</a:t>
                      </a:r>
                      <a:endParaRPr lang="en-US" sz="2800" dirty="0">
                        <a:latin typeface="+mj-lt"/>
                      </a:endParaRPr>
                    </a:p>
                  </a:txBody>
                  <a:tcPr marL="63432" marR="63432" marT="31716" marB="31716" anchor="ctr">
                    <a:solidFill>
                      <a:schemeClr val="bg1"/>
                    </a:solidFill>
                  </a:tcPr>
                </a:tc>
                <a:extLst>
                  <a:ext uri="{0D108BD9-81ED-4DB2-BD59-A6C34878D82A}">
                    <a16:rowId xmlns:a16="http://schemas.microsoft.com/office/drawing/2014/main" val="4048285990"/>
                  </a:ext>
                </a:extLst>
              </a:tr>
            </a:tbl>
          </a:graphicData>
        </a:graphic>
      </p:graphicFrame>
    </p:spTree>
    <p:extLst>
      <p:ext uri="{BB962C8B-B14F-4D97-AF65-F5344CB8AC3E}">
        <p14:creationId xmlns:p14="http://schemas.microsoft.com/office/powerpoint/2010/main" val="25832355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5EDFA-29B8-6169-6DC7-33A149E1031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4F5ADB-2499-F3AE-3D6D-9B2F297FB5F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037CBB50-E653-0F23-39CF-C6F99422E61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DCB31D43-8EA7-4FC9-F476-FE107AC02F34}"/>
              </a:ext>
            </a:extLst>
          </p:cNvPr>
          <p:cNvSpPr txBox="1"/>
          <p:nvPr/>
        </p:nvSpPr>
        <p:spPr>
          <a:xfrm>
            <a:off x="0" y="954504"/>
            <a:ext cx="9144000" cy="671851"/>
          </a:xfrm>
          <a:prstGeom prst="rect">
            <a:avLst/>
          </a:prstGeom>
          <a:noFill/>
        </p:spPr>
        <p:txBody>
          <a:bodyPr wrap="square">
            <a:spAutoFit/>
          </a:bodyPr>
          <a:lstStyle/>
          <a:p>
            <a:pPr>
              <a:lnSpc>
                <a:spcPct val="150000"/>
              </a:lnSpc>
            </a:pPr>
            <a:r>
              <a:rPr lang="en-US" sz="2800" dirty="0">
                <a:latin typeface="+mj-lt"/>
              </a:rPr>
              <a:t>Example: Pivot Sales by Region</a:t>
            </a:r>
          </a:p>
        </p:txBody>
      </p:sp>
      <p:pic>
        <p:nvPicPr>
          <p:cNvPr id="6" name="Picture 5">
            <a:extLst>
              <a:ext uri="{FF2B5EF4-FFF2-40B4-BE49-F238E27FC236}">
                <a16:creationId xmlns:a16="http://schemas.microsoft.com/office/drawing/2014/main" id="{F321B74A-C3EF-977F-71C2-2AB2E515C5CC}"/>
              </a:ext>
            </a:extLst>
          </p:cNvPr>
          <p:cNvPicPr>
            <a:picLocks noChangeAspect="1"/>
          </p:cNvPicPr>
          <p:nvPr/>
        </p:nvPicPr>
        <p:blipFill>
          <a:blip r:embed="rId2"/>
          <a:srcRect l="9208" t="33704" r="35000" b="17407"/>
          <a:stretch>
            <a:fillRect/>
          </a:stretch>
        </p:blipFill>
        <p:spPr>
          <a:xfrm>
            <a:off x="27039" y="1557387"/>
            <a:ext cx="7352762" cy="3624214"/>
          </a:xfrm>
          <a:prstGeom prst="rect">
            <a:avLst/>
          </a:prstGeom>
        </p:spPr>
      </p:pic>
      <p:sp>
        <p:nvSpPr>
          <p:cNvPr id="8" name="Rectangle 1">
            <a:extLst>
              <a:ext uri="{FF2B5EF4-FFF2-40B4-BE49-F238E27FC236}">
                <a16:creationId xmlns:a16="http://schemas.microsoft.com/office/drawing/2014/main" id="{C87E0DB5-09F2-8335-4AEA-CDCB75A5B71C}"/>
              </a:ext>
            </a:extLst>
          </p:cNvPr>
          <p:cNvSpPr>
            <a:spLocks noChangeArrowheads="1"/>
          </p:cNvSpPr>
          <p:nvPr/>
        </p:nvSpPr>
        <p:spPr bwMode="auto">
          <a:xfrm>
            <a:off x="2209801" y="4130536"/>
            <a:ext cx="6936658" cy="2692019"/>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mj-lt"/>
              </a:rPr>
              <a:t>We build a sales table with columns for year, region, and sales.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mj-lt"/>
              </a:rPr>
              <a:t>pivot() moves regions into columns and keeps years as rows.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mj-lt"/>
              </a:rPr>
              <a:t>Each cell now shows that region’s sales for that year.</a:t>
            </a:r>
          </a:p>
        </p:txBody>
      </p:sp>
    </p:spTree>
    <p:extLst>
      <p:ext uri="{BB962C8B-B14F-4D97-AF65-F5344CB8AC3E}">
        <p14:creationId xmlns:p14="http://schemas.microsoft.com/office/powerpoint/2010/main" val="42372793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4314C-CA14-A804-4557-00F4C2492D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C74929-36E7-472E-215A-6ED1B555B252}"/>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32BAA62C-0BE4-D2CC-CA51-CFA92C21415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23D97454-CCD8-8579-9E75-F870CC412C57}"/>
              </a:ext>
            </a:extLst>
          </p:cNvPr>
          <p:cNvSpPr txBox="1"/>
          <p:nvPr/>
        </p:nvSpPr>
        <p:spPr>
          <a:xfrm>
            <a:off x="0" y="954504"/>
            <a:ext cx="9144000" cy="671851"/>
          </a:xfrm>
          <a:prstGeom prst="rect">
            <a:avLst/>
          </a:prstGeom>
          <a:noFill/>
        </p:spPr>
        <p:txBody>
          <a:bodyPr wrap="square">
            <a:spAutoFit/>
          </a:bodyPr>
          <a:lstStyle/>
          <a:p>
            <a:pPr>
              <a:lnSpc>
                <a:spcPct val="150000"/>
              </a:lnSpc>
            </a:pPr>
            <a:r>
              <a:rPr lang="en-US" sz="2800" dirty="0">
                <a:latin typeface="+mj-lt"/>
              </a:rPr>
              <a:t>Example: Pivot Sales by Region</a:t>
            </a:r>
          </a:p>
        </p:txBody>
      </p:sp>
      <p:pic>
        <p:nvPicPr>
          <p:cNvPr id="6" name="Picture 5">
            <a:extLst>
              <a:ext uri="{FF2B5EF4-FFF2-40B4-BE49-F238E27FC236}">
                <a16:creationId xmlns:a16="http://schemas.microsoft.com/office/drawing/2014/main" id="{9A1FDB8A-8D5D-7A76-4A56-167B68F97DA6}"/>
              </a:ext>
            </a:extLst>
          </p:cNvPr>
          <p:cNvPicPr>
            <a:picLocks noChangeAspect="1"/>
          </p:cNvPicPr>
          <p:nvPr/>
        </p:nvPicPr>
        <p:blipFill>
          <a:blip r:embed="rId2"/>
          <a:srcRect l="9208" t="33704" r="35000" b="17407"/>
          <a:stretch>
            <a:fillRect/>
          </a:stretch>
        </p:blipFill>
        <p:spPr>
          <a:xfrm>
            <a:off x="27039" y="1557387"/>
            <a:ext cx="7352762" cy="3624214"/>
          </a:xfrm>
          <a:prstGeom prst="rect">
            <a:avLst/>
          </a:prstGeom>
        </p:spPr>
      </p:pic>
      <p:sp>
        <p:nvSpPr>
          <p:cNvPr id="8" name="Rectangle 1">
            <a:extLst>
              <a:ext uri="{FF2B5EF4-FFF2-40B4-BE49-F238E27FC236}">
                <a16:creationId xmlns:a16="http://schemas.microsoft.com/office/drawing/2014/main" id="{C36B7EAA-41E1-3F18-A94B-AD096BC7C1C5}"/>
              </a:ext>
            </a:extLst>
          </p:cNvPr>
          <p:cNvSpPr>
            <a:spLocks noChangeArrowheads="1"/>
          </p:cNvSpPr>
          <p:nvPr/>
        </p:nvSpPr>
        <p:spPr bwMode="auto">
          <a:xfrm>
            <a:off x="2256502" y="4516975"/>
            <a:ext cx="6860459" cy="234102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500" b="0" i="0" u="none" strike="noStrike" cap="none" normalizeH="0" baseline="0" dirty="0">
                <a:ln>
                  <a:noFill/>
                </a:ln>
                <a:solidFill>
                  <a:schemeClr val="tx1"/>
                </a:solidFill>
                <a:effectLst/>
                <a:latin typeface="+mj-lt"/>
              </a:rPr>
              <a:t>Import Pandas:</a:t>
            </a:r>
          </a:p>
          <a:p>
            <a:pPr marR="0" lvl="0" algn="l" defTabSz="914400" rtl="0" eaLnBrk="0" fontAlgn="base" latinLnBrk="0" hangingPunct="0">
              <a:lnSpc>
                <a:spcPct val="150000"/>
              </a:lnSpc>
              <a:spcBef>
                <a:spcPct val="0"/>
              </a:spcBef>
              <a:spcAft>
                <a:spcPct val="0"/>
              </a:spcAft>
              <a:buClrTx/>
              <a:buSzTx/>
              <a:tabLst/>
            </a:pPr>
            <a:r>
              <a:rPr lang="en-US" sz="2500" dirty="0">
                <a:latin typeface="+mj-lt"/>
              </a:rPr>
              <a:t>This line loads the pandas library (a tool that helps us work with tables of data) and shortens its name to pd so we can use it easily later.</a:t>
            </a:r>
            <a:endParaRPr kumimoji="0" lang="en-US" altLang="en-US" sz="2500" b="0" i="0" u="none" strike="noStrike" cap="none" normalizeH="0" baseline="0" dirty="0">
              <a:ln>
                <a:noFill/>
              </a:ln>
              <a:solidFill>
                <a:schemeClr val="tx1"/>
              </a:solidFill>
              <a:effectLst/>
              <a:latin typeface="+mj-lt"/>
            </a:endParaRPr>
          </a:p>
        </p:txBody>
      </p:sp>
      <p:sp>
        <p:nvSpPr>
          <p:cNvPr id="3" name="Rectangle: Rounded Corners 2">
            <a:extLst>
              <a:ext uri="{FF2B5EF4-FFF2-40B4-BE49-F238E27FC236}">
                <a16:creationId xmlns:a16="http://schemas.microsoft.com/office/drawing/2014/main" id="{D4841AA6-6F12-D2DF-6EEC-2EB1DBD67454}"/>
              </a:ext>
            </a:extLst>
          </p:cNvPr>
          <p:cNvSpPr/>
          <p:nvPr/>
        </p:nvSpPr>
        <p:spPr>
          <a:xfrm>
            <a:off x="552269" y="1626355"/>
            <a:ext cx="2267131" cy="43104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04748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055E2-85E6-5775-460A-12AF101F11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F4D9FD-F6B3-2E5C-C0D3-8CE77A47C991}"/>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3C1B2CC4-1BC3-11F9-FC38-314E3E034AE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36325199-EA04-895F-18D3-B01E5641DEA8}"/>
              </a:ext>
            </a:extLst>
          </p:cNvPr>
          <p:cNvSpPr txBox="1"/>
          <p:nvPr/>
        </p:nvSpPr>
        <p:spPr>
          <a:xfrm>
            <a:off x="0" y="954504"/>
            <a:ext cx="9144000" cy="671851"/>
          </a:xfrm>
          <a:prstGeom prst="rect">
            <a:avLst/>
          </a:prstGeom>
          <a:noFill/>
        </p:spPr>
        <p:txBody>
          <a:bodyPr wrap="square">
            <a:spAutoFit/>
          </a:bodyPr>
          <a:lstStyle/>
          <a:p>
            <a:pPr>
              <a:lnSpc>
                <a:spcPct val="150000"/>
              </a:lnSpc>
            </a:pPr>
            <a:r>
              <a:rPr lang="en-US" sz="2800" dirty="0">
                <a:latin typeface="+mj-lt"/>
              </a:rPr>
              <a:t>Example: Pivot Sales by Region</a:t>
            </a:r>
          </a:p>
        </p:txBody>
      </p:sp>
      <p:pic>
        <p:nvPicPr>
          <p:cNvPr id="6" name="Picture 5">
            <a:extLst>
              <a:ext uri="{FF2B5EF4-FFF2-40B4-BE49-F238E27FC236}">
                <a16:creationId xmlns:a16="http://schemas.microsoft.com/office/drawing/2014/main" id="{777991BE-28AE-A546-8F3F-028B215C9ADC}"/>
              </a:ext>
            </a:extLst>
          </p:cNvPr>
          <p:cNvPicPr>
            <a:picLocks noChangeAspect="1"/>
          </p:cNvPicPr>
          <p:nvPr/>
        </p:nvPicPr>
        <p:blipFill>
          <a:blip r:embed="rId2"/>
          <a:srcRect l="9208" t="33704" r="35000" b="17407"/>
          <a:stretch>
            <a:fillRect/>
          </a:stretch>
        </p:blipFill>
        <p:spPr>
          <a:xfrm>
            <a:off x="27039" y="1557387"/>
            <a:ext cx="7352762" cy="3624214"/>
          </a:xfrm>
          <a:prstGeom prst="rect">
            <a:avLst/>
          </a:prstGeom>
        </p:spPr>
      </p:pic>
      <p:sp>
        <p:nvSpPr>
          <p:cNvPr id="8" name="Rectangle 1">
            <a:extLst>
              <a:ext uri="{FF2B5EF4-FFF2-40B4-BE49-F238E27FC236}">
                <a16:creationId xmlns:a16="http://schemas.microsoft.com/office/drawing/2014/main" id="{B2500F01-18E8-2FF7-7731-73B3EEF05A75}"/>
              </a:ext>
            </a:extLst>
          </p:cNvPr>
          <p:cNvSpPr>
            <a:spLocks noChangeArrowheads="1"/>
          </p:cNvSpPr>
          <p:nvPr/>
        </p:nvSpPr>
        <p:spPr bwMode="auto">
          <a:xfrm>
            <a:off x="5257800" y="1043055"/>
            <a:ext cx="3859161" cy="2541593"/>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500" b="0" i="0" u="none" strike="noStrike" cap="none" normalizeH="0" baseline="0" dirty="0">
                <a:ln>
                  <a:noFill/>
                </a:ln>
                <a:solidFill>
                  <a:schemeClr val="tx1"/>
                </a:solidFill>
                <a:effectLst/>
                <a:latin typeface="+mj-lt"/>
              </a:rPr>
              <a:t>Create a small sales table:</a:t>
            </a:r>
          </a:p>
          <a:p>
            <a:pPr marR="0" lvl="0" algn="l" defTabSz="914400" rtl="0" eaLnBrk="0" fontAlgn="base" latinLnBrk="0" hangingPunct="0">
              <a:lnSpc>
                <a:spcPct val="150000"/>
              </a:lnSpc>
              <a:spcBef>
                <a:spcPct val="0"/>
              </a:spcBef>
              <a:spcAft>
                <a:spcPct val="0"/>
              </a:spcAft>
              <a:buClrTx/>
              <a:buSzTx/>
              <a:tabLst/>
            </a:pPr>
            <a:r>
              <a:rPr lang="en-US" sz="2800" dirty="0">
                <a:latin typeface="+mj-lt"/>
              </a:rPr>
              <a:t>This creates a </a:t>
            </a:r>
            <a:r>
              <a:rPr lang="en-US" sz="2800" dirty="0" err="1">
                <a:latin typeface="+mj-lt"/>
              </a:rPr>
              <a:t>DataFrame</a:t>
            </a:r>
            <a:r>
              <a:rPr lang="en-US" sz="2800" dirty="0">
                <a:latin typeface="+mj-lt"/>
              </a:rPr>
              <a:t> (a small table) with 3 columns:</a:t>
            </a:r>
            <a:endParaRPr kumimoji="0" lang="en-US" altLang="en-US" sz="2500" b="0" i="0" u="none" strike="noStrike" cap="none" normalizeH="0" baseline="0" dirty="0">
              <a:ln>
                <a:noFill/>
              </a:ln>
              <a:solidFill>
                <a:schemeClr val="tx1"/>
              </a:solidFill>
              <a:effectLst/>
              <a:latin typeface="+mj-lt"/>
            </a:endParaRPr>
          </a:p>
        </p:txBody>
      </p:sp>
      <p:sp>
        <p:nvSpPr>
          <p:cNvPr id="3" name="Rectangle: Rounded Corners 2">
            <a:extLst>
              <a:ext uri="{FF2B5EF4-FFF2-40B4-BE49-F238E27FC236}">
                <a16:creationId xmlns:a16="http://schemas.microsoft.com/office/drawing/2014/main" id="{558BA401-7D7C-3558-2586-17B7F240AC22}"/>
              </a:ext>
            </a:extLst>
          </p:cNvPr>
          <p:cNvSpPr/>
          <p:nvPr/>
        </p:nvSpPr>
        <p:spPr>
          <a:xfrm>
            <a:off x="552269" y="2157168"/>
            <a:ext cx="4324531" cy="127183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B01D599-EAC6-F719-33C4-F0865CCFE1A7}"/>
              </a:ext>
            </a:extLst>
          </p:cNvPr>
          <p:cNvSpPr txBox="1"/>
          <p:nvPr/>
        </p:nvSpPr>
        <p:spPr>
          <a:xfrm>
            <a:off x="2236840" y="3959813"/>
            <a:ext cx="6907160" cy="2579039"/>
          </a:xfrm>
          <a:prstGeom prst="rect">
            <a:avLst/>
          </a:prstGeom>
          <a:noFill/>
          <a:ln>
            <a:solidFill>
              <a:srgbClr val="FF0000"/>
            </a:solidFill>
          </a:ln>
        </p:spPr>
        <p:txBody>
          <a:bodyPr wrap="square">
            <a:spAutoFit/>
          </a:bodyPr>
          <a:lstStyle/>
          <a:p>
            <a:pPr marL="285750" indent="-285750">
              <a:lnSpc>
                <a:spcPct val="150000"/>
              </a:lnSpc>
              <a:buFont typeface="Arial" panose="020B0604020202020204" pitchFamily="34" charset="0"/>
              <a:buChar char="•"/>
            </a:pPr>
            <a:r>
              <a:rPr lang="en-US" sz="2200" b="1" dirty="0">
                <a:latin typeface="+mj-lt"/>
              </a:rPr>
              <a:t>Year</a:t>
            </a:r>
            <a:r>
              <a:rPr lang="en-US" sz="2200" dirty="0">
                <a:latin typeface="+mj-lt"/>
              </a:rPr>
              <a:t> → shows which year the sales belong to</a:t>
            </a:r>
          </a:p>
          <a:p>
            <a:pPr marL="285750" indent="-285750">
              <a:lnSpc>
                <a:spcPct val="150000"/>
              </a:lnSpc>
              <a:buFont typeface="Arial" panose="020B0604020202020204" pitchFamily="34" charset="0"/>
              <a:buChar char="•"/>
            </a:pPr>
            <a:r>
              <a:rPr lang="en-US" sz="2200" b="1" dirty="0">
                <a:latin typeface="+mj-lt"/>
              </a:rPr>
              <a:t>Region</a:t>
            </a:r>
            <a:r>
              <a:rPr lang="en-US" sz="2200" dirty="0">
                <a:latin typeface="+mj-lt"/>
              </a:rPr>
              <a:t> → the location (NSW or VIC)</a:t>
            </a:r>
          </a:p>
          <a:p>
            <a:pPr marL="285750" indent="-285750">
              <a:lnSpc>
                <a:spcPct val="150000"/>
              </a:lnSpc>
              <a:buFont typeface="Arial" panose="020B0604020202020204" pitchFamily="34" charset="0"/>
              <a:buChar char="•"/>
            </a:pPr>
            <a:r>
              <a:rPr lang="en-US" sz="2200" b="1" dirty="0">
                <a:latin typeface="+mj-lt"/>
              </a:rPr>
              <a:t>Sales</a:t>
            </a:r>
            <a:r>
              <a:rPr lang="en-US" sz="2200" dirty="0">
                <a:latin typeface="+mj-lt"/>
              </a:rPr>
              <a:t> → the sales amount</a:t>
            </a:r>
          </a:p>
          <a:p>
            <a:pPr>
              <a:lnSpc>
                <a:spcPct val="150000"/>
              </a:lnSpc>
              <a:buNone/>
            </a:pPr>
            <a:r>
              <a:rPr lang="en-US" sz="2200" dirty="0">
                <a:latin typeface="+mj-lt"/>
              </a:rPr>
              <a:t>So, this table tells us how much each region sold in each year.</a:t>
            </a:r>
          </a:p>
        </p:txBody>
      </p:sp>
    </p:spTree>
    <p:extLst>
      <p:ext uri="{BB962C8B-B14F-4D97-AF65-F5344CB8AC3E}">
        <p14:creationId xmlns:p14="http://schemas.microsoft.com/office/powerpoint/2010/main" val="33103212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55050-687D-F705-E34B-7706383701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EEE22A-6047-CB4A-DEF5-3AACB977DCA1}"/>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08BD3220-10AF-F82F-EECC-1A0CB5C94BB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C7AE04DF-C44D-DE8E-5FD8-AFA84CA4B3A5}"/>
              </a:ext>
            </a:extLst>
          </p:cNvPr>
          <p:cNvSpPr txBox="1"/>
          <p:nvPr/>
        </p:nvSpPr>
        <p:spPr>
          <a:xfrm>
            <a:off x="0" y="954504"/>
            <a:ext cx="9144000" cy="671851"/>
          </a:xfrm>
          <a:prstGeom prst="rect">
            <a:avLst/>
          </a:prstGeom>
          <a:noFill/>
        </p:spPr>
        <p:txBody>
          <a:bodyPr wrap="square">
            <a:spAutoFit/>
          </a:bodyPr>
          <a:lstStyle/>
          <a:p>
            <a:pPr>
              <a:lnSpc>
                <a:spcPct val="150000"/>
              </a:lnSpc>
            </a:pPr>
            <a:r>
              <a:rPr lang="en-US" sz="2800" dirty="0">
                <a:latin typeface="+mj-lt"/>
              </a:rPr>
              <a:t>Example: Pivot Sales by Region</a:t>
            </a:r>
          </a:p>
        </p:txBody>
      </p:sp>
      <p:pic>
        <p:nvPicPr>
          <p:cNvPr id="6" name="Picture 5">
            <a:extLst>
              <a:ext uri="{FF2B5EF4-FFF2-40B4-BE49-F238E27FC236}">
                <a16:creationId xmlns:a16="http://schemas.microsoft.com/office/drawing/2014/main" id="{A97115B3-7CA3-1ED0-222C-A66060D541A3}"/>
              </a:ext>
            </a:extLst>
          </p:cNvPr>
          <p:cNvPicPr>
            <a:picLocks noChangeAspect="1"/>
          </p:cNvPicPr>
          <p:nvPr/>
        </p:nvPicPr>
        <p:blipFill>
          <a:blip r:embed="rId2"/>
          <a:srcRect l="9208" t="33704" r="35000" b="17407"/>
          <a:stretch>
            <a:fillRect/>
          </a:stretch>
        </p:blipFill>
        <p:spPr>
          <a:xfrm>
            <a:off x="-18144" y="1616893"/>
            <a:ext cx="7352762" cy="3624214"/>
          </a:xfrm>
          <a:prstGeom prst="rect">
            <a:avLst/>
          </a:prstGeom>
        </p:spPr>
      </p:pic>
      <p:sp>
        <p:nvSpPr>
          <p:cNvPr id="8" name="Rectangle 1">
            <a:extLst>
              <a:ext uri="{FF2B5EF4-FFF2-40B4-BE49-F238E27FC236}">
                <a16:creationId xmlns:a16="http://schemas.microsoft.com/office/drawing/2014/main" id="{D7D18BE0-4E93-E8B5-AC99-2BDEEB703F56}"/>
              </a:ext>
            </a:extLst>
          </p:cNvPr>
          <p:cNvSpPr>
            <a:spLocks noChangeArrowheads="1"/>
          </p:cNvSpPr>
          <p:nvPr/>
        </p:nvSpPr>
        <p:spPr bwMode="auto">
          <a:xfrm>
            <a:off x="5257800" y="1979304"/>
            <a:ext cx="3859161" cy="669094"/>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sz="2800" dirty="0">
                <a:latin typeface="+mj-lt"/>
              </a:rPr>
              <a:t>Create a pivot table</a:t>
            </a:r>
            <a:endParaRPr kumimoji="0" lang="en-US" altLang="en-US" sz="2500" b="0" i="0" u="none" strike="noStrike" cap="none" normalizeH="0" baseline="0" dirty="0">
              <a:ln>
                <a:noFill/>
              </a:ln>
              <a:solidFill>
                <a:schemeClr val="tx1"/>
              </a:solidFill>
              <a:effectLst/>
              <a:latin typeface="+mj-lt"/>
            </a:endParaRPr>
          </a:p>
        </p:txBody>
      </p:sp>
      <p:sp>
        <p:nvSpPr>
          <p:cNvPr id="3" name="Rectangle: Rounded Corners 2">
            <a:extLst>
              <a:ext uri="{FF2B5EF4-FFF2-40B4-BE49-F238E27FC236}">
                <a16:creationId xmlns:a16="http://schemas.microsoft.com/office/drawing/2014/main" id="{B7723829-774E-2AE2-0E8A-6AC82EFD17CC}"/>
              </a:ext>
            </a:extLst>
          </p:cNvPr>
          <p:cNvSpPr/>
          <p:nvPr/>
        </p:nvSpPr>
        <p:spPr>
          <a:xfrm>
            <a:off x="480154" y="3583857"/>
            <a:ext cx="6899647" cy="32999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85404E7-BF2F-0724-A4F5-749CF03F7B36}"/>
              </a:ext>
            </a:extLst>
          </p:cNvPr>
          <p:cNvSpPr txBox="1"/>
          <p:nvPr/>
        </p:nvSpPr>
        <p:spPr>
          <a:xfrm>
            <a:off x="2236840" y="3959813"/>
            <a:ext cx="6907160" cy="2957861"/>
          </a:xfrm>
          <a:prstGeom prst="rect">
            <a:avLst/>
          </a:prstGeom>
          <a:noFill/>
          <a:ln>
            <a:noFill/>
          </a:ln>
        </p:spPr>
        <p:txBody>
          <a:bodyPr wrap="square">
            <a:spAutoFit/>
          </a:bodyPr>
          <a:lstStyle/>
          <a:p>
            <a:pPr>
              <a:lnSpc>
                <a:spcPct val="150000"/>
              </a:lnSpc>
            </a:pPr>
            <a:r>
              <a:rPr lang="en-US" dirty="0">
                <a:latin typeface="+mj-lt"/>
              </a:rPr>
              <a:t>This line reshapes the table so it’s easier to compare sales by year and region.</a:t>
            </a:r>
          </a:p>
          <a:p>
            <a:pPr marL="530225" lvl="1" indent="-342900">
              <a:lnSpc>
                <a:spcPct val="150000"/>
              </a:lnSpc>
              <a:buFont typeface="Arial" panose="020B0604020202020204" pitchFamily="34" charset="0"/>
              <a:buChar char="•"/>
            </a:pPr>
            <a:r>
              <a:rPr lang="en-US" dirty="0">
                <a:latin typeface="+mj-lt"/>
              </a:rPr>
              <a:t>index='Year' → each row will represent a year</a:t>
            </a:r>
          </a:p>
          <a:p>
            <a:pPr marL="530225" lvl="1" indent="-342900">
              <a:lnSpc>
                <a:spcPct val="150000"/>
              </a:lnSpc>
              <a:buFont typeface="Arial" panose="020B0604020202020204" pitchFamily="34" charset="0"/>
              <a:buChar char="•"/>
            </a:pPr>
            <a:r>
              <a:rPr lang="en-US" dirty="0">
                <a:latin typeface="+mj-lt"/>
              </a:rPr>
              <a:t>columns='Region' → each column will represent a region (NSW or VIC)</a:t>
            </a:r>
          </a:p>
          <a:p>
            <a:pPr marL="530225" lvl="1" indent="-342900">
              <a:lnSpc>
                <a:spcPct val="150000"/>
              </a:lnSpc>
              <a:buFont typeface="Arial" panose="020B0604020202020204" pitchFamily="34" charset="0"/>
              <a:buChar char="•"/>
            </a:pPr>
            <a:r>
              <a:rPr lang="en-US" dirty="0">
                <a:latin typeface="+mj-lt"/>
              </a:rPr>
              <a:t>values='Sales' → the numbers in the table will show the sales amounts</a:t>
            </a:r>
          </a:p>
        </p:txBody>
      </p:sp>
    </p:spTree>
    <p:extLst>
      <p:ext uri="{BB962C8B-B14F-4D97-AF65-F5344CB8AC3E}">
        <p14:creationId xmlns:p14="http://schemas.microsoft.com/office/powerpoint/2010/main" val="805995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18E91-605D-2894-6398-EC55A02CBB9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DF7188-4D4B-4980-9BED-A9180AB30E97}"/>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1132A5FA-54E8-72AB-849F-52E2ACF2F6D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092B66F8-BE07-E3A7-E09E-2258A8E074C4}"/>
              </a:ext>
            </a:extLst>
          </p:cNvPr>
          <p:cNvSpPr txBox="1"/>
          <p:nvPr/>
        </p:nvSpPr>
        <p:spPr>
          <a:xfrm>
            <a:off x="0" y="954504"/>
            <a:ext cx="9144000" cy="671851"/>
          </a:xfrm>
          <a:prstGeom prst="rect">
            <a:avLst/>
          </a:prstGeom>
          <a:noFill/>
        </p:spPr>
        <p:txBody>
          <a:bodyPr wrap="square">
            <a:spAutoFit/>
          </a:bodyPr>
          <a:lstStyle/>
          <a:p>
            <a:pPr>
              <a:lnSpc>
                <a:spcPct val="150000"/>
              </a:lnSpc>
            </a:pPr>
            <a:r>
              <a:rPr lang="en-US" sz="2800" dirty="0">
                <a:latin typeface="+mj-lt"/>
              </a:rPr>
              <a:t>Example: Pivot Sales by Region</a:t>
            </a:r>
          </a:p>
        </p:txBody>
      </p:sp>
      <p:pic>
        <p:nvPicPr>
          <p:cNvPr id="6" name="Picture 5">
            <a:extLst>
              <a:ext uri="{FF2B5EF4-FFF2-40B4-BE49-F238E27FC236}">
                <a16:creationId xmlns:a16="http://schemas.microsoft.com/office/drawing/2014/main" id="{C5E1D6E0-0E5F-28CE-67C5-2A699B3B7761}"/>
              </a:ext>
            </a:extLst>
          </p:cNvPr>
          <p:cNvPicPr>
            <a:picLocks noChangeAspect="1"/>
          </p:cNvPicPr>
          <p:nvPr/>
        </p:nvPicPr>
        <p:blipFill>
          <a:blip r:embed="rId2"/>
          <a:srcRect l="9208" t="33704" r="35000" b="17407"/>
          <a:stretch>
            <a:fillRect/>
          </a:stretch>
        </p:blipFill>
        <p:spPr>
          <a:xfrm>
            <a:off x="27039" y="1557387"/>
            <a:ext cx="7352762" cy="3624214"/>
          </a:xfrm>
          <a:prstGeom prst="rect">
            <a:avLst/>
          </a:prstGeom>
        </p:spPr>
      </p:pic>
      <p:sp>
        <p:nvSpPr>
          <p:cNvPr id="8" name="Rectangle 1">
            <a:extLst>
              <a:ext uri="{FF2B5EF4-FFF2-40B4-BE49-F238E27FC236}">
                <a16:creationId xmlns:a16="http://schemas.microsoft.com/office/drawing/2014/main" id="{8000EEC5-BF1C-590D-6901-B6EE17EFB3CE}"/>
              </a:ext>
            </a:extLst>
          </p:cNvPr>
          <p:cNvSpPr>
            <a:spLocks noChangeArrowheads="1"/>
          </p:cNvSpPr>
          <p:nvPr/>
        </p:nvSpPr>
        <p:spPr bwMode="auto">
          <a:xfrm>
            <a:off x="2703655" y="1034884"/>
            <a:ext cx="6440345" cy="580351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indent="-457200">
              <a:lnSpc>
                <a:spcPct val="150000"/>
              </a:lnSpc>
              <a:buFont typeface="Arial" panose="020B0604020202020204" pitchFamily="34" charset="0"/>
              <a:buChar char="•"/>
            </a:pPr>
            <a:r>
              <a:rPr lang="en-US" sz="2500" dirty="0">
                <a:latin typeface="+mj-lt"/>
              </a:rPr>
              <a:t>The pivot table shows sales for each region in each year.</a:t>
            </a:r>
          </a:p>
          <a:p>
            <a:pPr marL="457200" indent="-457200">
              <a:lnSpc>
                <a:spcPct val="150000"/>
              </a:lnSpc>
              <a:buFont typeface="Arial" panose="020B0604020202020204" pitchFamily="34" charset="0"/>
              <a:buChar char="•"/>
            </a:pPr>
            <a:r>
              <a:rPr lang="en-US" sz="2500" dirty="0">
                <a:latin typeface="+mj-lt"/>
              </a:rPr>
              <a:t>The rows represent years (2022 and 2023).</a:t>
            </a:r>
          </a:p>
          <a:p>
            <a:pPr marL="457200" indent="-457200">
              <a:lnSpc>
                <a:spcPct val="150000"/>
              </a:lnSpc>
              <a:buFont typeface="Arial" panose="020B0604020202020204" pitchFamily="34" charset="0"/>
              <a:buChar char="•"/>
            </a:pPr>
            <a:r>
              <a:rPr lang="en-US" sz="2500" dirty="0">
                <a:latin typeface="+mj-lt"/>
              </a:rPr>
              <a:t>The columns represent regions (NSW and VIC).</a:t>
            </a:r>
          </a:p>
          <a:p>
            <a:pPr marL="457200" indent="-457200">
              <a:lnSpc>
                <a:spcPct val="150000"/>
              </a:lnSpc>
              <a:buFont typeface="Arial" panose="020B0604020202020204" pitchFamily="34" charset="0"/>
              <a:buChar char="•"/>
            </a:pPr>
            <a:r>
              <a:rPr lang="en-US" sz="2500" dirty="0">
                <a:latin typeface="+mj-lt"/>
              </a:rPr>
              <a:t>The numbers are the sales values from the original table.</a:t>
            </a:r>
          </a:p>
          <a:p>
            <a:pPr>
              <a:lnSpc>
                <a:spcPct val="150000"/>
              </a:lnSpc>
            </a:pPr>
            <a:r>
              <a:rPr lang="en-US" sz="2500" dirty="0">
                <a:latin typeface="+mj-lt"/>
              </a:rPr>
              <a:t>So, we can quickly see that:</a:t>
            </a:r>
          </a:p>
          <a:p>
            <a:pPr marL="457200" indent="-457200">
              <a:lnSpc>
                <a:spcPct val="150000"/>
              </a:lnSpc>
              <a:buFont typeface="Arial" panose="020B0604020202020204" pitchFamily="34" charset="0"/>
              <a:buChar char="•"/>
            </a:pPr>
            <a:r>
              <a:rPr lang="en-US" sz="2500" dirty="0">
                <a:latin typeface="+mj-lt"/>
              </a:rPr>
              <a:t>In 2022, NSW sold 200 and VIC sold 150.</a:t>
            </a:r>
          </a:p>
          <a:p>
            <a:pPr marL="457200" indent="-457200">
              <a:lnSpc>
                <a:spcPct val="150000"/>
              </a:lnSpc>
              <a:buFont typeface="Arial" panose="020B0604020202020204" pitchFamily="34" charset="0"/>
              <a:buChar char="•"/>
            </a:pPr>
            <a:r>
              <a:rPr lang="en-US" sz="2500" dirty="0">
                <a:latin typeface="+mj-lt"/>
              </a:rPr>
              <a:t>In 2023, NSW sold 220 and VIC sold 180.</a:t>
            </a:r>
          </a:p>
        </p:txBody>
      </p:sp>
      <p:sp>
        <p:nvSpPr>
          <p:cNvPr id="7" name="Rectangle: Rounded Corners 6">
            <a:extLst>
              <a:ext uri="{FF2B5EF4-FFF2-40B4-BE49-F238E27FC236}">
                <a16:creationId xmlns:a16="http://schemas.microsoft.com/office/drawing/2014/main" id="{C3DD2B37-79BF-9EA5-C51F-CC244830EA2F}"/>
              </a:ext>
            </a:extLst>
          </p:cNvPr>
          <p:cNvSpPr/>
          <p:nvPr/>
        </p:nvSpPr>
        <p:spPr>
          <a:xfrm>
            <a:off x="152400" y="4114800"/>
            <a:ext cx="2437130" cy="10668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34904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D592-793A-8D4E-9637-C3CAC90FB9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212251-B11F-B865-8EBE-542A767A8425}"/>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Reshaping with Pivot, Melt, Stack &amp; Unstack</a:t>
            </a:r>
            <a:endParaRPr spc="-20" dirty="0">
              <a:latin typeface="+mj-lt"/>
            </a:endParaRPr>
          </a:p>
        </p:txBody>
      </p:sp>
      <p:sp>
        <p:nvSpPr>
          <p:cNvPr id="5" name="object 5">
            <a:extLst>
              <a:ext uri="{FF2B5EF4-FFF2-40B4-BE49-F238E27FC236}">
                <a16:creationId xmlns:a16="http://schemas.microsoft.com/office/drawing/2014/main" id="{7588B954-009A-1A47-EB56-39B43B24B3C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F2905995-69AA-ABBF-CEF7-9F58ED741497}"/>
              </a:ext>
            </a:extLst>
          </p:cNvPr>
          <p:cNvGraphicFramePr>
            <a:graphicFrameLocks noGrp="1"/>
          </p:cNvGraphicFramePr>
          <p:nvPr>
            <p:extLst>
              <p:ext uri="{D42A27DB-BD31-4B8C-83A1-F6EECF244321}">
                <p14:modId xmlns:p14="http://schemas.microsoft.com/office/powerpoint/2010/main" val="3509151862"/>
              </p:ext>
            </p:extLst>
          </p:nvPr>
        </p:nvGraphicFramePr>
        <p:xfrm>
          <a:off x="750017" y="2015778"/>
          <a:ext cx="7936783" cy="3941572"/>
        </p:xfrm>
        <a:graphic>
          <a:graphicData uri="http://schemas.openxmlformats.org/drawingml/2006/table">
            <a:tbl>
              <a:tblPr>
                <a:tableStyleId>{ED083AE6-46FA-4A59-8FB0-9F97EB10719F}</a:tableStyleId>
              </a:tblPr>
              <a:tblGrid>
                <a:gridCol w="2478881">
                  <a:extLst>
                    <a:ext uri="{9D8B030D-6E8A-4147-A177-3AD203B41FA5}">
                      <a16:colId xmlns:a16="http://schemas.microsoft.com/office/drawing/2014/main" val="958224438"/>
                    </a:ext>
                  </a:extLst>
                </a:gridCol>
                <a:gridCol w="5457902">
                  <a:extLst>
                    <a:ext uri="{9D8B030D-6E8A-4147-A177-3AD203B41FA5}">
                      <a16:colId xmlns:a16="http://schemas.microsoft.com/office/drawing/2014/main" val="581717143"/>
                    </a:ext>
                  </a:extLst>
                </a:gridCol>
              </a:tblGrid>
              <a:tr h="0">
                <a:tc>
                  <a:txBody>
                    <a:bodyPr/>
                    <a:lstStyle/>
                    <a:p>
                      <a:pPr>
                        <a:lnSpc>
                          <a:spcPct val="150000"/>
                        </a:lnSpc>
                        <a:buNone/>
                      </a:pPr>
                      <a:r>
                        <a:rPr lang="en-US" sz="2800" dirty="0">
                          <a:latin typeface="+mj-lt"/>
                        </a:rPr>
                        <a:t>Step</a:t>
                      </a:r>
                    </a:p>
                  </a:txBody>
                  <a:tcPr anchor="ctr">
                    <a:solidFill>
                      <a:schemeClr val="accent4">
                        <a:lumMod val="20000"/>
                        <a:lumOff val="80000"/>
                      </a:schemeClr>
                    </a:solidFill>
                  </a:tcPr>
                </a:tc>
                <a:tc>
                  <a:txBody>
                    <a:bodyPr/>
                    <a:lstStyle/>
                    <a:p>
                      <a:pPr>
                        <a:lnSpc>
                          <a:spcPct val="150000"/>
                        </a:lnSpc>
                        <a:buNone/>
                      </a:pPr>
                      <a:r>
                        <a:rPr lang="en-US" sz="2800" dirty="0">
                          <a:latin typeface="+mj-lt"/>
                        </a:rPr>
                        <a:t>What It Does</a:t>
                      </a:r>
                    </a:p>
                  </a:txBody>
                  <a:tcPr anchor="ctr">
                    <a:solidFill>
                      <a:schemeClr val="accent4">
                        <a:lumMod val="20000"/>
                        <a:lumOff val="80000"/>
                      </a:schemeClr>
                    </a:solidFill>
                  </a:tcPr>
                </a:tc>
                <a:extLst>
                  <a:ext uri="{0D108BD9-81ED-4DB2-BD59-A6C34878D82A}">
                    <a16:rowId xmlns:a16="http://schemas.microsoft.com/office/drawing/2014/main" val="172409019"/>
                  </a:ext>
                </a:extLst>
              </a:tr>
              <a:tr h="0">
                <a:tc>
                  <a:txBody>
                    <a:bodyPr/>
                    <a:lstStyle/>
                    <a:p>
                      <a:pPr>
                        <a:lnSpc>
                          <a:spcPct val="150000"/>
                        </a:lnSpc>
                        <a:buNone/>
                      </a:pPr>
                      <a:r>
                        <a:rPr lang="en-US" sz="2800">
                          <a:latin typeface="+mj-lt"/>
                        </a:rPr>
                        <a:t>Create table</a:t>
                      </a:r>
                    </a:p>
                  </a:txBody>
                  <a:tcPr anchor="ctr"/>
                </a:tc>
                <a:tc>
                  <a:txBody>
                    <a:bodyPr/>
                    <a:lstStyle/>
                    <a:p>
                      <a:pPr>
                        <a:lnSpc>
                          <a:spcPct val="150000"/>
                        </a:lnSpc>
                        <a:buNone/>
                      </a:pPr>
                      <a:r>
                        <a:rPr lang="en-US" sz="2800">
                          <a:latin typeface="+mj-lt"/>
                        </a:rPr>
                        <a:t>Builds a dataset of Year, Region, and Sales</a:t>
                      </a:r>
                    </a:p>
                  </a:txBody>
                  <a:tcPr anchor="ctr"/>
                </a:tc>
                <a:extLst>
                  <a:ext uri="{0D108BD9-81ED-4DB2-BD59-A6C34878D82A}">
                    <a16:rowId xmlns:a16="http://schemas.microsoft.com/office/drawing/2014/main" val="3270596013"/>
                  </a:ext>
                </a:extLst>
              </a:tr>
              <a:tr h="0">
                <a:tc>
                  <a:txBody>
                    <a:bodyPr/>
                    <a:lstStyle/>
                    <a:p>
                      <a:pPr>
                        <a:lnSpc>
                          <a:spcPct val="150000"/>
                        </a:lnSpc>
                        <a:buNone/>
                      </a:pPr>
                      <a:r>
                        <a:rPr lang="en-US" sz="2800">
                          <a:latin typeface="+mj-lt"/>
                        </a:rPr>
                        <a:t>Pivot</a:t>
                      </a:r>
                    </a:p>
                  </a:txBody>
                  <a:tcPr anchor="ctr"/>
                </a:tc>
                <a:tc>
                  <a:txBody>
                    <a:bodyPr/>
                    <a:lstStyle/>
                    <a:p>
                      <a:pPr>
                        <a:lnSpc>
                          <a:spcPct val="150000"/>
                        </a:lnSpc>
                        <a:buNone/>
                      </a:pPr>
                      <a:r>
                        <a:rPr lang="en-US" sz="2800">
                          <a:latin typeface="+mj-lt"/>
                        </a:rPr>
                        <a:t>Rearranges data for easier comparison</a:t>
                      </a:r>
                    </a:p>
                  </a:txBody>
                  <a:tcPr anchor="ctr"/>
                </a:tc>
                <a:extLst>
                  <a:ext uri="{0D108BD9-81ED-4DB2-BD59-A6C34878D82A}">
                    <a16:rowId xmlns:a16="http://schemas.microsoft.com/office/drawing/2014/main" val="1371347026"/>
                  </a:ext>
                </a:extLst>
              </a:tr>
              <a:tr h="0">
                <a:tc>
                  <a:txBody>
                    <a:bodyPr/>
                    <a:lstStyle/>
                    <a:p>
                      <a:pPr>
                        <a:lnSpc>
                          <a:spcPct val="150000"/>
                        </a:lnSpc>
                        <a:buNone/>
                      </a:pPr>
                      <a:r>
                        <a:rPr lang="en-US" sz="2800">
                          <a:latin typeface="+mj-lt"/>
                        </a:rPr>
                        <a:t>Output</a:t>
                      </a:r>
                    </a:p>
                  </a:txBody>
                  <a:tcPr anchor="ctr"/>
                </a:tc>
                <a:tc>
                  <a:txBody>
                    <a:bodyPr/>
                    <a:lstStyle/>
                    <a:p>
                      <a:pPr>
                        <a:lnSpc>
                          <a:spcPct val="150000"/>
                        </a:lnSpc>
                        <a:buNone/>
                      </a:pPr>
                      <a:r>
                        <a:rPr lang="en-US" sz="2800" dirty="0">
                          <a:latin typeface="+mj-lt"/>
                        </a:rPr>
                        <a:t>Shows sales per year and per region</a:t>
                      </a:r>
                    </a:p>
                  </a:txBody>
                  <a:tcPr anchor="ctr"/>
                </a:tc>
                <a:extLst>
                  <a:ext uri="{0D108BD9-81ED-4DB2-BD59-A6C34878D82A}">
                    <a16:rowId xmlns:a16="http://schemas.microsoft.com/office/drawing/2014/main" val="981925176"/>
                  </a:ext>
                </a:extLst>
              </a:tr>
            </a:tbl>
          </a:graphicData>
        </a:graphic>
      </p:graphicFrame>
      <p:sp>
        <p:nvSpPr>
          <p:cNvPr id="9" name="Rectangle 1">
            <a:extLst>
              <a:ext uri="{FF2B5EF4-FFF2-40B4-BE49-F238E27FC236}">
                <a16:creationId xmlns:a16="http://schemas.microsoft.com/office/drawing/2014/main" id="{CDC6E152-6A44-BF0D-C106-AD130D9A4344}"/>
              </a:ext>
            </a:extLst>
          </p:cNvPr>
          <p:cNvSpPr>
            <a:spLocks noChangeArrowheads="1"/>
          </p:cNvSpPr>
          <p:nvPr/>
        </p:nvSpPr>
        <p:spPr bwMode="auto">
          <a:xfrm>
            <a:off x="-23751" y="1259566"/>
            <a:ext cx="1606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Summary</a:t>
            </a:r>
          </a:p>
        </p:txBody>
      </p:sp>
    </p:spTree>
    <p:extLst>
      <p:ext uri="{BB962C8B-B14F-4D97-AF65-F5344CB8AC3E}">
        <p14:creationId xmlns:p14="http://schemas.microsoft.com/office/powerpoint/2010/main" val="7387979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0752-2668-710B-562C-AEE39F2348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756491-DFD1-06DD-2526-583358B63D7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8E9A1931-F883-99C9-B7CF-9CA1FD46994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D1F1943B-6C79-6FD0-3C4A-4CC3F98DA964}"/>
              </a:ext>
            </a:extLst>
          </p:cNvPr>
          <p:cNvSpPr txBox="1"/>
          <p:nvPr/>
        </p:nvSpPr>
        <p:spPr>
          <a:xfrm>
            <a:off x="-23751" y="986265"/>
            <a:ext cx="9167751" cy="1315425"/>
          </a:xfrm>
          <a:prstGeom prst="rect">
            <a:avLst/>
          </a:prstGeom>
          <a:noFill/>
        </p:spPr>
        <p:txBody>
          <a:bodyPr wrap="square">
            <a:spAutoFit/>
          </a:bodyPr>
          <a:lstStyle/>
          <a:p>
            <a:pPr>
              <a:lnSpc>
                <a:spcPct val="150000"/>
              </a:lnSpc>
              <a:buNone/>
            </a:pPr>
            <a:r>
              <a:rPr lang="en-US" sz="2800" dirty="0">
                <a:latin typeface="+mj-lt"/>
              </a:rPr>
              <a:t>Create a table of students with marks in 3 subjects, then pivot to show each subject as a column.</a:t>
            </a:r>
            <a:endParaRPr lang="en-US" sz="2500" dirty="0">
              <a:latin typeface="+mj-lt"/>
            </a:endParaRPr>
          </a:p>
        </p:txBody>
      </p:sp>
      <p:pic>
        <p:nvPicPr>
          <p:cNvPr id="6" name="Timer">
            <a:hlinkClick r:id="" action="ppaction://media"/>
            <a:extLst>
              <a:ext uri="{FF2B5EF4-FFF2-40B4-BE49-F238E27FC236}">
                <a16:creationId xmlns:a16="http://schemas.microsoft.com/office/drawing/2014/main" id="{2767CB17-DDE1-97FD-0495-A3CB28B3CDF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18207" y="3429000"/>
            <a:ext cx="1683834" cy="758283"/>
          </a:xfrm>
          <a:prstGeom prst="rect">
            <a:avLst/>
          </a:prstGeom>
          <a:ln w="38100">
            <a:solidFill>
              <a:srgbClr val="FF0000"/>
            </a:solidFill>
          </a:ln>
        </p:spPr>
      </p:pic>
    </p:spTree>
    <p:extLst>
      <p:ext uri="{BB962C8B-B14F-4D97-AF65-F5344CB8AC3E}">
        <p14:creationId xmlns:p14="http://schemas.microsoft.com/office/powerpoint/2010/main" val="3140400546"/>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0752-2668-710B-562C-AEE39F2348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756491-DFD1-06DD-2526-583358B63D7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8E9A1931-F883-99C9-B7CF-9CA1FD46994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483219C6-CCEB-BC1E-7523-8E0699F368D0}"/>
              </a:ext>
            </a:extLst>
          </p:cNvPr>
          <p:cNvPicPr>
            <a:picLocks noChangeAspect="1"/>
          </p:cNvPicPr>
          <p:nvPr/>
        </p:nvPicPr>
        <p:blipFill>
          <a:blip r:embed="rId2"/>
          <a:srcRect b="14444"/>
          <a:stretch>
            <a:fillRect/>
          </a:stretch>
        </p:blipFill>
        <p:spPr>
          <a:xfrm>
            <a:off x="7374" y="536590"/>
            <a:ext cx="8908026" cy="4286988"/>
          </a:xfrm>
          <a:prstGeom prst="rect">
            <a:avLst/>
          </a:prstGeom>
        </p:spPr>
      </p:pic>
      <p:sp>
        <p:nvSpPr>
          <p:cNvPr id="8" name="Rectangle 1">
            <a:extLst>
              <a:ext uri="{FF2B5EF4-FFF2-40B4-BE49-F238E27FC236}">
                <a16:creationId xmlns:a16="http://schemas.microsoft.com/office/drawing/2014/main" id="{34DC41B2-24C7-A1C7-5E93-B682C8C15A8A}"/>
              </a:ext>
            </a:extLst>
          </p:cNvPr>
          <p:cNvSpPr>
            <a:spLocks noChangeArrowheads="1"/>
          </p:cNvSpPr>
          <p:nvPr/>
        </p:nvSpPr>
        <p:spPr bwMode="auto">
          <a:xfrm>
            <a:off x="-23751" y="4893488"/>
            <a:ext cx="9144000" cy="196451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sz="2800" dirty="0">
                <a:latin typeface="+mj-lt"/>
              </a:rPr>
              <a:t>Create a small table (</a:t>
            </a:r>
            <a:r>
              <a:rPr lang="en-US" sz="2800" dirty="0" err="1">
                <a:latin typeface="+mj-lt"/>
              </a:rPr>
              <a:t>DataFrame</a:t>
            </a:r>
            <a:r>
              <a:rPr lang="en-US" sz="2800" dirty="0">
                <a:latin typeface="+mj-lt"/>
              </a:rPr>
              <a:t>): This creates a table (</a:t>
            </a:r>
            <a:r>
              <a:rPr lang="en-US" sz="2800" dirty="0" err="1">
                <a:latin typeface="+mj-lt"/>
              </a:rPr>
              <a:t>DataFrame</a:t>
            </a:r>
            <a:r>
              <a:rPr lang="en-US" sz="2800" dirty="0">
                <a:latin typeface="+mj-lt"/>
              </a:rPr>
              <a:t>) with three columns. It shows each student’s name, the subject, and their mark.</a:t>
            </a:r>
            <a:endParaRPr kumimoji="0" lang="en-US" altLang="en-US" sz="2800" i="0" u="none" strike="noStrike" cap="none" normalizeH="0" baseline="0" dirty="0">
              <a:ln>
                <a:noFill/>
              </a:ln>
              <a:solidFill>
                <a:schemeClr val="tx1"/>
              </a:solidFill>
              <a:effectLst/>
              <a:latin typeface="+mj-lt"/>
            </a:endParaRPr>
          </a:p>
        </p:txBody>
      </p:sp>
      <p:sp>
        <p:nvSpPr>
          <p:cNvPr id="10" name="Rectangle: Rounded Corners 9">
            <a:extLst>
              <a:ext uri="{FF2B5EF4-FFF2-40B4-BE49-F238E27FC236}">
                <a16:creationId xmlns:a16="http://schemas.microsoft.com/office/drawing/2014/main" id="{B61A3340-1071-FAAF-DA55-ECEDB585C702}"/>
              </a:ext>
            </a:extLst>
          </p:cNvPr>
          <p:cNvSpPr/>
          <p:nvPr/>
        </p:nvSpPr>
        <p:spPr>
          <a:xfrm>
            <a:off x="838200" y="2232102"/>
            <a:ext cx="5181600" cy="10668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88318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EC9A3-4751-C057-C78D-1BD58CFB56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8490F91-2E2D-2070-7631-936FAA5F4E4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4123D608-1A38-4B2F-6D08-2388B4A3CA3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0B177C77-109C-1B1A-BD72-A80774FD8737}"/>
              </a:ext>
            </a:extLst>
          </p:cNvPr>
          <p:cNvPicPr>
            <a:picLocks noChangeAspect="1"/>
          </p:cNvPicPr>
          <p:nvPr/>
        </p:nvPicPr>
        <p:blipFill>
          <a:blip r:embed="rId2"/>
          <a:srcRect b="14444"/>
          <a:stretch>
            <a:fillRect/>
          </a:stretch>
        </p:blipFill>
        <p:spPr>
          <a:xfrm>
            <a:off x="7374" y="536590"/>
            <a:ext cx="8908026" cy="4286988"/>
          </a:xfrm>
          <a:prstGeom prst="rect">
            <a:avLst/>
          </a:prstGeom>
        </p:spPr>
      </p:pic>
      <p:sp>
        <p:nvSpPr>
          <p:cNvPr id="8" name="Rectangle 1">
            <a:extLst>
              <a:ext uri="{FF2B5EF4-FFF2-40B4-BE49-F238E27FC236}">
                <a16:creationId xmlns:a16="http://schemas.microsoft.com/office/drawing/2014/main" id="{8E9D805B-BE81-1F6F-248B-D27794F7C2AE}"/>
              </a:ext>
            </a:extLst>
          </p:cNvPr>
          <p:cNvSpPr>
            <a:spLocks noChangeArrowheads="1"/>
          </p:cNvSpPr>
          <p:nvPr/>
        </p:nvSpPr>
        <p:spPr bwMode="auto">
          <a:xfrm>
            <a:off x="7374" y="3771129"/>
            <a:ext cx="9144000" cy="308687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200" dirty="0">
                <a:latin typeface="+mj-lt"/>
              </a:rPr>
              <a:t>Pivot the table: This line reshapes the table to make it easier to compare marks.</a:t>
            </a:r>
          </a:p>
          <a:p>
            <a:pPr marL="457200" indent="-457200">
              <a:lnSpc>
                <a:spcPct val="150000"/>
              </a:lnSpc>
              <a:buFont typeface="Arial" panose="020B0604020202020204" pitchFamily="34" charset="0"/>
              <a:buChar char="•"/>
            </a:pPr>
            <a:r>
              <a:rPr lang="en-US" sz="2200" dirty="0">
                <a:latin typeface="+mj-lt"/>
              </a:rPr>
              <a:t>index='Student' → each row represents a student.</a:t>
            </a:r>
          </a:p>
          <a:p>
            <a:pPr marL="457200" indent="-457200">
              <a:lnSpc>
                <a:spcPct val="150000"/>
              </a:lnSpc>
              <a:buFont typeface="Arial" panose="020B0604020202020204" pitchFamily="34" charset="0"/>
              <a:buChar char="•"/>
            </a:pPr>
            <a:r>
              <a:rPr lang="en-US" sz="2200" dirty="0">
                <a:latin typeface="+mj-lt"/>
              </a:rPr>
              <a:t>columns='Subject' → each column becomes a subject (Math, Science).</a:t>
            </a:r>
          </a:p>
          <a:p>
            <a:pPr marL="457200" indent="-457200">
              <a:lnSpc>
                <a:spcPct val="150000"/>
              </a:lnSpc>
              <a:buFont typeface="Arial" panose="020B0604020202020204" pitchFamily="34" charset="0"/>
              <a:buChar char="•"/>
            </a:pPr>
            <a:r>
              <a:rPr lang="en-US" sz="2200" dirty="0">
                <a:latin typeface="+mj-lt"/>
              </a:rPr>
              <a:t>values='Mark' → the numbers shown are the marks.</a:t>
            </a:r>
          </a:p>
          <a:p>
            <a:pPr>
              <a:lnSpc>
                <a:spcPct val="150000"/>
              </a:lnSpc>
            </a:pPr>
            <a:r>
              <a:rPr lang="en-US" sz="2200" dirty="0">
                <a:latin typeface="+mj-lt"/>
              </a:rPr>
              <a:t>So instead of having subjects listed in rows, we now see them as columns.</a:t>
            </a:r>
          </a:p>
        </p:txBody>
      </p:sp>
      <p:sp>
        <p:nvSpPr>
          <p:cNvPr id="10" name="Rectangle: Rounded Corners 9">
            <a:extLst>
              <a:ext uri="{FF2B5EF4-FFF2-40B4-BE49-F238E27FC236}">
                <a16:creationId xmlns:a16="http://schemas.microsoft.com/office/drawing/2014/main" id="{704AEB4F-C56A-C2D0-C37E-5DE960257ECA}"/>
              </a:ext>
            </a:extLst>
          </p:cNvPr>
          <p:cNvSpPr/>
          <p:nvPr/>
        </p:nvSpPr>
        <p:spPr>
          <a:xfrm>
            <a:off x="845880" y="3397404"/>
            <a:ext cx="5707319" cy="3810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7432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5DC8-C716-711F-B1D9-918C98652A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CB1BA0-3A51-22F9-4BC3-E25398D7476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A8B41C08-C5D9-AF66-5C21-8498A5DDD4F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80880621-CA31-6752-F9D2-19FA994A3B22}"/>
              </a:ext>
            </a:extLst>
          </p:cNvPr>
          <p:cNvPicPr>
            <a:picLocks noChangeAspect="1"/>
          </p:cNvPicPr>
          <p:nvPr/>
        </p:nvPicPr>
        <p:blipFill>
          <a:blip r:embed="rId2"/>
          <a:srcRect b="14444"/>
          <a:stretch>
            <a:fillRect/>
          </a:stretch>
        </p:blipFill>
        <p:spPr>
          <a:xfrm>
            <a:off x="7374" y="536590"/>
            <a:ext cx="8908026" cy="4286988"/>
          </a:xfrm>
          <a:prstGeom prst="rect">
            <a:avLst/>
          </a:prstGeom>
        </p:spPr>
      </p:pic>
      <p:sp>
        <p:nvSpPr>
          <p:cNvPr id="8" name="Rectangle 1">
            <a:extLst>
              <a:ext uri="{FF2B5EF4-FFF2-40B4-BE49-F238E27FC236}">
                <a16:creationId xmlns:a16="http://schemas.microsoft.com/office/drawing/2014/main" id="{A37CC2AE-9AF5-FEF9-9DC6-3017F9F60F57}"/>
              </a:ext>
            </a:extLst>
          </p:cNvPr>
          <p:cNvSpPr>
            <a:spLocks noChangeArrowheads="1"/>
          </p:cNvSpPr>
          <p:nvPr/>
        </p:nvSpPr>
        <p:spPr bwMode="auto">
          <a:xfrm>
            <a:off x="7374" y="5020992"/>
            <a:ext cx="9144000" cy="669094"/>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mj-lt"/>
              </a:rPr>
              <a:t>Print the new table</a:t>
            </a:r>
            <a:r>
              <a:rPr lang="fa-IR" sz="2800" dirty="0">
                <a:latin typeface="+mj-lt"/>
              </a:rPr>
              <a:t>. </a:t>
            </a:r>
            <a:r>
              <a:rPr lang="en-US" sz="2800" dirty="0">
                <a:latin typeface="+mj-lt"/>
              </a:rPr>
              <a:t>This displays the new, cleaner format:</a:t>
            </a:r>
          </a:p>
        </p:txBody>
      </p:sp>
      <p:sp>
        <p:nvSpPr>
          <p:cNvPr id="10" name="Rectangle: Rounded Corners 9">
            <a:extLst>
              <a:ext uri="{FF2B5EF4-FFF2-40B4-BE49-F238E27FC236}">
                <a16:creationId xmlns:a16="http://schemas.microsoft.com/office/drawing/2014/main" id="{B67F04A1-0FE5-CD8A-A3D1-FC336BC41D7B}"/>
              </a:ext>
            </a:extLst>
          </p:cNvPr>
          <p:cNvSpPr/>
          <p:nvPr/>
        </p:nvSpPr>
        <p:spPr>
          <a:xfrm>
            <a:off x="838200" y="3733800"/>
            <a:ext cx="5707319" cy="228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35543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C97A0-3CA3-9B11-E1E5-9B46964A31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86EB2A-4E23-3CCA-3D2C-FCFC97310210}"/>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E9DC95A7-D21F-5B46-5722-FF19923E7E5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32D5B486-0034-8C25-AE9D-6CC66A1AB118}"/>
              </a:ext>
            </a:extLst>
          </p:cNvPr>
          <p:cNvPicPr>
            <a:picLocks noChangeAspect="1"/>
          </p:cNvPicPr>
          <p:nvPr/>
        </p:nvPicPr>
        <p:blipFill>
          <a:blip r:embed="rId2"/>
          <a:srcRect b="14444"/>
          <a:stretch>
            <a:fillRect/>
          </a:stretch>
        </p:blipFill>
        <p:spPr>
          <a:xfrm>
            <a:off x="7374" y="536590"/>
            <a:ext cx="8908026" cy="4286988"/>
          </a:xfrm>
          <a:prstGeom prst="rect">
            <a:avLst/>
          </a:prstGeom>
        </p:spPr>
      </p:pic>
      <p:sp>
        <p:nvSpPr>
          <p:cNvPr id="8" name="Rectangle 1">
            <a:extLst>
              <a:ext uri="{FF2B5EF4-FFF2-40B4-BE49-F238E27FC236}">
                <a16:creationId xmlns:a16="http://schemas.microsoft.com/office/drawing/2014/main" id="{D37C19DD-C678-C257-DAD5-E5C436AE2CF0}"/>
              </a:ext>
            </a:extLst>
          </p:cNvPr>
          <p:cNvSpPr>
            <a:spLocks noChangeArrowheads="1"/>
          </p:cNvSpPr>
          <p:nvPr/>
        </p:nvSpPr>
        <p:spPr bwMode="auto">
          <a:xfrm>
            <a:off x="2989399" y="2954496"/>
            <a:ext cx="6143860" cy="3903504"/>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Each student now appears once in the table.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Their Math and Science marks are shown side by side.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It’s now much easier to read and compare students’ marks.</a:t>
            </a:r>
          </a:p>
        </p:txBody>
      </p:sp>
      <p:sp>
        <p:nvSpPr>
          <p:cNvPr id="4" name="Rectangle: Rounded Corners 3">
            <a:extLst>
              <a:ext uri="{FF2B5EF4-FFF2-40B4-BE49-F238E27FC236}">
                <a16:creationId xmlns:a16="http://schemas.microsoft.com/office/drawing/2014/main" id="{F30E9F50-F768-F4AB-A743-E818F7DDF29B}"/>
              </a:ext>
            </a:extLst>
          </p:cNvPr>
          <p:cNvSpPr/>
          <p:nvPr/>
        </p:nvSpPr>
        <p:spPr>
          <a:xfrm>
            <a:off x="838200" y="4020107"/>
            <a:ext cx="2057400" cy="78116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1906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AD445-2386-9C31-36BC-5224BA685AA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4288A6-5CBA-4442-B88D-C1D7D744C3B6}"/>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9</a:t>
            </a:r>
            <a:endParaRPr spc="-20" dirty="0">
              <a:latin typeface="+mj-lt"/>
            </a:endParaRPr>
          </a:p>
        </p:txBody>
      </p:sp>
      <p:sp>
        <p:nvSpPr>
          <p:cNvPr id="5" name="object 5">
            <a:extLst>
              <a:ext uri="{FF2B5EF4-FFF2-40B4-BE49-F238E27FC236}">
                <a16:creationId xmlns:a16="http://schemas.microsoft.com/office/drawing/2014/main" id="{FB3B4478-74BD-22EB-4042-7B2B2B2A497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F587648B-814F-CBE4-553E-8A5AD53B02EC}"/>
              </a:ext>
            </a:extLst>
          </p:cNvPr>
          <p:cNvGraphicFramePr>
            <a:graphicFrameLocks noGrp="1"/>
          </p:cNvGraphicFramePr>
          <p:nvPr>
            <p:extLst>
              <p:ext uri="{D42A27DB-BD31-4B8C-83A1-F6EECF244321}">
                <p14:modId xmlns:p14="http://schemas.microsoft.com/office/powerpoint/2010/main" val="659907323"/>
              </p:ext>
            </p:extLst>
          </p:nvPr>
        </p:nvGraphicFramePr>
        <p:xfrm>
          <a:off x="293359" y="1600200"/>
          <a:ext cx="8557282" cy="4581652"/>
        </p:xfrm>
        <a:graphic>
          <a:graphicData uri="http://schemas.openxmlformats.org/drawingml/2006/table">
            <a:tbl>
              <a:tblPr>
                <a:tableStyleId>{ED083AE6-46FA-4A59-8FB0-9F97EB10719F}</a:tableStyleId>
              </a:tblPr>
              <a:tblGrid>
                <a:gridCol w="2478881">
                  <a:extLst>
                    <a:ext uri="{9D8B030D-6E8A-4147-A177-3AD203B41FA5}">
                      <a16:colId xmlns:a16="http://schemas.microsoft.com/office/drawing/2014/main" val="3515518938"/>
                    </a:ext>
                  </a:extLst>
                </a:gridCol>
                <a:gridCol w="6078401">
                  <a:extLst>
                    <a:ext uri="{9D8B030D-6E8A-4147-A177-3AD203B41FA5}">
                      <a16:colId xmlns:a16="http://schemas.microsoft.com/office/drawing/2014/main" val="3215695997"/>
                    </a:ext>
                  </a:extLst>
                </a:gridCol>
              </a:tblGrid>
              <a:tr h="0">
                <a:tc>
                  <a:txBody>
                    <a:bodyPr/>
                    <a:lstStyle/>
                    <a:p>
                      <a:pPr>
                        <a:lnSpc>
                          <a:spcPct val="150000"/>
                        </a:lnSpc>
                        <a:buNone/>
                      </a:pPr>
                      <a:r>
                        <a:rPr lang="en-US" sz="2800" dirty="0">
                          <a:latin typeface="+mj-lt"/>
                        </a:rPr>
                        <a:t>Step</a:t>
                      </a:r>
                    </a:p>
                  </a:txBody>
                  <a:tcPr anchor="ctr">
                    <a:solidFill>
                      <a:schemeClr val="accent4">
                        <a:lumMod val="20000"/>
                        <a:lumOff val="80000"/>
                      </a:schemeClr>
                    </a:solidFill>
                  </a:tcPr>
                </a:tc>
                <a:tc>
                  <a:txBody>
                    <a:bodyPr/>
                    <a:lstStyle/>
                    <a:p>
                      <a:pPr>
                        <a:lnSpc>
                          <a:spcPct val="150000"/>
                        </a:lnSpc>
                        <a:buNone/>
                      </a:pPr>
                      <a:r>
                        <a:rPr lang="en-US" sz="2800" dirty="0">
                          <a:latin typeface="+mj-lt"/>
                        </a:rPr>
                        <a:t>What it Does</a:t>
                      </a:r>
                    </a:p>
                  </a:txBody>
                  <a:tcPr anchor="ctr">
                    <a:solidFill>
                      <a:schemeClr val="accent4">
                        <a:lumMod val="20000"/>
                        <a:lumOff val="80000"/>
                      </a:schemeClr>
                    </a:solidFill>
                  </a:tcPr>
                </a:tc>
                <a:extLst>
                  <a:ext uri="{0D108BD9-81ED-4DB2-BD59-A6C34878D82A}">
                    <a16:rowId xmlns:a16="http://schemas.microsoft.com/office/drawing/2014/main" val="3311206193"/>
                  </a:ext>
                </a:extLst>
              </a:tr>
              <a:tr h="0">
                <a:tc>
                  <a:txBody>
                    <a:bodyPr/>
                    <a:lstStyle/>
                    <a:p>
                      <a:pPr>
                        <a:lnSpc>
                          <a:spcPct val="150000"/>
                        </a:lnSpc>
                        <a:buNone/>
                      </a:pPr>
                      <a:r>
                        <a:rPr lang="en-US" sz="2800">
                          <a:latin typeface="+mj-lt"/>
                        </a:rPr>
                        <a:t>Create table</a:t>
                      </a:r>
                    </a:p>
                  </a:txBody>
                  <a:tcPr anchor="ctr"/>
                </a:tc>
                <a:tc>
                  <a:txBody>
                    <a:bodyPr/>
                    <a:lstStyle/>
                    <a:p>
                      <a:pPr>
                        <a:lnSpc>
                          <a:spcPct val="150000"/>
                        </a:lnSpc>
                        <a:buNone/>
                      </a:pPr>
                      <a:r>
                        <a:rPr lang="en-US" sz="2800">
                          <a:latin typeface="+mj-lt"/>
                        </a:rPr>
                        <a:t>Makes a list of students, subjects, and marks</a:t>
                      </a:r>
                    </a:p>
                  </a:txBody>
                  <a:tcPr anchor="ctr"/>
                </a:tc>
                <a:extLst>
                  <a:ext uri="{0D108BD9-81ED-4DB2-BD59-A6C34878D82A}">
                    <a16:rowId xmlns:a16="http://schemas.microsoft.com/office/drawing/2014/main" val="3789591477"/>
                  </a:ext>
                </a:extLst>
              </a:tr>
              <a:tr h="0">
                <a:tc>
                  <a:txBody>
                    <a:bodyPr/>
                    <a:lstStyle/>
                    <a:p>
                      <a:pPr>
                        <a:lnSpc>
                          <a:spcPct val="150000"/>
                        </a:lnSpc>
                        <a:buNone/>
                      </a:pPr>
                      <a:r>
                        <a:rPr lang="en-US" sz="2800">
                          <a:latin typeface="+mj-lt"/>
                        </a:rPr>
                        <a:t>Pivot</a:t>
                      </a:r>
                    </a:p>
                  </a:txBody>
                  <a:tcPr anchor="ctr"/>
                </a:tc>
                <a:tc>
                  <a:txBody>
                    <a:bodyPr/>
                    <a:lstStyle/>
                    <a:p>
                      <a:pPr>
                        <a:lnSpc>
                          <a:spcPct val="150000"/>
                        </a:lnSpc>
                        <a:buNone/>
                      </a:pPr>
                      <a:r>
                        <a:rPr lang="en-US" sz="2800" dirty="0">
                          <a:latin typeface="+mj-lt"/>
                        </a:rPr>
                        <a:t>Turns subjects into columns for easier comparison</a:t>
                      </a:r>
                    </a:p>
                  </a:txBody>
                  <a:tcPr anchor="ctr"/>
                </a:tc>
                <a:extLst>
                  <a:ext uri="{0D108BD9-81ED-4DB2-BD59-A6C34878D82A}">
                    <a16:rowId xmlns:a16="http://schemas.microsoft.com/office/drawing/2014/main" val="2120633846"/>
                  </a:ext>
                </a:extLst>
              </a:tr>
              <a:tr h="0">
                <a:tc>
                  <a:txBody>
                    <a:bodyPr/>
                    <a:lstStyle/>
                    <a:p>
                      <a:pPr>
                        <a:lnSpc>
                          <a:spcPct val="150000"/>
                        </a:lnSpc>
                        <a:buNone/>
                      </a:pPr>
                      <a:r>
                        <a:rPr lang="en-US" sz="2800">
                          <a:latin typeface="+mj-lt"/>
                        </a:rPr>
                        <a:t>Output</a:t>
                      </a:r>
                    </a:p>
                  </a:txBody>
                  <a:tcPr anchor="ctr"/>
                </a:tc>
                <a:tc>
                  <a:txBody>
                    <a:bodyPr/>
                    <a:lstStyle/>
                    <a:p>
                      <a:pPr>
                        <a:lnSpc>
                          <a:spcPct val="150000"/>
                        </a:lnSpc>
                        <a:buNone/>
                      </a:pPr>
                      <a:r>
                        <a:rPr lang="en-US" sz="2800" dirty="0">
                          <a:latin typeface="+mj-lt"/>
                        </a:rPr>
                        <a:t>Shows each student’s marks for each subject clearly</a:t>
                      </a:r>
                    </a:p>
                  </a:txBody>
                  <a:tcPr anchor="ctr"/>
                </a:tc>
                <a:extLst>
                  <a:ext uri="{0D108BD9-81ED-4DB2-BD59-A6C34878D82A}">
                    <a16:rowId xmlns:a16="http://schemas.microsoft.com/office/drawing/2014/main" val="2668065498"/>
                  </a:ext>
                </a:extLst>
              </a:tr>
            </a:tbl>
          </a:graphicData>
        </a:graphic>
      </p:graphicFrame>
      <p:sp>
        <p:nvSpPr>
          <p:cNvPr id="6" name="Rectangle 1">
            <a:extLst>
              <a:ext uri="{FF2B5EF4-FFF2-40B4-BE49-F238E27FC236}">
                <a16:creationId xmlns:a16="http://schemas.microsoft.com/office/drawing/2014/main" id="{28DB8E75-69B0-994E-342F-D6C66C32BD46}"/>
              </a:ext>
            </a:extLst>
          </p:cNvPr>
          <p:cNvSpPr>
            <a:spLocks noChangeArrowheads="1"/>
          </p:cNvSpPr>
          <p:nvPr/>
        </p:nvSpPr>
        <p:spPr bwMode="auto">
          <a:xfrm>
            <a:off x="-23751" y="894933"/>
            <a:ext cx="1606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Summary</a:t>
            </a:r>
          </a:p>
        </p:txBody>
      </p:sp>
    </p:spTree>
    <p:extLst>
      <p:ext uri="{BB962C8B-B14F-4D97-AF65-F5344CB8AC3E}">
        <p14:creationId xmlns:p14="http://schemas.microsoft.com/office/powerpoint/2010/main" val="8049868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5E95F-CA4E-A027-3BC3-011B14D62D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E7CB13-063A-E5C1-0FA1-3677F14CBFC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1035070A-BAF9-CB72-2222-FE5C6F8D1A7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27113FEE-09BF-575A-063F-5049D9018E73}"/>
              </a:ext>
            </a:extLst>
          </p:cNvPr>
          <p:cNvSpPr txBox="1"/>
          <p:nvPr/>
        </p:nvSpPr>
        <p:spPr>
          <a:xfrm>
            <a:off x="-23751" y="986265"/>
            <a:ext cx="9167751" cy="1315425"/>
          </a:xfrm>
          <a:prstGeom prst="rect">
            <a:avLst/>
          </a:prstGeom>
          <a:noFill/>
        </p:spPr>
        <p:txBody>
          <a:bodyPr wrap="square">
            <a:spAutoFit/>
          </a:bodyPr>
          <a:lstStyle/>
          <a:p>
            <a:pPr>
              <a:lnSpc>
                <a:spcPct val="150000"/>
              </a:lnSpc>
              <a:buNone/>
            </a:pPr>
            <a:r>
              <a:rPr lang="en-US" sz="2800" dirty="0">
                <a:latin typeface="+mj-lt"/>
              </a:rPr>
              <a:t>Change wide data (months as columns) into a long list of rows.</a:t>
            </a:r>
            <a:endParaRPr lang="en-US" sz="2500" dirty="0">
              <a:latin typeface="+mj-lt"/>
            </a:endParaRPr>
          </a:p>
        </p:txBody>
      </p:sp>
      <p:pic>
        <p:nvPicPr>
          <p:cNvPr id="6" name="Timer">
            <a:hlinkClick r:id="" action="ppaction://media"/>
            <a:extLst>
              <a:ext uri="{FF2B5EF4-FFF2-40B4-BE49-F238E27FC236}">
                <a16:creationId xmlns:a16="http://schemas.microsoft.com/office/drawing/2014/main" id="{CAA12148-DA53-D344-9F00-51606EA7275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18207" y="3429000"/>
            <a:ext cx="1683834" cy="758283"/>
          </a:xfrm>
          <a:prstGeom prst="rect">
            <a:avLst/>
          </a:prstGeom>
          <a:ln w="38100">
            <a:solidFill>
              <a:srgbClr val="FF0000"/>
            </a:solidFill>
          </a:ln>
        </p:spPr>
      </p:pic>
    </p:spTree>
    <p:extLst>
      <p:ext uri="{BB962C8B-B14F-4D97-AF65-F5344CB8AC3E}">
        <p14:creationId xmlns:p14="http://schemas.microsoft.com/office/powerpoint/2010/main" val="2035470961"/>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5E95F-CA4E-A027-3BC3-011B14D62D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E7CB13-063A-E5C1-0FA1-3677F14CBFC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1035070A-BAF9-CB72-2222-FE5C6F8D1A7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718C58DC-34C4-D76F-18F7-9B1BB869A440}"/>
              </a:ext>
            </a:extLst>
          </p:cNvPr>
          <p:cNvPicPr>
            <a:picLocks noChangeAspect="1"/>
          </p:cNvPicPr>
          <p:nvPr/>
        </p:nvPicPr>
        <p:blipFill>
          <a:blip r:embed="rId2"/>
          <a:srcRect b="11481"/>
          <a:stretch>
            <a:fillRect/>
          </a:stretch>
        </p:blipFill>
        <p:spPr>
          <a:xfrm>
            <a:off x="31531" y="518366"/>
            <a:ext cx="9144000" cy="4552950"/>
          </a:xfrm>
          <a:prstGeom prst="rect">
            <a:avLst/>
          </a:prstGeom>
        </p:spPr>
      </p:pic>
      <p:sp>
        <p:nvSpPr>
          <p:cNvPr id="9" name="TextBox 8">
            <a:extLst>
              <a:ext uri="{FF2B5EF4-FFF2-40B4-BE49-F238E27FC236}">
                <a16:creationId xmlns:a16="http://schemas.microsoft.com/office/drawing/2014/main" id="{1DF8B35B-BA80-C3BC-8B55-765CEA858968}"/>
              </a:ext>
            </a:extLst>
          </p:cNvPr>
          <p:cNvSpPr txBox="1"/>
          <p:nvPr/>
        </p:nvSpPr>
        <p:spPr>
          <a:xfrm>
            <a:off x="5136932" y="1152525"/>
            <a:ext cx="4038599" cy="3257174"/>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Create the original data: This creates a table showing average monthly temperatures for two cities.</a:t>
            </a:r>
          </a:p>
        </p:txBody>
      </p:sp>
      <p:sp>
        <p:nvSpPr>
          <p:cNvPr id="10" name="Rectangle: Rounded Corners 9">
            <a:extLst>
              <a:ext uri="{FF2B5EF4-FFF2-40B4-BE49-F238E27FC236}">
                <a16:creationId xmlns:a16="http://schemas.microsoft.com/office/drawing/2014/main" id="{23CC7EAB-B4B3-6C54-F801-B4000A3D3980}"/>
              </a:ext>
            </a:extLst>
          </p:cNvPr>
          <p:cNvSpPr/>
          <p:nvPr/>
        </p:nvSpPr>
        <p:spPr>
          <a:xfrm>
            <a:off x="945931" y="2185241"/>
            <a:ext cx="4114800" cy="10668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81CC28B-F69C-14C9-2B84-917BBC44FA58}"/>
              </a:ext>
            </a:extLst>
          </p:cNvPr>
          <p:cNvSpPr txBox="1"/>
          <p:nvPr/>
        </p:nvSpPr>
        <p:spPr>
          <a:xfrm>
            <a:off x="0" y="4893488"/>
            <a:ext cx="9007364" cy="1964512"/>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Each column (Jan, Feb, Mar) represents a month, so the table is in wide format — multiple columns for different months.</a:t>
            </a:r>
          </a:p>
        </p:txBody>
      </p:sp>
    </p:spTree>
    <p:extLst>
      <p:ext uri="{BB962C8B-B14F-4D97-AF65-F5344CB8AC3E}">
        <p14:creationId xmlns:p14="http://schemas.microsoft.com/office/powerpoint/2010/main" val="32493767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31C07-A3B5-AAE6-EB4D-A71069C6091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3ED6EB-3914-7145-0EF3-7C2F9476A4F4}"/>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337D65FE-9937-4FCA-7E22-3152FE7A211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9303E869-15C4-C6EB-44BA-9D4370476E81}"/>
              </a:ext>
            </a:extLst>
          </p:cNvPr>
          <p:cNvPicPr>
            <a:picLocks noChangeAspect="1"/>
          </p:cNvPicPr>
          <p:nvPr/>
        </p:nvPicPr>
        <p:blipFill>
          <a:blip r:embed="rId2"/>
          <a:srcRect b="11481"/>
          <a:stretch>
            <a:fillRect/>
          </a:stretch>
        </p:blipFill>
        <p:spPr>
          <a:xfrm>
            <a:off x="31531" y="518366"/>
            <a:ext cx="9144000" cy="4552950"/>
          </a:xfrm>
          <a:prstGeom prst="rect">
            <a:avLst/>
          </a:prstGeom>
        </p:spPr>
      </p:pic>
      <p:sp>
        <p:nvSpPr>
          <p:cNvPr id="9" name="TextBox 8">
            <a:extLst>
              <a:ext uri="{FF2B5EF4-FFF2-40B4-BE49-F238E27FC236}">
                <a16:creationId xmlns:a16="http://schemas.microsoft.com/office/drawing/2014/main" id="{4CB79330-3CC0-39DF-F3FD-C1D03492480E}"/>
              </a:ext>
            </a:extLst>
          </p:cNvPr>
          <p:cNvSpPr txBox="1"/>
          <p:nvPr/>
        </p:nvSpPr>
        <p:spPr>
          <a:xfrm>
            <a:off x="5136932" y="1152525"/>
            <a:ext cx="4038599" cy="131542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Melt the table (wide → long format)</a:t>
            </a:r>
          </a:p>
        </p:txBody>
      </p:sp>
      <p:sp>
        <p:nvSpPr>
          <p:cNvPr id="10" name="Rectangle: Rounded Corners 9">
            <a:extLst>
              <a:ext uri="{FF2B5EF4-FFF2-40B4-BE49-F238E27FC236}">
                <a16:creationId xmlns:a16="http://schemas.microsoft.com/office/drawing/2014/main" id="{43CF885A-74D6-84DD-68CD-FF78DFC68F90}"/>
              </a:ext>
            </a:extLst>
          </p:cNvPr>
          <p:cNvSpPr/>
          <p:nvPr/>
        </p:nvSpPr>
        <p:spPr>
          <a:xfrm>
            <a:off x="1037898" y="3375801"/>
            <a:ext cx="5667702" cy="33434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C1B227E-B785-D51E-5D7B-F78E80042536}"/>
              </a:ext>
            </a:extLst>
          </p:cNvPr>
          <p:cNvSpPr txBox="1"/>
          <p:nvPr/>
        </p:nvSpPr>
        <p:spPr>
          <a:xfrm>
            <a:off x="3044681" y="3710150"/>
            <a:ext cx="5962683" cy="3086871"/>
          </a:xfrm>
          <a:prstGeom prst="rect">
            <a:avLst/>
          </a:prstGeom>
          <a:solidFill>
            <a:schemeClr val="bg1"/>
          </a:solidFill>
          <a:ln>
            <a:solidFill>
              <a:srgbClr val="FF0000"/>
            </a:solidFill>
          </a:ln>
        </p:spPr>
        <p:txBody>
          <a:bodyPr wrap="square">
            <a:spAutoFit/>
          </a:bodyPr>
          <a:lstStyle/>
          <a:p>
            <a:pPr>
              <a:lnSpc>
                <a:spcPct val="150000"/>
              </a:lnSpc>
            </a:pPr>
            <a:r>
              <a:rPr lang="en-US" sz="2200" dirty="0">
                <a:latin typeface="+mj-lt"/>
              </a:rPr>
              <a:t>This reshapes the data:</a:t>
            </a:r>
          </a:p>
          <a:p>
            <a:pPr marL="714375" indent="-457200">
              <a:lnSpc>
                <a:spcPct val="150000"/>
              </a:lnSpc>
              <a:buFont typeface="Arial" panose="020B0604020202020204" pitchFamily="34" charset="0"/>
              <a:buChar char="•"/>
            </a:pPr>
            <a:r>
              <a:rPr lang="en-US" sz="2200" dirty="0" err="1">
                <a:latin typeface="+mj-lt"/>
              </a:rPr>
              <a:t>id_vars</a:t>
            </a:r>
            <a:r>
              <a:rPr lang="en-US" sz="2200" dirty="0">
                <a:latin typeface="+mj-lt"/>
              </a:rPr>
              <a:t>='City' → keep the City column as it is.</a:t>
            </a:r>
          </a:p>
          <a:p>
            <a:pPr marL="714375" indent="-457200">
              <a:lnSpc>
                <a:spcPct val="150000"/>
              </a:lnSpc>
              <a:buFont typeface="Arial" panose="020B0604020202020204" pitchFamily="34" charset="0"/>
              <a:buChar char="•"/>
            </a:pPr>
            <a:r>
              <a:rPr lang="en-US" sz="2200" dirty="0" err="1">
                <a:latin typeface="+mj-lt"/>
              </a:rPr>
              <a:t>var_name</a:t>
            </a:r>
            <a:r>
              <a:rPr lang="en-US" sz="2200" dirty="0">
                <a:latin typeface="+mj-lt"/>
              </a:rPr>
              <a:t>='Month' → create a new column named Month (taken from old column names: Jan, Feb, Mar).</a:t>
            </a:r>
          </a:p>
        </p:txBody>
      </p:sp>
    </p:spTree>
    <p:extLst>
      <p:ext uri="{BB962C8B-B14F-4D97-AF65-F5344CB8AC3E}">
        <p14:creationId xmlns:p14="http://schemas.microsoft.com/office/powerpoint/2010/main" val="18356859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F2F8-9669-BDD4-23D7-BA51187A445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10A97F1-0707-D49A-D3F3-6F9CB8A6ADB5}"/>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598D07A8-E186-D3C2-CC09-03DF991473D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3A303EC0-EE06-2B5C-8017-F2F3FDF7429C}"/>
              </a:ext>
            </a:extLst>
          </p:cNvPr>
          <p:cNvPicPr>
            <a:picLocks noChangeAspect="1"/>
          </p:cNvPicPr>
          <p:nvPr/>
        </p:nvPicPr>
        <p:blipFill>
          <a:blip r:embed="rId2"/>
          <a:srcRect b="11481"/>
          <a:stretch>
            <a:fillRect/>
          </a:stretch>
        </p:blipFill>
        <p:spPr>
          <a:xfrm>
            <a:off x="31531" y="518366"/>
            <a:ext cx="9144000" cy="4552950"/>
          </a:xfrm>
          <a:prstGeom prst="rect">
            <a:avLst/>
          </a:prstGeom>
        </p:spPr>
      </p:pic>
      <p:sp>
        <p:nvSpPr>
          <p:cNvPr id="9" name="TextBox 8">
            <a:extLst>
              <a:ext uri="{FF2B5EF4-FFF2-40B4-BE49-F238E27FC236}">
                <a16:creationId xmlns:a16="http://schemas.microsoft.com/office/drawing/2014/main" id="{EA229E5A-0441-B092-E1C9-6CE521DED892}"/>
              </a:ext>
            </a:extLst>
          </p:cNvPr>
          <p:cNvSpPr txBox="1"/>
          <p:nvPr/>
        </p:nvSpPr>
        <p:spPr>
          <a:xfrm>
            <a:off x="5136932" y="1152525"/>
            <a:ext cx="4038599" cy="131542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Melt the table (wide → long format)</a:t>
            </a:r>
          </a:p>
        </p:txBody>
      </p:sp>
      <p:sp>
        <p:nvSpPr>
          <p:cNvPr id="10" name="Rectangle: Rounded Corners 9">
            <a:extLst>
              <a:ext uri="{FF2B5EF4-FFF2-40B4-BE49-F238E27FC236}">
                <a16:creationId xmlns:a16="http://schemas.microsoft.com/office/drawing/2014/main" id="{E8100170-5C74-B929-D7B5-3908538FD5C6}"/>
              </a:ext>
            </a:extLst>
          </p:cNvPr>
          <p:cNvSpPr/>
          <p:nvPr/>
        </p:nvSpPr>
        <p:spPr>
          <a:xfrm>
            <a:off x="1037898" y="3375801"/>
            <a:ext cx="5667702" cy="33434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D705B11-1797-5480-96EF-D01795FC10E8}"/>
              </a:ext>
            </a:extLst>
          </p:cNvPr>
          <p:cNvSpPr txBox="1"/>
          <p:nvPr/>
        </p:nvSpPr>
        <p:spPr>
          <a:xfrm>
            <a:off x="2989400" y="3948689"/>
            <a:ext cx="6186132" cy="2918107"/>
          </a:xfrm>
          <a:prstGeom prst="rect">
            <a:avLst/>
          </a:prstGeom>
          <a:solidFill>
            <a:schemeClr val="bg1"/>
          </a:solidFill>
          <a:ln>
            <a:solidFill>
              <a:srgbClr val="FF0000"/>
            </a:solidFill>
          </a:ln>
        </p:spPr>
        <p:txBody>
          <a:bodyPr wrap="square">
            <a:spAutoFit/>
          </a:bodyPr>
          <a:lstStyle/>
          <a:p>
            <a:pPr marL="714375" indent="-457200">
              <a:lnSpc>
                <a:spcPct val="150000"/>
              </a:lnSpc>
              <a:buFont typeface="Arial" panose="020B0604020202020204" pitchFamily="34" charset="0"/>
              <a:buChar char="•"/>
            </a:pPr>
            <a:r>
              <a:rPr lang="en-US" sz="2500" dirty="0" err="1">
                <a:latin typeface="+mj-lt"/>
              </a:rPr>
              <a:t>value_name</a:t>
            </a:r>
            <a:r>
              <a:rPr lang="en-US" sz="2500" dirty="0">
                <a:latin typeface="+mj-lt"/>
              </a:rPr>
              <a:t>='Temp' → create a new column named Temp (taken from the numbers under each month).</a:t>
            </a:r>
          </a:p>
          <a:p>
            <a:pPr>
              <a:lnSpc>
                <a:spcPct val="150000"/>
              </a:lnSpc>
            </a:pPr>
            <a:r>
              <a:rPr lang="en-US" sz="2500" dirty="0">
                <a:latin typeface="+mj-lt"/>
              </a:rPr>
              <a:t>So instead of 3 month columns, we now have one column listing all months.</a:t>
            </a:r>
          </a:p>
        </p:txBody>
      </p:sp>
    </p:spTree>
    <p:extLst>
      <p:ext uri="{BB962C8B-B14F-4D97-AF65-F5344CB8AC3E}">
        <p14:creationId xmlns:p14="http://schemas.microsoft.com/office/powerpoint/2010/main" val="1079116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D2778-F8CD-FECB-052E-6BACF4CAA2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DA7EED-3425-FDC7-CA4A-F84D3E3A3C55}"/>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E083478B-813C-1108-891A-A2986889677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72C194D8-F697-1701-697F-7FFE4BAADB6D}"/>
              </a:ext>
            </a:extLst>
          </p:cNvPr>
          <p:cNvPicPr>
            <a:picLocks noChangeAspect="1"/>
          </p:cNvPicPr>
          <p:nvPr/>
        </p:nvPicPr>
        <p:blipFill>
          <a:blip r:embed="rId2"/>
          <a:srcRect b="11481"/>
          <a:stretch>
            <a:fillRect/>
          </a:stretch>
        </p:blipFill>
        <p:spPr>
          <a:xfrm>
            <a:off x="31531" y="518366"/>
            <a:ext cx="9144000" cy="4552950"/>
          </a:xfrm>
          <a:prstGeom prst="rect">
            <a:avLst/>
          </a:prstGeom>
        </p:spPr>
      </p:pic>
      <p:sp>
        <p:nvSpPr>
          <p:cNvPr id="9" name="TextBox 8">
            <a:extLst>
              <a:ext uri="{FF2B5EF4-FFF2-40B4-BE49-F238E27FC236}">
                <a16:creationId xmlns:a16="http://schemas.microsoft.com/office/drawing/2014/main" id="{6DCB4F63-6248-3838-B932-ED7A0ADEC25F}"/>
              </a:ext>
            </a:extLst>
          </p:cNvPr>
          <p:cNvSpPr txBox="1"/>
          <p:nvPr/>
        </p:nvSpPr>
        <p:spPr>
          <a:xfrm>
            <a:off x="5136932" y="1152525"/>
            <a:ext cx="4038599" cy="671851"/>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Print the new (long) table</a:t>
            </a:r>
          </a:p>
        </p:txBody>
      </p:sp>
      <p:sp>
        <p:nvSpPr>
          <p:cNvPr id="10" name="Rectangle: Rounded Corners 9">
            <a:extLst>
              <a:ext uri="{FF2B5EF4-FFF2-40B4-BE49-F238E27FC236}">
                <a16:creationId xmlns:a16="http://schemas.microsoft.com/office/drawing/2014/main" id="{4E030460-C503-1F8D-DA0C-BBE0CA78234F}"/>
              </a:ext>
            </a:extLst>
          </p:cNvPr>
          <p:cNvSpPr/>
          <p:nvPr/>
        </p:nvSpPr>
        <p:spPr>
          <a:xfrm>
            <a:off x="1066800" y="3964454"/>
            <a:ext cx="1922599" cy="110686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41E0ABA-24EC-C1CB-00F3-E55D78D16E1A}"/>
              </a:ext>
            </a:extLst>
          </p:cNvPr>
          <p:cNvSpPr txBox="1"/>
          <p:nvPr/>
        </p:nvSpPr>
        <p:spPr>
          <a:xfrm>
            <a:off x="3124199" y="2954496"/>
            <a:ext cx="6051332" cy="3903504"/>
          </a:xfrm>
          <a:prstGeom prst="rect">
            <a:avLst/>
          </a:prstGeom>
          <a:solidFill>
            <a:schemeClr val="bg1"/>
          </a:solidFill>
          <a:ln>
            <a:solidFill>
              <a:srgbClr val="FF0000"/>
            </a:solidFill>
          </a:ln>
        </p:spPr>
        <p:txBody>
          <a:bodyPr wrap="square">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The table is now longer (more rows) but narrower (fewer columns).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Each row now shows: City → Month → Temperature.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mj-lt"/>
              </a:rPr>
              <a:t>This format is often easier for plotting graphs or data analysis.</a:t>
            </a:r>
          </a:p>
        </p:txBody>
      </p:sp>
    </p:spTree>
    <p:extLst>
      <p:ext uri="{BB962C8B-B14F-4D97-AF65-F5344CB8AC3E}">
        <p14:creationId xmlns:p14="http://schemas.microsoft.com/office/powerpoint/2010/main" val="33325827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AAAD-4C27-5A48-DDD8-A4AAC77341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BD8863D-57F0-1ECA-61BA-1E9F3DAB1C4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10</a:t>
            </a:r>
            <a:endParaRPr spc="-20" dirty="0">
              <a:latin typeface="+mj-lt"/>
            </a:endParaRPr>
          </a:p>
        </p:txBody>
      </p:sp>
      <p:sp>
        <p:nvSpPr>
          <p:cNvPr id="5" name="object 5">
            <a:extLst>
              <a:ext uri="{FF2B5EF4-FFF2-40B4-BE49-F238E27FC236}">
                <a16:creationId xmlns:a16="http://schemas.microsoft.com/office/drawing/2014/main" id="{189F923D-EAC9-B989-6076-4C1DC6F64C6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E595B441-F708-D01C-FFD7-0343F850ED41}"/>
              </a:ext>
            </a:extLst>
          </p:cNvPr>
          <p:cNvGraphicFramePr>
            <a:graphicFrameLocks noGrp="1"/>
          </p:cNvGraphicFramePr>
          <p:nvPr>
            <p:extLst>
              <p:ext uri="{D42A27DB-BD31-4B8C-83A1-F6EECF244321}">
                <p14:modId xmlns:p14="http://schemas.microsoft.com/office/powerpoint/2010/main" val="2172738022"/>
              </p:ext>
            </p:extLst>
          </p:nvPr>
        </p:nvGraphicFramePr>
        <p:xfrm>
          <a:off x="519113" y="2181959"/>
          <a:ext cx="8320087" cy="3941572"/>
        </p:xfrm>
        <a:graphic>
          <a:graphicData uri="http://schemas.openxmlformats.org/drawingml/2006/table">
            <a:tbl>
              <a:tblPr>
                <a:tableStyleId>{ED083AE6-46FA-4A59-8FB0-9F97EB10719F}</a:tableStyleId>
              </a:tblPr>
              <a:tblGrid>
                <a:gridCol w="1462087">
                  <a:extLst>
                    <a:ext uri="{9D8B030D-6E8A-4147-A177-3AD203B41FA5}">
                      <a16:colId xmlns:a16="http://schemas.microsoft.com/office/drawing/2014/main" val="503632347"/>
                    </a:ext>
                  </a:extLst>
                </a:gridCol>
                <a:gridCol w="6858000">
                  <a:extLst>
                    <a:ext uri="{9D8B030D-6E8A-4147-A177-3AD203B41FA5}">
                      <a16:colId xmlns:a16="http://schemas.microsoft.com/office/drawing/2014/main" val="3186120806"/>
                    </a:ext>
                  </a:extLst>
                </a:gridCol>
              </a:tblGrid>
              <a:tr h="0">
                <a:tc>
                  <a:txBody>
                    <a:bodyPr/>
                    <a:lstStyle/>
                    <a:p>
                      <a:pPr>
                        <a:lnSpc>
                          <a:spcPct val="150000"/>
                        </a:lnSpc>
                        <a:buNone/>
                      </a:pPr>
                      <a:r>
                        <a:rPr lang="en-US" sz="2800" dirty="0"/>
                        <a:t>Step</a:t>
                      </a:r>
                    </a:p>
                  </a:txBody>
                  <a:tcPr anchor="ctr">
                    <a:solidFill>
                      <a:schemeClr val="accent4">
                        <a:lumMod val="20000"/>
                        <a:lumOff val="80000"/>
                      </a:schemeClr>
                    </a:solidFill>
                  </a:tcPr>
                </a:tc>
                <a:tc>
                  <a:txBody>
                    <a:bodyPr/>
                    <a:lstStyle/>
                    <a:p>
                      <a:pPr>
                        <a:lnSpc>
                          <a:spcPct val="150000"/>
                        </a:lnSpc>
                        <a:buNone/>
                      </a:pPr>
                      <a:r>
                        <a:rPr lang="en-US" sz="2800" dirty="0"/>
                        <a:t>What It Does</a:t>
                      </a:r>
                    </a:p>
                  </a:txBody>
                  <a:tcPr anchor="ctr">
                    <a:solidFill>
                      <a:schemeClr val="accent4">
                        <a:lumMod val="20000"/>
                        <a:lumOff val="80000"/>
                      </a:schemeClr>
                    </a:solidFill>
                  </a:tcPr>
                </a:tc>
                <a:extLst>
                  <a:ext uri="{0D108BD9-81ED-4DB2-BD59-A6C34878D82A}">
                    <a16:rowId xmlns:a16="http://schemas.microsoft.com/office/drawing/2014/main" val="3749869837"/>
                  </a:ext>
                </a:extLst>
              </a:tr>
              <a:tr h="0">
                <a:tc>
                  <a:txBody>
                    <a:bodyPr/>
                    <a:lstStyle/>
                    <a:p>
                      <a:pPr>
                        <a:lnSpc>
                          <a:spcPct val="150000"/>
                        </a:lnSpc>
                        <a:buNone/>
                      </a:pPr>
                      <a:r>
                        <a:rPr lang="en-US" sz="2800"/>
                        <a:t>Create table</a:t>
                      </a:r>
                    </a:p>
                  </a:txBody>
                  <a:tcPr anchor="ctr"/>
                </a:tc>
                <a:tc>
                  <a:txBody>
                    <a:bodyPr/>
                    <a:lstStyle/>
                    <a:p>
                      <a:pPr>
                        <a:lnSpc>
                          <a:spcPct val="150000"/>
                        </a:lnSpc>
                        <a:buNone/>
                      </a:pPr>
                      <a:r>
                        <a:rPr lang="en-US" sz="2800" dirty="0"/>
                        <a:t>Makes monthly temperature data for each city</a:t>
                      </a:r>
                    </a:p>
                  </a:txBody>
                  <a:tcPr anchor="ctr"/>
                </a:tc>
                <a:extLst>
                  <a:ext uri="{0D108BD9-81ED-4DB2-BD59-A6C34878D82A}">
                    <a16:rowId xmlns:a16="http://schemas.microsoft.com/office/drawing/2014/main" val="4002667408"/>
                  </a:ext>
                </a:extLst>
              </a:tr>
              <a:tr h="0">
                <a:tc>
                  <a:txBody>
                    <a:bodyPr/>
                    <a:lstStyle/>
                    <a:p>
                      <a:pPr>
                        <a:lnSpc>
                          <a:spcPct val="150000"/>
                        </a:lnSpc>
                        <a:buNone/>
                      </a:pPr>
                      <a:r>
                        <a:rPr lang="en-US" sz="2800"/>
                        <a:t>Melt</a:t>
                      </a:r>
                    </a:p>
                  </a:txBody>
                  <a:tcPr anchor="ctr"/>
                </a:tc>
                <a:tc>
                  <a:txBody>
                    <a:bodyPr/>
                    <a:lstStyle/>
                    <a:p>
                      <a:pPr>
                        <a:lnSpc>
                          <a:spcPct val="150000"/>
                        </a:lnSpc>
                        <a:buNone/>
                      </a:pPr>
                      <a:r>
                        <a:rPr lang="en-US" sz="2800"/>
                        <a:t>Converts months from columns into one “Month” column</a:t>
                      </a:r>
                    </a:p>
                  </a:txBody>
                  <a:tcPr anchor="ctr"/>
                </a:tc>
                <a:extLst>
                  <a:ext uri="{0D108BD9-81ED-4DB2-BD59-A6C34878D82A}">
                    <a16:rowId xmlns:a16="http://schemas.microsoft.com/office/drawing/2014/main" val="3813961002"/>
                  </a:ext>
                </a:extLst>
              </a:tr>
              <a:tr h="0">
                <a:tc>
                  <a:txBody>
                    <a:bodyPr/>
                    <a:lstStyle/>
                    <a:p>
                      <a:pPr>
                        <a:lnSpc>
                          <a:spcPct val="150000"/>
                        </a:lnSpc>
                        <a:buNone/>
                      </a:pPr>
                      <a:r>
                        <a:rPr lang="en-US" sz="2800"/>
                        <a:t>Result</a:t>
                      </a:r>
                    </a:p>
                  </a:txBody>
                  <a:tcPr anchor="ctr"/>
                </a:tc>
                <a:tc>
                  <a:txBody>
                    <a:bodyPr/>
                    <a:lstStyle/>
                    <a:p>
                      <a:pPr>
                        <a:lnSpc>
                          <a:spcPct val="150000"/>
                        </a:lnSpc>
                        <a:buNone/>
                      </a:pPr>
                      <a:r>
                        <a:rPr lang="en-US" sz="2800" dirty="0"/>
                        <a:t>Easier to read and </a:t>
                      </a:r>
                      <a:r>
                        <a:rPr lang="en-US" sz="2800" dirty="0" err="1"/>
                        <a:t>analyse</a:t>
                      </a:r>
                      <a:r>
                        <a:rPr lang="en-US" sz="2800" dirty="0"/>
                        <a:t> in long format</a:t>
                      </a:r>
                    </a:p>
                  </a:txBody>
                  <a:tcPr anchor="ctr"/>
                </a:tc>
                <a:extLst>
                  <a:ext uri="{0D108BD9-81ED-4DB2-BD59-A6C34878D82A}">
                    <a16:rowId xmlns:a16="http://schemas.microsoft.com/office/drawing/2014/main" val="3830964820"/>
                  </a:ext>
                </a:extLst>
              </a:tr>
            </a:tbl>
          </a:graphicData>
        </a:graphic>
      </p:graphicFrame>
      <p:sp>
        <p:nvSpPr>
          <p:cNvPr id="4" name="Rectangle 1">
            <a:extLst>
              <a:ext uri="{FF2B5EF4-FFF2-40B4-BE49-F238E27FC236}">
                <a16:creationId xmlns:a16="http://schemas.microsoft.com/office/drawing/2014/main" id="{04422396-C878-2966-1712-95E179F04C07}"/>
              </a:ext>
            </a:extLst>
          </p:cNvPr>
          <p:cNvSpPr>
            <a:spLocks noChangeArrowheads="1"/>
          </p:cNvSpPr>
          <p:nvPr/>
        </p:nvSpPr>
        <p:spPr bwMode="auto">
          <a:xfrm>
            <a:off x="20444" y="888742"/>
            <a:ext cx="1606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Summary</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8526373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3624B-169A-C76E-2853-974187DA28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0B2F67-5AAC-006E-2A40-63C3BC51D905}"/>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E69B6206-D421-73F6-8936-230EFD12393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D101FA2C-1281-22E7-E65F-9273F434978A}"/>
              </a:ext>
            </a:extLst>
          </p:cNvPr>
          <p:cNvSpPr txBox="1"/>
          <p:nvPr/>
        </p:nvSpPr>
        <p:spPr>
          <a:xfrm>
            <a:off x="-23751" y="986265"/>
            <a:ext cx="9167751" cy="1315425"/>
          </a:xfrm>
          <a:prstGeom prst="rect">
            <a:avLst/>
          </a:prstGeom>
          <a:noFill/>
        </p:spPr>
        <p:txBody>
          <a:bodyPr wrap="square">
            <a:spAutoFit/>
          </a:bodyPr>
          <a:lstStyle/>
          <a:p>
            <a:pPr>
              <a:lnSpc>
                <a:spcPct val="150000"/>
              </a:lnSpc>
              <a:buNone/>
            </a:pPr>
            <a:r>
              <a:rPr lang="en-US" sz="2800" dirty="0">
                <a:latin typeface="+mj-lt"/>
              </a:rPr>
              <a:t>Convert a wide table of Australian states into long format using stack(), then back with unstack().</a:t>
            </a:r>
            <a:endParaRPr lang="en-US" sz="2500" dirty="0">
              <a:latin typeface="+mj-lt"/>
            </a:endParaRPr>
          </a:p>
        </p:txBody>
      </p:sp>
      <p:pic>
        <p:nvPicPr>
          <p:cNvPr id="6" name="Timer">
            <a:hlinkClick r:id="" action="ppaction://media"/>
            <a:extLst>
              <a:ext uri="{FF2B5EF4-FFF2-40B4-BE49-F238E27FC236}">
                <a16:creationId xmlns:a16="http://schemas.microsoft.com/office/drawing/2014/main" id="{A00DC89C-D82E-714E-3870-86C9B51A5E9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3718207" y="3429000"/>
            <a:ext cx="1683834" cy="758283"/>
          </a:xfrm>
          <a:prstGeom prst="rect">
            <a:avLst/>
          </a:prstGeom>
          <a:ln w="38100">
            <a:solidFill>
              <a:srgbClr val="FF0000"/>
            </a:solidFill>
          </a:ln>
        </p:spPr>
      </p:pic>
    </p:spTree>
    <p:extLst>
      <p:ext uri="{BB962C8B-B14F-4D97-AF65-F5344CB8AC3E}">
        <p14:creationId xmlns:p14="http://schemas.microsoft.com/office/powerpoint/2010/main" val="1139420381"/>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3624B-169A-C76E-2853-974187DA28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0B2F67-5AAC-006E-2A40-63C3BC51D905}"/>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E69B6206-D421-73F6-8936-230EFD12393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4FC3861F-F334-1E1C-6CD1-21FC1439E355}"/>
              </a:ext>
            </a:extLst>
          </p:cNvPr>
          <p:cNvPicPr>
            <a:picLocks noChangeAspect="1"/>
          </p:cNvPicPr>
          <p:nvPr/>
        </p:nvPicPr>
        <p:blipFill>
          <a:blip r:embed="rId2"/>
          <a:srcRect l="10167" t="42702" r="64823" b="18763"/>
          <a:stretch>
            <a:fillRect/>
          </a:stretch>
        </p:blipFill>
        <p:spPr>
          <a:xfrm>
            <a:off x="-20444" y="685800"/>
            <a:ext cx="4700679" cy="4073922"/>
          </a:xfrm>
          <a:prstGeom prst="rect">
            <a:avLst/>
          </a:prstGeom>
          <a:ln w="38100">
            <a:noFill/>
          </a:ln>
        </p:spPr>
      </p:pic>
      <p:sp>
        <p:nvSpPr>
          <p:cNvPr id="10" name="TextBox 9">
            <a:extLst>
              <a:ext uri="{FF2B5EF4-FFF2-40B4-BE49-F238E27FC236}">
                <a16:creationId xmlns:a16="http://schemas.microsoft.com/office/drawing/2014/main" id="{69D7ECE8-A8AF-2A09-7AAE-9680CF7018FF}"/>
              </a:ext>
            </a:extLst>
          </p:cNvPr>
          <p:cNvSpPr txBox="1"/>
          <p:nvPr/>
        </p:nvSpPr>
        <p:spPr>
          <a:xfrm>
            <a:off x="22302" y="4861893"/>
            <a:ext cx="9144000" cy="1964512"/>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Step 1: Create a small table: This makes a </a:t>
            </a:r>
            <a:r>
              <a:rPr lang="en-US" sz="2800" dirty="0" err="1">
                <a:latin typeface="+mj-lt"/>
              </a:rPr>
              <a:t>DataFrame</a:t>
            </a:r>
            <a:r>
              <a:rPr lang="en-US" sz="2800" dirty="0">
                <a:latin typeface="+mj-lt"/>
              </a:rPr>
              <a:t> (table) showing, for example, the growth rates or values for three Australian states across two years.</a:t>
            </a:r>
          </a:p>
        </p:txBody>
      </p:sp>
      <p:sp>
        <p:nvSpPr>
          <p:cNvPr id="11" name="Rectangle: Rounded Corners 10">
            <a:extLst>
              <a:ext uri="{FF2B5EF4-FFF2-40B4-BE49-F238E27FC236}">
                <a16:creationId xmlns:a16="http://schemas.microsoft.com/office/drawing/2014/main" id="{2B99A82B-299F-997E-4873-93F88874D493}"/>
              </a:ext>
            </a:extLst>
          </p:cNvPr>
          <p:cNvSpPr/>
          <p:nvPr/>
        </p:nvSpPr>
        <p:spPr>
          <a:xfrm>
            <a:off x="-23751" y="685800"/>
            <a:ext cx="4671951" cy="1752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83471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B3BB6-ABAE-7FDB-8517-00D2212C39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D25277-E4DA-EB07-C6AC-2F941572E6B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1B141533-1549-01A5-7ADB-9C402C4E3CA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00C66C0D-46E7-F6CB-2BDA-0EB291354526}"/>
              </a:ext>
            </a:extLst>
          </p:cNvPr>
          <p:cNvPicPr>
            <a:picLocks noChangeAspect="1"/>
          </p:cNvPicPr>
          <p:nvPr/>
        </p:nvPicPr>
        <p:blipFill>
          <a:blip r:embed="rId2"/>
          <a:srcRect l="10167" t="42702" r="64823" b="18763"/>
          <a:stretch>
            <a:fillRect/>
          </a:stretch>
        </p:blipFill>
        <p:spPr>
          <a:xfrm>
            <a:off x="-20444" y="685800"/>
            <a:ext cx="4700679" cy="4073922"/>
          </a:xfrm>
          <a:prstGeom prst="rect">
            <a:avLst/>
          </a:prstGeom>
          <a:ln w="38100">
            <a:noFill/>
          </a:ln>
        </p:spPr>
      </p:pic>
      <p:sp>
        <p:nvSpPr>
          <p:cNvPr id="10" name="TextBox 9">
            <a:extLst>
              <a:ext uri="{FF2B5EF4-FFF2-40B4-BE49-F238E27FC236}">
                <a16:creationId xmlns:a16="http://schemas.microsoft.com/office/drawing/2014/main" id="{7241473A-4F38-8FDE-7695-1814562FDDE3}"/>
              </a:ext>
            </a:extLst>
          </p:cNvPr>
          <p:cNvSpPr txBox="1"/>
          <p:nvPr/>
        </p:nvSpPr>
        <p:spPr>
          <a:xfrm>
            <a:off x="4778298" y="1562100"/>
            <a:ext cx="4365702" cy="3903504"/>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Here:</a:t>
            </a:r>
          </a:p>
          <a:p>
            <a:pPr marL="457200" indent="-457200">
              <a:lnSpc>
                <a:spcPct val="150000"/>
              </a:lnSpc>
              <a:buFont typeface="Arial" panose="020B0604020202020204" pitchFamily="34" charset="0"/>
              <a:buChar char="•"/>
            </a:pPr>
            <a:r>
              <a:rPr lang="en-US" sz="2800" dirty="0">
                <a:latin typeface="+mj-lt"/>
              </a:rPr>
              <a:t>Each row = one state</a:t>
            </a:r>
          </a:p>
          <a:p>
            <a:pPr marL="457200" indent="-457200">
              <a:lnSpc>
                <a:spcPct val="150000"/>
              </a:lnSpc>
              <a:buFont typeface="Arial" panose="020B0604020202020204" pitchFamily="34" charset="0"/>
              <a:buChar char="•"/>
            </a:pPr>
            <a:r>
              <a:rPr lang="en-US" sz="2800" dirty="0">
                <a:latin typeface="+mj-lt"/>
              </a:rPr>
              <a:t>Each column = one year</a:t>
            </a:r>
          </a:p>
          <a:p>
            <a:pPr>
              <a:lnSpc>
                <a:spcPct val="150000"/>
              </a:lnSpc>
            </a:pPr>
            <a:r>
              <a:rPr lang="en-US" sz="2800" dirty="0">
                <a:latin typeface="+mj-lt"/>
              </a:rPr>
              <a:t>This is a wide format table — years spread across columns.</a:t>
            </a:r>
          </a:p>
        </p:txBody>
      </p:sp>
      <p:sp>
        <p:nvSpPr>
          <p:cNvPr id="11" name="Rectangle: Rounded Corners 10">
            <a:extLst>
              <a:ext uri="{FF2B5EF4-FFF2-40B4-BE49-F238E27FC236}">
                <a16:creationId xmlns:a16="http://schemas.microsoft.com/office/drawing/2014/main" id="{C0E7692B-5ABC-B5D2-3EC1-D009EA92A805}"/>
              </a:ext>
            </a:extLst>
          </p:cNvPr>
          <p:cNvSpPr/>
          <p:nvPr/>
        </p:nvSpPr>
        <p:spPr>
          <a:xfrm>
            <a:off x="-23751" y="685800"/>
            <a:ext cx="4671951" cy="17526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09307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6D8E-4A41-F44B-18A6-31E6E96B7C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1B09DD4-E0F6-2CFE-2E2E-56B26A6230A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9CC705A5-5072-37E7-0D0B-5793D8D2A60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F5C93967-E86A-2E9F-AB48-4846E1EE37FE}"/>
              </a:ext>
            </a:extLst>
          </p:cNvPr>
          <p:cNvPicPr>
            <a:picLocks noChangeAspect="1"/>
          </p:cNvPicPr>
          <p:nvPr/>
        </p:nvPicPr>
        <p:blipFill>
          <a:blip r:embed="rId2"/>
          <a:srcRect l="10167" t="42702" r="64823" b="18763"/>
          <a:stretch>
            <a:fillRect/>
          </a:stretch>
        </p:blipFill>
        <p:spPr>
          <a:xfrm>
            <a:off x="-20444" y="685800"/>
            <a:ext cx="4700679" cy="4073922"/>
          </a:xfrm>
          <a:prstGeom prst="rect">
            <a:avLst/>
          </a:prstGeom>
          <a:ln w="38100">
            <a:noFill/>
          </a:ln>
        </p:spPr>
      </p:pic>
      <p:sp>
        <p:nvSpPr>
          <p:cNvPr id="10" name="TextBox 9">
            <a:extLst>
              <a:ext uri="{FF2B5EF4-FFF2-40B4-BE49-F238E27FC236}">
                <a16:creationId xmlns:a16="http://schemas.microsoft.com/office/drawing/2014/main" id="{8F28B06A-8ABF-02B2-9C3F-EB9F09F62936}"/>
              </a:ext>
            </a:extLst>
          </p:cNvPr>
          <p:cNvSpPr txBox="1"/>
          <p:nvPr/>
        </p:nvSpPr>
        <p:spPr>
          <a:xfrm>
            <a:off x="4778298" y="666430"/>
            <a:ext cx="4365702" cy="3631250"/>
          </a:xfrm>
          <a:prstGeom prst="rect">
            <a:avLst/>
          </a:prstGeom>
          <a:solidFill>
            <a:schemeClr val="bg1"/>
          </a:solidFill>
          <a:ln>
            <a:solidFill>
              <a:srgbClr val="FF0000"/>
            </a:solidFill>
          </a:ln>
        </p:spPr>
        <p:txBody>
          <a:bodyPr wrap="square">
            <a:spAutoFit/>
          </a:bodyPr>
          <a:lstStyle/>
          <a:p>
            <a:pPr>
              <a:lnSpc>
                <a:spcPct val="150000"/>
              </a:lnSpc>
            </a:pPr>
            <a:r>
              <a:rPr lang="en-US" sz="2600" b="1" dirty="0">
                <a:latin typeface="+mj-lt"/>
              </a:rPr>
              <a:t>Step 2: Stack — convert columns → rows</a:t>
            </a:r>
          </a:p>
          <a:p>
            <a:pPr>
              <a:lnSpc>
                <a:spcPct val="150000"/>
              </a:lnSpc>
            </a:pPr>
            <a:r>
              <a:rPr lang="en-US" sz="2600" dirty="0">
                <a:latin typeface="+mj-lt"/>
              </a:rPr>
              <a:t>The stack() function moves columns down into rows, creating a long format view.</a:t>
            </a:r>
            <a:br>
              <a:rPr lang="en-US" sz="2600" dirty="0">
                <a:latin typeface="+mj-lt"/>
              </a:rPr>
            </a:br>
            <a:r>
              <a:rPr lang="en-US" sz="2600" dirty="0">
                <a:latin typeface="+mj-lt"/>
              </a:rPr>
              <a:t>Now we get</a:t>
            </a:r>
          </a:p>
        </p:txBody>
      </p:sp>
      <p:sp>
        <p:nvSpPr>
          <p:cNvPr id="11" name="Rectangle: Rounded Corners 10">
            <a:extLst>
              <a:ext uri="{FF2B5EF4-FFF2-40B4-BE49-F238E27FC236}">
                <a16:creationId xmlns:a16="http://schemas.microsoft.com/office/drawing/2014/main" id="{85DDEE8E-7DDB-902D-F7C2-6DACB613D89E}"/>
              </a:ext>
            </a:extLst>
          </p:cNvPr>
          <p:cNvSpPr/>
          <p:nvPr/>
        </p:nvSpPr>
        <p:spPr>
          <a:xfrm>
            <a:off x="-27467" y="2331003"/>
            <a:ext cx="4700678" cy="12680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A62C188-1EAB-B9B3-0734-607AB69A087A}"/>
              </a:ext>
            </a:extLst>
          </p:cNvPr>
          <p:cNvGraphicFramePr>
            <a:graphicFrameLocks noGrp="1"/>
          </p:cNvGraphicFramePr>
          <p:nvPr>
            <p:extLst>
              <p:ext uri="{D42A27DB-BD31-4B8C-83A1-F6EECF244321}">
                <p14:modId xmlns:p14="http://schemas.microsoft.com/office/powerpoint/2010/main" val="704447977"/>
              </p:ext>
            </p:extLst>
          </p:nvPr>
        </p:nvGraphicFramePr>
        <p:xfrm>
          <a:off x="6548199" y="4297680"/>
          <a:ext cx="2565794" cy="2560320"/>
        </p:xfrm>
        <a:graphic>
          <a:graphicData uri="http://schemas.openxmlformats.org/drawingml/2006/table">
            <a:tbl>
              <a:tblPr>
                <a:tableStyleId>{ED083AE6-46FA-4A59-8FB0-9F97EB10719F}</a:tableStyleId>
              </a:tblPr>
              <a:tblGrid>
                <a:gridCol w="813194">
                  <a:extLst>
                    <a:ext uri="{9D8B030D-6E8A-4147-A177-3AD203B41FA5}">
                      <a16:colId xmlns:a16="http://schemas.microsoft.com/office/drawing/2014/main" val="860575936"/>
                    </a:ext>
                  </a:extLst>
                </a:gridCol>
                <a:gridCol w="838200">
                  <a:extLst>
                    <a:ext uri="{9D8B030D-6E8A-4147-A177-3AD203B41FA5}">
                      <a16:colId xmlns:a16="http://schemas.microsoft.com/office/drawing/2014/main" val="3998684906"/>
                    </a:ext>
                  </a:extLst>
                </a:gridCol>
                <a:gridCol w="914400">
                  <a:extLst>
                    <a:ext uri="{9D8B030D-6E8A-4147-A177-3AD203B41FA5}">
                      <a16:colId xmlns:a16="http://schemas.microsoft.com/office/drawing/2014/main" val="1563804342"/>
                    </a:ext>
                  </a:extLst>
                </a:gridCol>
              </a:tblGrid>
              <a:tr h="0">
                <a:tc>
                  <a:txBody>
                    <a:bodyPr/>
                    <a:lstStyle/>
                    <a:p>
                      <a:pPr>
                        <a:buNone/>
                      </a:pPr>
                      <a:r>
                        <a:rPr lang="en-US"/>
                        <a:t>State</a:t>
                      </a:r>
                    </a:p>
                  </a:txBody>
                  <a:tcPr anchor="ctr"/>
                </a:tc>
                <a:tc>
                  <a:txBody>
                    <a:bodyPr/>
                    <a:lstStyle/>
                    <a:p>
                      <a:pPr>
                        <a:buNone/>
                      </a:pPr>
                      <a:r>
                        <a:rPr lang="en-US"/>
                        <a:t>Year</a:t>
                      </a:r>
                    </a:p>
                  </a:txBody>
                  <a:tcPr anchor="ctr"/>
                </a:tc>
                <a:tc>
                  <a:txBody>
                    <a:bodyPr/>
                    <a:lstStyle/>
                    <a:p>
                      <a:pPr>
                        <a:buNone/>
                      </a:pPr>
                      <a:r>
                        <a:rPr lang="en-US"/>
                        <a:t>Value</a:t>
                      </a:r>
                    </a:p>
                  </a:txBody>
                  <a:tcPr anchor="ctr"/>
                </a:tc>
                <a:extLst>
                  <a:ext uri="{0D108BD9-81ED-4DB2-BD59-A6C34878D82A}">
                    <a16:rowId xmlns:a16="http://schemas.microsoft.com/office/drawing/2014/main" val="3959950620"/>
                  </a:ext>
                </a:extLst>
              </a:tr>
              <a:tr h="0">
                <a:tc>
                  <a:txBody>
                    <a:bodyPr/>
                    <a:lstStyle/>
                    <a:p>
                      <a:pPr>
                        <a:buNone/>
                      </a:pPr>
                      <a:r>
                        <a:rPr lang="en-US"/>
                        <a:t>NSW</a:t>
                      </a:r>
                    </a:p>
                  </a:txBody>
                  <a:tcPr anchor="ctr"/>
                </a:tc>
                <a:tc>
                  <a:txBody>
                    <a:bodyPr/>
                    <a:lstStyle/>
                    <a:p>
                      <a:pPr>
                        <a:buNone/>
                      </a:pPr>
                      <a:r>
                        <a:rPr lang="en-US" dirty="0"/>
                        <a:t>2024</a:t>
                      </a:r>
                    </a:p>
                  </a:txBody>
                  <a:tcPr anchor="ctr"/>
                </a:tc>
                <a:tc>
                  <a:txBody>
                    <a:bodyPr/>
                    <a:lstStyle/>
                    <a:p>
                      <a:pPr>
                        <a:buNone/>
                      </a:pPr>
                      <a:r>
                        <a:rPr lang="en-US"/>
                        <a:t>8.2</a:t>
                      </a:r>
                    </a:p>
                  </a:txBody>
                  <a:tcPr anchor="ctr"/>
                </a:tc>
                <a:extLst>
                  <a:ext uri="{0D108BD9-81ED-4DB2-BD59-A6C34878D82A}">
                    <a16:rowId xmlns:a16="http://schemas.microsoft.com/office/drawing/2014/main" val="1321516910"/>
                  </a:ext>
                </a:extLst>
              </a:tr>
              <a:tr h="0">
                <a:tc>
                  <a:txBody>
                    <a:bodyPr/>
                    <a:lstStyle/>
                    <a:p>
                      <a:pPr>
                        <a:buNone/>
                      </a:pPr>
                      <a:r>
                        <a:rPr lang="en-US"/>
                        <a:t>NSW</a:t>
                      </a:r>
                    </a:p>
                  </a:txBody>
                  <a:tcPr anchor="ctr"/>
                </a:tc>
                <a:tc>
                  <a:txBody>
                    <a:bodyPr/>
                    <a:lstStyle/>
                    <a:p>
                      <a:pPr>
                        <a:buNone/>
                      </a:pPr>
                      <a:r>
                        <a:rPr lang="en-US"/>
                        <a:t>2025</a:t>
                      </a:r>
                    </a:p>
                  </a:txBody>
                  <a:tcPr anchor="ctr"/>
                </a:tc>
                <a:tc>
                  <a:txBody>
                    <a:bodyPr/>
                    <a:lstStyle/>
                    <a:p>
                      <a:pPr>
                        <a:buNone/>
                      </a:pPr>
                      <a:r>
                        <a:rPr lang="en-US"/>
                        <a:t>8.4</a:t>
                      </a:r>
                    </a:p>
                  </a:txBody>
                  <a:tcPr anchor="ctr"/>
                </a:tc>
                <a:extLst>
                  <a:ext uri="{0D108BD9-81ED-4DB2-BD59-A6C34878D82A}">
                    <a16:rowId xmlns:a16="http://schemas.microsoft.com/office/drawing/2014/main" val="2060815499"/>
                  </a:ext>
                </a:extLst>
              </a:tr>
              <a:tr h="0">
                <a:tc>
                  <a:txBody>
                    <a:bodyPr/>
                    <a:lstStyle/>
                    <a:p>
                      <a:pPr>
                        <a:buNone/>
                      </a:pPr>
                      <a:r>
                        <a:rPr lang="en-US"/>
                        <a:t>VIC</a:t>
                      </a:r>
                    </a:p>
                  </a:txBody>
                  <a:tcPr anchor="ctr"/>
                </a:tc>
                <a:tc>
                  <a:txBody>
                    <a:bodyPr/>
                    <a:lstStyle/>
                    <a:p>
                      <a:pPr>
                        <a:buNone/>
                      </a:pPr>
                      <a:r>
                        <a:rPr lang="en-US"/>
                        <a:t>2024</a:t>
                      </a:r>
                    </a:p>
                  </a:txBody>
                  <a:tcPr anchor="ctr"/>
                </a:tc>
                <a:tc>
                  <a:txBody>
                    <a:bodyPr/>
                    <a:lstStyle/>
                    <a:p>
                      <a:pPr>
                        <a:buNone/>
                      </a:pPr>
                      <a:r>
                        <a:rPr lang="en-US"/>
                        <a:t>6.6</a:t>
                      </a:r>
                    </a:p>
                  </a:txBody>
                  <a:tcPr anchor="ctr"/>
                </a:tc>
                <a:extLst>
                  <a:ext uri="{0D108BD9-81ED-4DB2-BD59-A6C34878D82A}">
                    <a16:rowId xmlns:a16="http://schemas.microsoft.com/office/drawing/2014/main" val="2221843604"/>
                  </a:ext>
                </a:extLst>
              </a:tr>
              <a:tr h="0">
                <a:tc>
                  <a:txBody>
                    <a:bodyPr/>
                    <a:lstStyle/>
                    <a:p>
                      <a:pPr>
                        <a:buNone/>
                      </a:pPr>
                      <a:r>
                        <a:rPr lang="en-US"/>
                        <a:t>VIC</a:t>
                      </a:r>
                    </a:p>
                  </a:txBody>
                  <a:tcPr anchor="ctr"/>
                </a:tc>
                <a:tc>
                  <a:txBody>
                    <a:bodyPr/>
                    <a:lstStyle/>
                    <a:p>
                      <a:pPr>
                        <a:buNone/>
                      </a:pPr>
                      <a:r>
                        <a:rPr lang="en-US"/>
                        <a:t>2025</a:t>
                      </a:r>
                    </a:p>
                  </a:txBody>
                  <a:tcPr anchor="ctr"/>
                </a:tc>
                <a:tc>
                  <a:txBody>
                    <a:bodyPr/>
                    <a:lstStyle/>
                    <a:p>
                      <a:pPr>
                        <a:buNone/>
                      </a:pPr>
                      <a:r>
                        <a:rPr lang="en-US"/>
                        <a:t>6.8</a:t>
                      </a:r>
                    </a:p>
                  </a:txBody>
                  <a:tcPr anchor="ctr"/>
                </a:tc>
                <a:extLst>
                  <a:ext uri="{0D108BD9-81ED-4DB2-BD59-A6C34878D82A}">
                    <a16:rowId xmlns:a16="http://schemas.microsoft.com/office/drawing/2014/main" val="1664496948"/>
                  </a:ext>
                </a:extLst>
              </a:tr>
              <a:tr h="0">
                <a:tc>
                  <a:txBody>
                    <a:bodyPr/>
                    <a:lstStyle/>
                    <a:p>
                      <a:pPr>
                        <a:buNone/>
                      </a:pPr>
                      <a:r>
                        <a:rPr lang="en-US"/>
                        <a:t>QLD</a:t>
                      </a:r>
                    </a:p>
                  </a:txBody>
                  <a:tcPr anchor="ctr"/>
                </a:tc>
                <a:tc>
                  <a:txBody>
                    <a:bodyPr/>
                    <a:lstStyle/>
                    <a:p>
                      <a:pPr>
                        <a:buNone/>
                      </a:pPr>
                      <a:r>
                        <a:rPr lang="en-US"/>
                        <a:t>2024</a:t>
                      </a:r>
                    </a:p>
                  </a:txBody>
                  <a:tcPr anchor="ctr"/>
                </a:tc>
                <a:tc>
                  <a:txBody>
                    <a:bodyPr/>
                    <a:lstStyle/>
                    <a:p>
                      <a:pPr>
                        <a:buNone/>
                      </a:pPr>
                      <a:r>
                        <a:rPr lang="en-US"/>
                        <a:t>5.1</a:t>
                      </a:r>
                    </a:p>
                  </a:txBody>
                  <a:tcPr anchor="ctr"/>
                </a:tc>
                <a:extLst>
                  <a:ext uri="{0D108BD9-81ED-4DB2-BD59-A6C34878D82A}">
                    <a16:rowId xmlns:a16="http://schemas.microsoft.com/office/drawing/2014/main" val="3065952375"/>
                  </a:ext>
                </a:extLst>
              </a:tr>
              <a:tr h="0">
                <a:tc>
                  <a:txBody>
                    <a:bodyPr/>
                    <a:lstStyle/>
                    <a:p>
                      <a:pPr>
                        <a:buNone/>
                      </a:pPr>
                      <a:r>
                        <a:rPr lang="en-US"/>
                        <a:t>QLD</a:t>
                      </a:r>
                    </a:p>
                  </a:txBody>
                  <a:tcPr anchor="ctr"/>
                </a:tc>
                <a:tc>
                  <a:txBody>
                    <a:bodyPr/>
                    <a:lstStyle/>
                    <a:p>
                      <a:pPr>
                        <a:buNone/>
                      </a:pPr>
                      <a:r>
                        <a:rPr lang="en-US"/>
                        <a:t>2025</a:t>
                      </a:r>
                    </a:p>
                  </a:txBody>
                  <a:tcPr anchor="ctr"/>
                </a:tc>
                <a:tc>
                  <a:txBody>
                    <a:bodyPr/>
                    <a:lstStyle/>
                    <a:p>
                      <a:pPr>
                        <a:buNone/>
                      </a:pPr>
                      <a:r>
                        <a:rPr lang="en-US" dirty="0"/>
                        <a:t>5.3</a:t>
                      </a:r>
                    </a:p>
                  </a:txBody>
                  <a:tcPr anchor="ctr"/>
                </a:tc>
                <a:extLst>
                  <a:ext uri="{0D108BD9-81ED-4DB2-BD59-A6C34878D82A}">
                    <a16:rowId xmlns:a16="http://schemas.microsoft.com/office/drawing/2014/main" val="350280860"/>
                  </a:ext>
                </a:extLst>
              </a:tr>
            </a:tbl>
          </a:graphicData>
        </a:graphic>
      </p:graphicFrame>
    </p:spTree>
    <p:extLst>
      <p:ext uri="{BB962C8B-B14F-4D97-AF65-F5344CB8AC3E}">
        <p14:creationId xmlns:p14="http://schemas.microsoft.com/office/powerpoint/2010/main" val="24815403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ECC65-99E3-218D-6C0D-D794F22F1F5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A9399F-2BCF-32C5-3F07-1BFB84C910F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7670CE25-5C0A-6040-92B3-9A1339FD193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D0A0C86A-1395-EAE8-AF16-5C44CE557208}"/>
              </a:ext>
            </a:extLst>
          </p:cNvPr>
          <p:cNvPicPr>
            <a:picLocks noChangeAspect="1"/>
          </p:cNvPicPr>
          <p:nvPr/>
        </p:nvPicPr>
        <p:blipFill>
          <a:blip r:embed="rId2"/>
          <a:srcRect l="10167" t="42702" r="64823" b="18763"/>
          <a:stretch>
            <a:fillRect/>
          </a:stretch>
        </p:blipFill>
        <p:spPr>
          <a:xfrm>
            <a:off x="-20444" y="685800"/>
            <a:ext cx="4700679" cy="4073922"/>
          </a:xfrm>
          <a:prstGeom prst="rect">
            <a:avLst/>
          </a:prstGeom>
          <a:ln w="38100">
            <a:noFill/>
          </a:ln>
        </p:spPr>
      </p:pic>
      <p:sp>
        <p:nvSpPr>
          <p:cNvPr id="10" name="TextBox 9">
            <a:extLst>
              <a:ext uri="{FF2B5EF4-FFF2-40B4-BE49-F238E27FC236}">
                <a16:creationId xmlns:a16="http://schemas.microsoft.com/office/drawing/2014/main" id="{30E00B22-18A6-66BA-2352-E46338CB2D64}"/>
              </a:ext>
            </a:extLst>
          </p:cNvPr>
          <p:cNvSpPr txBox="1"/>
          <p:nvPr/>
        </p:nvSpPr>
        <p:spPr>
          <a:xfrm>
            <a:off x="4778298" y="666430"/>
            <a:ext cx="4365702" cy="196175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In pandas output, we’ll see it displayed like this (multi-level index):</a:t>
            </a:r>
            <a:endParaRPr lang="en-US" sz="2600" dirty="0">
              <a:latin typeface="+mj-lt"/>
            </a:endParaRPr>
          </a:p>
        </p:txBody>
      </p:sp>
      <p:sp>
        <p:nvSpPr>
          <p:cNvPr id="11" name="Rectangle: Rounded Corners 10">
            <a:extLst>
              <a:ext uri="{FF2B5EF4-FFF2-40B4-BE49-F238E27FC236}">
                <a16:creationId xmlns:a16="http://schemas.microsoft.com/office/drawing/2014/main" id="{6495AE8C-6132-1437-9778-49E41D904EC9}"/>
              </a:ext>
            </a:extLst>
          </p:cNvPr>
          <p:cNvSpPr/>
          <p:nvPr/>
        </p:nvSpPr>
        <p:spPr>
          <a:xfrm>
            <a:off x="-27467" y="2331003"/>
            <a:ext cx="4700678" cy="12680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95F5A04-041E-7ADF-F4F0-572304EABCC6}"/>
              </a:ext>
            </a:extLst>
          </p:cNvPr>
          <p:cNvSpPr txBox="1"/>
          <p:nvPr/>
        </p:nvSpPr>
        <p:spPr>
          <a:xfrm>
            <a:off x="0" y="5539819"/>
            <a:ext cx="9144000" cy="1318181"/>
          </a:xfrm>
          <a:prstGeom prst="rect">
            <a:avLst/>
          </a:prstGeom>
          <a:solidFill>
            <a:schemeClr val="bg1"/>
          </a:solidFill>
        </p:spPr>
        <p:txBody>
          <a:bodyPr wrap="square">
            <a:spAutoFit/>
          </a:bodyPr>
          <a:lstStyle/>
          <a:p>
            <a:pPr>
              <a:lnSpc>
                <a:spcPct val="150000"/>
              </a:lnSpc>
            </a:pPr>
            <a:r>
              <a:rPr lang="en-US" sz="2800" dirty="0">
                <a:latin typeface="+mj-lt"/>
              </a:rPr>
              <a:t>In simple terms—stack() turns columns into rows (wide → long).</a:t>
            </a:r>
          </a:p>
        </p:txBody>
      </p:sp>
      <p:sp>
        <p:nvSpPr>
          <p:cNvPr id="6" name="TextBox 5">
            <a:extLst>
              <a:ext uri="{FF2B5EF4-FFF2-40B4-BE49-F238E27FC236}">
                <a16:creationId xmlns:a16="http://schemas.microsoft.com/office/drawing/2014/main" id="{AC787155-C06F-CB39-7911-1E92A587F207}"/>
              </a:ext>
            </a:extLst>
          </p:cNvPr>
          <p:cNvSpPr txBox="1"/>
          <p:nvPr/>
        </p:nvSpPr>
        <p:spPr>
          <a:xfrm>
            <a:off x="4778298" y="2628185"/>
            <a:ext cx="4365702" cy="3108543"/>
          </a:xfrm>
          <a:prstGeom prst="rect">
            <a:avLst/>
          </a:prstGeom>
          <a:noFill/>
          <a:ln>
            <a:solidFill>
              <a:srgbClr val="FF0000"/>
            </a:solidFill>
          </a:ln>
        </p:spPr>
        <p:txBody>
          <a:bodyPr wrap="square">
            <a:spAutoFit/>
          </a:bodyPr>
          <a:lstStyle/>
          <a:p>
            <a:r>
              <a:rPr lang="en-US" sz="2800" dirty="0">
                <a:latin typeface="+mj-lt"/>
              </a:rPr>
              <a:t>NSW  2024    8.2</a:t>
            </a:r>
          </a:p>
          <a:p>
            <a:r>
              <a:rPr lang="en-US" sz="2800" dirty="0">
                <a:latin typeface="+mj-lt"/>
              </a:rPr>
              <a:t>      2025    8.4</a:t>
            </a:r>
          </a:p>
          <a:p>
            <a:r>
              <a:rPr lang="en-US" sz="2800" dirty="0">
                <a:latin typeface="+mj-lt"/>
              </a:rPr>
              <a:t>VIC  2024    6.6</a:t>
            </a:r>
          </a:p>
          <a:p>
            <a:r>
              <a:rPr lang="en-US" sz="2800" dirty="0">
                <a:latin typeface="+mj-lt"/>
              </a:rPr>
              <a:t>      2025    6.8</a:t>
            </a:r>
          </a:p>
          <a:p>
            <a:r>
              <a:rPr lang="en-US" sz="2800" dirty="0">
                <a:latin typeface="+mj-lt"/>
              </a:rPr>
              <a:t>QLD  2024    5.1</a:t>
            </a:r>
          </a:p>
          <a:p>
            <a:r>
              <a:rPr lang="en-US" sz="2800" dirty="0">
                <a:latin typeface="+mj-lt"/>
              </a:rPr>
              <a:t>      2025    5.3</a:t>
            </a:r>
          </a:p>
          <a:p>
            <a:r>
              <a:rPr lang="en-US" sz="2800" dirty="0" err="1">
                <a:latin typeface="+mj-lt"/>
              </a:rPr>
              <a:t>dtype</a:t>
            </a:r>
            <a:r>
              <a:rPr lang="en-US" sz="2800" dirty="0">
                <a:latin typeface="+mj-lt"/>
              </a:rPr>
              <a:t>: float64</a:t>
            </a:r>
          </a:p>
        </p:txBody>
      </p:sp>
    </p:spTree>
    <p:extLst>
      <p:ext uri="{BB962C8B-B14F-4D97-AF65-F5344CB8AC3E}">
        <p14:creationId xmlns:p14="http://schemas.microsoft.com/office/powerpoint/2010/main" val="38688031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6B05-BF11-5CB4-DDE0-D2EAFF84171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8B4772-E442-8D9D-2B69-32593191B08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F65396A1-03D8-10AD-5185-F7C5BC373D4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A8B9B3DF-BCF6-9778-6384-ACDAE96AB024}"/>
              </a:ext>
            </a:extLst>
          </p:cNvPr>
          <p:cNvPicPr>
            <a:picLocks noChangeAspect="1"/>
          </p:cNvPicPr>
          <p:nvPr/>
        </p:nvPicPr>
        <p:blipFill>
          <a:blip r:embed="rId2"/>
          <a:srcRect l="10167" t="42702" r="64823" b="18763"/>
          <a:stretch>
            <a:fillRect/>
          </a:stretch>
        </p:blipFill>
        <p:spPr>
          <a:xfrm>
            <a:off x="-20444" y="685800"/>
            <a:ext cx="4700679" cy="4073922"/>
          </a:xfrm>
          <a:prstGeom prst="rect">
            <a:avLst/>
          </a:prstGeom>
          <a:ln w="38100">
            <a:noFill/>
          </a:ln>
        </p:spPr>
      </p:pic>
      <p:sp>
        <p:nvSpPr>
          <p:cNvPr id="10" name="TextBox 9">
            <a:extLst>
              <a:ext uri="{FF2B5EF4-FFF2-40B4-BE49-F238E27FC236}">
                <a16:creationId xmlns:a16="http://schemas.microsoft.com/office/drawing/2014/main" id="{88127A89-362F-551C-2DA9-BBFBABCE3D7D}"/>
              </a:ext>
            </a:extLst>
          </p:cNvPr>
          <p:cNvSpPr txBox="1"/>
          <p:nvPr/>
        </p:nvSpPr>
        <p:spPr>
          <a:xfrm>
            <a:off x="4114800" y="32071"/>
            <a:ext cx="3352800" cy="1315425"/>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Unstack — convert rows → columns</a:t>
            </a:r>
            <a:endParaRPr lang="en-US" sz="2600" dirty="0">
              <a:latin typeface="+mj-lt"/>
            </a:endParaRPr>
          </a:p>
        </p:txBody>
      </p:sp>
      <p:sp>
        <p:nvSpPr>
          <p:cNvPr id="11" name="Rectangle: Rounded Corners 10">
            <a:extLst>
              <a:ext uri="{FF2B5EF4-FFF2-40B4-BE49-F238E27FC236}">
                <a16:creationId xmlns:a16="http://schemas.microsoft.com/office/drawing/2014/main" id="{9E84D9B1-0B16-664A-0E0F-71C9F03FE63F}"/>
              </a:ext>
            </a:extLst>
          </p:cNvPr>
          <p:cNvSpPr/>
          <p:nvPr/>
        </p:nvSpPr>
        <p:spPr>
          <a:xfrm>
            <a:off x="34413" y="3643333"/>
            <a:ext cx="4700678" cy="12680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5A8353-B54B-A150-C228-D81CCE3F01F2}"/>
              </a:ext>
            </a:extLst>
          </p:cNvPr>
          <p:cNvSpPr txBox="1"/>
          <p:nvPr/>
        </p:nvSpPr>
        <p:spPr>
          <a:xfrm>
            <a:off x="4789948" y="1767341"/>
            <a:ext cx="4365702" cy="3257174"/>
          </a:xfrm>
          <a:prstGeom prst="rect">
            <a:avLst/>
          </a:prstGeom>
          <a:noFill/>
          <a:ln>
            <a:solidFill>
              <a:srgbClr val="FF0000"/>
            </a:solidFill>
          </a:ln>
        </p:spPr>
        <p:txBody>
          <a:bodyPr wrap="square">
            <a:spAutoFit/>
          </a:bodyPr>
          <a:lstStyle/>
          <a:p>
            <a:pPr>
              <a:lnSpc>
                <a:spcPct val="150000"/>
              </a:lnSpc>
            </a:pPr>
            <a:r>
              <a:rPr lang="en-US" sz="2800" dirty="0">
                <a:latin typeface="+mj-lt"/>
              </a:rPr>
              <a:t>The unstack() function does the opposite —</a:t>
            </a:r>
            <a:br>
              <a:rPr lang="en-US" sz="2800" dirty="0">
                <a:latin typeface="+mj-lt"/>
              </a:rPr>
            </a:br>
            <a:r>
              <a:rPr lang="en-US" sz="2800" dirty="0">
                <a:latin typeface="+mj-lt"/>
              </a:rPr>
              <a:t>It turns rows back into columns, restoring the original wide format.</a:t>
            </a:r>
          </a:p>
        </p:txBody>
      </p:sp>
      <p:sp>
        <p:nvSpPr>
          <p:cNvPr id="4" name="Rectangle 1">
            <a:extLst>
              <a:ext uri="{FF2B5EF4-FFF2-40B4-BE49-F238E27FC236}">
                <a16:creationId xmlns:a16="http://schemas.microsoft.com/office/drawing/2014/main" id="{072DE356-460B-8A93-0E80-E0EDBEA92E02}"/>
              </a:ext>
            </a:extLst>
          </p:cNvPr>
          <p:cNvSpPr>
            <a:spLocks noChangeArrowheads="1"/>
          </p:cNvSpPr>
          <p:nvPr/>
        </p:nvSpPr>
        <p:spPr bwMode="auto">
          <a:xfrm>
            <a:off x="8781" y="4935971"/>
            <a:ext cx="23759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Output again becomes:</a:t>
            </a:r>
          </a:p>
        </p:txBody>
      </p:sp>
      <p:graphicFrame>
        <p:nvGraphicFramePr>
          <p:cNvPr id="8" name="Table 7">
            <a:extLst>
              <a:ext uri="{FF2B5EF4-FFF2-40B4-BE49-F238E27FC236}">
                <a16:creationId xmlns:a16="http://schemas.microsoft.com/office/drawing/2014/main" id="{CDAF1332-D679-F937-094C-22F908380E61}"/>
              </a:ext>
            </a:extLst>
          </p:cNvPr>
          <p:cNvGraphicFramePr>
            <a:graphicFrameLocks noGrp="1"/>
          </p:cNvGraphicFramePr>
          <p:nvPr>
            <p:extLst>
              <p:ext uri="{D42A27DB-BD31-4B8C-83A1-F6EECF244321}">
                <p14:modId xmlns:p14="http://schemas.microsoft.com/office/powerpoint/2010/main" val="2380673487"/>
              </p:ext>
            </p:extLst>
          </p:nvPr>
        </p:nvGraphicFramePr>
        <p:xfrm>
          <a:off x="20568" y="5394960"/>
          <a:ext cx="2632587" cy="1463040"/>
        </p:xfrm>
        <a:graphic>
          <a:graphicData uri="http://schemas.openxmlformats.org/drawingml/2006/table">
            <a:tbl>
              <a:tblPr>
                <a:tableStyleId>{ED083AE6-46FA-4A59-8FB0-9F97EB10719F}</a:tableStyleId>
              </a:tblPr>
              <a:tblGrid>
                <a:gridCol w="803787">
                  <a:extLst>
                    <a:ext uri="{9D8B030D-6E8A-4147-A177-3AD203B41FA5}">
                      <a16:colId xmlns:a16="http://schemas.microsoft.com/office/drawing/2014/main" val="3659724282"/>
                    </a:ext>
                  </a:extLst>
                </a:gridCol>
                <a:gridCol w="914400">
                  <a:extLst>
                    <a:ext uri="{9D8B030D-6E8A-4147-A177-3AD203B41FA5}">
                      <a16:colId xmlns:a16="http://schemas.microsoft.com/office/drawing/2014/main" val="557676742"/>
                    </a:ext>
                  </a:extLst>
                </a:gridCol>
                <a:gridCol w="914400">
                  <a:extLst>
                    <a:ext uri="{9D8B030D-6E8A-4147-A177-3AD203B41FA5}">
                      <a16:colId xmlns:a16="http://schemas.microsoft.com/office/drawing/2014/main" val="3412874729"/>
                    </a:ext>
                  </a:extLst>
                </a:gridCol>
              </a:tblGrid>
              <a:tr h="0">
                <a:tc>
                  <a:txBody>
                    <a:bodyPr/>
                    <a:lstStyle/>
                    <a:p>
                      <a:pPr>
                        <a:buNone/>
                      </a:pPr>
                      <a:r>
                        <a:rPr lang="en-US"/>
                        <a:t>State</a:t>
                      </a:r>
                    </a:p>
                  </a:txBody>
                  <a:tcPr anchor="ctr">
                    <a:solidFill>
                      <a:schemeClr val="bg1"/>
                    </a:solidFill>
                  </a:tcPr>
                </a:tc>
                <a:tc>
                  <a:txBody>
                    <a:bodyPr/>
                    <a:lstStyle/>
                    <a:p>
                      <a:pPr>
                        <a:buNone/>
                      </a:pPr>
                      <a:r>
                        <a:rPr lang="en-US"/>
                        <a:t>2024</a:t>
                      </a:r>
                    </a:p>
                  </a:txBody>
                  <a:tcPr anchor="ctr">
                    <a:solidFill>
                      <a:schemeClr val="bg1"/>
                    </a:solidFill>
                  </a:tcPr>
                </a:tc>
                <a:tc>
                  <a:txBody>
                    <a:bodyPr/>
                    <a:lstStyle/>
                    <a:p>
                      <a:pPr>
                        <a:buNone/>
                      </a:pPr>
                      <a:r>
                        <a:rPr lang="en-US"/>
                        <a:t>2025</a:t>
                      </a:r>
                    </a:p>
                  </a:txBody>
                  <a:tcPr anchor="ctr">
                    <a:solidFill>
                      <a:schemeClr val="bg1"/>
                    </a:solidFill>
                  </a:tcPr>
                </a:tc>
                <a:extLst>
                  <a:ext uri="{0D108BD9-81ED-4DB2-BD59-A6C34878D82A}">
                    <a16:rowId xmlns:a16="http://schemas.microsoft.com/office/drawing/2014/main" val="1505277159"/>
                  </a:ext>
                </a:extLst>
              </a:tr>
              <a:tr h="0">
                <a:tc>
                  <a:txBody>
                    <a:bodyPr/>
                    <a:lstStyle/>
                    <a:p>
                      <a:pPr>
                        <a:buNone/>
                      </a:pPr>
                      <a:r>
                        <a:rPr lang="en-US"/>
                        <a:t>NSW</a:t>
                      </a:r>
                    </a:p>
                  </a:txBody>
                  <a:tcPr anchor="ctr">
                    <a:solidFill>
                      <a:schemeClr val="bg1"/>
                    </a:solidFill>
                  </a:tcPr>
                </a:tc>
                <a:tc>
                  <a:txBody>
                    <a:bodyPr/>
                    <a:lstStyle/>
                    <a:p>
                      <a:pPr>
                        <a:buNone/>
                      </a:pPr>
                      <a:r>
                        <a:rPr lang="en-US"/>
                        <a:t>8.2</a:t>
                      </a:r>
                    </a:p>
                  </a:txBody>
                  <a:tcPr anchor="ctr">
                    <a:solidFill>
                      <a:schemeClr val="bg1"/>
                    </a:solidFill>
                  </a:tcPr>
                </a:tc>
                <a:tc>
                  <a:txBody>
                    <a:bodyPr/>
                    <a:lstStyle/>
                    <a:p>
                      <a:pPr>
                        <a:buNone/>
                      </a:pPr>
                      <a:r>
                        <a:rPr lang="en-US" dirty="0"/>
                        <a:t>8.4</a:t>
                      </a:r>
                    </a:p>
                  </a:txBody>
                  <a:tcPr anchor="ctr">
                    <a:solidFill>
                      <a:schemeClr val="bg1"/>
                    </a:solidFill>
                  </a:tcPr>
                </a:tc>
                <a:extLst>
                  <a:ext uri="{0D108BD9-81ED-4DB2-BD59-A6C34878D82A}">
                    <a16:rowId xmlns:a16="http://schemas.microsoft.com/office/drawing/2014/main" val="500586663"/>
                  </a:ext>
                </a:extLst>
              </a:tr>
              <a:tr h="0">
                <a:tc>
                  <a:txBody>
                    <a:bodyPr/>
                    <a:lstStyle/>
                    <a:p>
                      <a:pPr>
                        <a:buNone/>
                      </a:pPr>
                      <a:r>
                        <a:rPr lang="en-US"/>
                        <a:t>VIC</a:t>
                      </a:r>
                    </a:p>
                  </a:txBody>
                  <a:tcPr anchor="ctr">
                    <a:solidFill>
                      <a:schemeClr val="bg1"/>
                    </a:solidFill>
                  </a:tcPr>
                </a:tc>
                <a:tc>
                  <a:txBody>
                    <a:bodyPr/>
                    <a:lstStyle/>
                    <a:p>
                      <a:pPr>
                        <a:buNone/>
                      </a:pPr>
                      <a:r>
                        <a:rPr lang="en-US"/>
                        <a:t>6.6</a:t>
                      </a:r>
                    </a:p>
                  </a:txBody>
                  <a:tcPr anchor="ctr">
                    <a:solidFill>
                      <a:schemeClr val="bg1"/>
                    </a:solidFill>
                  </a:tcPr>
                </a:tc>
                <a:tc>
                  <a:txBody>
                    <a:bodyPr/>
                    <a:lstStyle/>
                    <a:p>
                      <a:pPr>
                        <a:buNone/>
                      </a:pPr>
                      <a:r>
                        <a:rPr lang="en-US"/>
                        <a:t>6.8</a:t>
                      </a:r>
                    </a:p>
                  </a:txBody>
                  <a:tcPr anchor="ctr">
                    <a:solidFill>
                      <a:schemeClr val="bg1"/>
                    </a:solidFill>
                  </a:tcPr>
                </a:tc>
                <a:extLst>
                  <a:ext uri="{0D108BD9-81ED-4DB2-BD59-A6C34878D82A}">
                    <a16:rowId xmlns:a16="http://schemas.microsoft.com/office/drawing/2014/main" val="3780820780"/>
                  </a:ext>
                </a:extLst>
              </a:tr>
              <a:tr h="0">
                <a:tc>
                  <a:txBody>
                    <a:bodyPr/>
                    <a:lstStyle/>
                    <a:p>
                      <a:pPr>
                        <a:buNone/>
                      </a:pPr>
                      <a:r>
                        <a:rPr lang="en-US"/>
                        <a:t>QLD</a:t>
                      </a:r>
                    </a:p>
                  </a:txBody>
                  <a:tcPr anchor="ctr">
                    <a:solidFill>
                      <a:schemeClr val="bg1"/>
                    </a:solidFill>
                  </a:tcPr>
                </a:tc>
                <a:tc>
                  <a:txBody>
                    <a:bodyPr/>
                    <a:lstStyle/>
                    <a:p>
                      <a:pPr>
                        <a:buNone/>
                      </a:pPr>
                      <a:r>
                        <a:rPr lang="en-US"/>
                        <a:t>5.1</a:t>
                      </a:r>
                    </a:p>
                  </a:txBody>
                  <a:tcPr anchor="ctr">
                    <a:solidFill>
                      <a:schemeClr val="bg1"/>
                    </a:solidFill>
                  </a:tcPr>
                </a:tc>
                <a:tc>
                  <a:txBody>
                    <a:bodyPr/>
                    <a:lstStyle/>
                    <a:p>
                      <a:pPr>
                        <a:buNone/>
                      </a:pPr>
                      <a:r>
                        <a:rPr lang="en-US" dirty="0"/>
                        <a:t>5.3</a:t>
                      </a:r>
                    </a:p>
                  </a:txBody>
                  <a:tcPr anchor="ctr">
                    <a:solidFill>
                      <a:schemeClr val="bg1"/>
                    </a:solidFill>
                  </a:tcPr>
                </a:tc>
                <a:extLst>
                  <a:ext uri="{0D108BD9-81ED-4DB2-BD59-A6C34878D82A}">
                    <a16:rowId xmlns:a16="http://schemas.microsoft.com/office/drawing/2014/main" val="3266007266"/>
                  </a:ext>
                </a:extLst>
              </a:tr>
            </a:tbl>
          </a:graphicData>
        </a:graphic>
      </p:graphicFrame>
      <p:sp>
        <p:nvSpPr>
          <p:cNvPr id="13" name="TextBox 12">
            <a:extLst>
              <a:ext uri="{FF2B5EF4-FFF2-40B4-BE49-F238E27FC236}">
                <a16:creationId xmlns:a16="http://schemas.microsoft.com/office/drawing/2014/main" id="{6F928A82-DC56-8B67-4424-70D8434F3B9B}"/>
              </a:ext>
            </a:extLst>
          </p:cNvPr>
          <p:cNvSpPr txBox="1"/>
          <p:nvPr/>
        </p:nvSpPr>
        <p:spPr>
          <a:xfrm>
            <a:off x="2671413" y="5120637"/>
            <a:ext cx="6490845" cy="1763944"/>
          </a:xfrm>
          <a:prstGeom prst="rect">
            <a:avLst/>
          </a:prstGeom>
          <a:solidFill>
            <a:schemeClr val="bg1"/>
          </a:solidFill>
          <a:ln>
            <a:solidFill>
              <a:srgbClr val="FF0000"/>
            </a:solidFill>
          </a:ln>
        </p:spPr>
        <p:txBody>
          <a:bodyPr wrap="square">
            <a:spAutoFit/>
          </a:bodyPr>
          <a:lstStyle/>
          <a:p>
            <a:pPr>
              <a:lnSpc>
                <a:spcPct val="150000"/>
              </a:lnSpc>
            </a:pPr>
            <a:r>
              <a:rPr lang="en-US" sz="2500" dirty="0">
                <a:latin typeface="+mj-lt"/>
              </a:rPr>
              <a:t>In simple terms —</a:t>
            </a:r>
            <a:br>
              <a:rPr lang="en-US" sz="2500" dirty="0">
                <a:latin typeface="+mj-lt"/>
              </a:rPr>
            </a:br>
            <a:r>
              <a:rPr lang="en-US" sz="2500" dirty="0">
                <a:latin typeface="+mj-lt"/>
              </a:rPr>
              <a:t>unstack() turns rows back into columns (long → wide).</a:t>
            </a:r>
          </a:p>
        </p:txBody>
      </p:sp>
    </p:spTree>
    <p:extLst>
      <p:ext uri="{BB962C8B-B14F-4D97-AF65-F5344CB8AC3E}">
        <p14:creationId xmlns:p14="http://schemas.microsoft.com/office/powerpoint/2010/main" val="8693842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82A67-3A61-6B89-1C1E-2AF69CE8A9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A0A6EA-6BFA-8633-216B-287D2CFBD78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11</a:t>
            </a:r>
            <a:endParaRPr spc="-20" dirty="0">
              <a:latin typeface="+mj-lt"/>
            </a:endParaRPr>
          </a:p>
        </p:txBody>
      </p:sp>
      <p:sp>
        <p:nvSpPr>
          <p:cNvPr id="5" name="object 5">
            <a:extLst>
              <a:ext uri="{FF2B5EF4-FFF2-40B4-BE49-F238E27FC236}">
                <a16:creationId xmlns:a16="http://schemas.microsoft.com/office/drawing/2014/main" id="{F3C26C69-19CA-C6A1-6FB6-7A136FF44C6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9" name="Table 8">
            <a:extLst>
              <a:ext uri="{FF2B5EF4-FFF2-40B4-BE49-F238E27FC236}">
                <a16:creationId xmlns:a16="http://schemas.microsoft.com/office/drawing/2014/main" id="{33030DB1-A77E-FF61-7E40-20A6B7D99DFF}"/>
              </a:ext>
            </a:extLst>
          </p:cNvPr>
          <p:cNvGraphicFramePr>
            <a:graphicFrameLocks noGrp="1"/>
          </p:cNvGraphicFramePr>
          <p:nvPr>
            <p:extLst>
              <p:ext uri="{D42A27DB-BD31-4B8C-83A1-F6EECF244321}">
                <p14:modId xmlns:p14="http://schemas.microsoft.com/office/powerpoint/2010/main" val="2185230047"/>
              </p:ext>
            </p:extLst>
          </p:nvPr>
        </p:nvGraphicFramePr>
        <p:xfrm>
          <a:off x="440409" y="1205200"/>
          <a:ext cx="8286931" cy="3688080"/>
        </p:xfrm>
        <a:graphic>
          <a:graphicData uri="http://schemas.openxmlformats.org/drawingml/2006/table">
            <a:tbl>
              <a:tblPr>
                <a:tableStyleId>{ED083AE6-46FA-4A59-8FB0-9F97EB10719F}</a:tableStyleId>
              </a:tblPr>
              <a:tblGrid>
                <a:gridCol w="1652587">
                  <a:extLst>
                    <a:ext uri="{9D8B030D-6E8A-4147-A177-3AD203B41FA5}">
                      <a16:colId xmlns:a16="http://schemas.microsoft.com/office/drawing/2014/main" val="3046917728"/>
                    </a:ext>
                  </a:extLst>
                </a:gridCol>
                <a:gridCol w="1652587">
                  <a:extLst>
                    <a:ext uri="{9D8B030D-6E8A-4147-A177-3AD203B41FA5}">
                      <a16:colId xmlns:a16="http://schemas.microsoft.com/office/drawing/2014/main" val="1792666256"/>
                    </a:ext>
                  </a:extLst>
                </a:gridCol>
                <a:gridCol w="4981757">
                  <a:extLst>
                    <a:ext uri="{9D8B030D-6E8A-4147-A177-3AD203B41FA5}">
                      <a16:colId xmlns:a16="http://schemas.microsoft.com/office/drawing/2014/main" val="2471388802"/>
                    </a:ext>
                  </a:extLst>
                </a:gridCol>
              </a:tblGrid>
              <a:tr h="0">
                <a:tc>
                  <a:txBody>
                    <a:bodyPr/>
                    <a:lstStyle/>
                    <a:p>
                      <a:pPr>
                        <a:buNone/>
                      </a:pPr>
                      <a:r>
                        <a:rPr lang="en-US" sz="2800"/>
                        <a:t>Function</a:t>
                      </a:r>
                      <a:endParaRPr lang="en-US" sz="2800">
                        <a:latin typeface="+mj-lt"/>
                      </a:endParaRPr>
                    </a:p>
                  </a:txBody>
                  <a:tcPr anchor="ctr"/>
                </a:tc>
                <a:tc>
                  <a:txBody>
                    <a:bodyPr/>
                    <a:lstStyle/>
                    <a:p>
                      <a:pPr>
                        <a:buNone/>
                      </a:pPr>
                      <a:r>
                        <a:rPr lang="en-US" sz="2800" dirty="0"/>
                        <a:t>Action</a:t>
                      </a:r>
                      <a:endParaRPr lang="en-US" sz="2800" dirty="0">
                        <a:latin typeface="+mj-lt"/>
                      </a:endParaRPr>
                    </a:p>
                  </a:txBody>
                  <a:tcPr anchor="ctr"/>
                </a:tc>
                <a:tc>
                  <a:txBody>
                    <a:bodyPr/>
                    <a:lstStyle/>
                    <a:p>
                      <a:pPr>
                        <a:buNone/>
                      </a:pPr>
                      <a:r>
                        <a:rPr lang="en-US" sz="2800"/>
                        <a:t>Format Change</a:t>
                      </a:r>
                      <a:endParaRPr lang="en-US" sz="2800">
                        <a:latin typeface="+mj-lt"/>
                      </a:endParaRPr>
                    </a:p>
                  </a:txBody>
                  <a:tcPr anchor="ctr"/>
                </a:tc>
                <a:extLst>
                  <a:ext uri="{0D108BD9-81ED-4DB2-BD59-A6C34878D82A}">
                    <a16:rowId xmlns:a16="http://schemas.microsoft.com/office/drawing/2014/main" val="9315442"/>
                  </a:ext>
                </a:extLst>
              </a:tr>
              <a:tr h="0">
                <a:tc>
                  <a:txBody>
                    <a:bodyPr/>
                    <a:lstStyle/>
                    <a:p>
                      <a:pPr>
                        <a:buNone/>
                      </a:pPr>
                      <a:r>
                        <a:rPr lang="en-US" sz="2800"/>
                        <a:t>stack()</a:t>
                      </a:r>
                      <a:endParaRPr lang="en-US" sz="2800">
                        <a:latin typeface="+mj-lt"/>
                      </a:endParaRPr>
                    </a:p>
                  </a:txBody>
                  <a:tcPr anchor="ctr"/>
                </a:tc>
                <a:tc>
                  <a:txBody>
                    <a:bodyPr/>
                    <a:lstStyle/>
                    <a:p>
                      <a:pPr>
                        <a:buNone/>
                      </a:pPr>
                      <a:r>
                        <a:rPr lang="en-US" sz="2800" dirty="0"/>
                        <a:t>Moves columns into rows</a:t>
                      </a:r>
                      <a:endParaRPr lang="en-US" sz="2800" dirty="0">
                        <a:latin typeface="+mj-lt"/>
                      </a:endParaRPr>
                    </a:p>
                  </a:txBody>
                  <a:tcPr anchor="ctr"/>
                </a:tc>
                <a:tc>
                  <a:txBody>
                    <a:bodyPr/>
                    <a:lstStyle/>
                    <a:p>
                      <a:pPr>
                        <a:buNone/>
                      </a:pPr>
                      <a:r>
                        <a:rPr lang="en-US" sz="2800" dirty="0"/>
                        <a:t>Wide → Long</a:t>
                      </a:r>
                      <a:endParaRPr lang="en-US" sz="2800" dirty="0">
                        <a:latin typeface="+mj-lt"/>
                      </a:endParaRPr>
                    </a:p>
                  </a:txBody>
                  <a:tcPr anchor="ctr"/>
                </a:tc>
                <a:extLst>
                  <a:ext uri="{0D108BD9-81ED-4DB2-BD59-A6C34878D82A}">
                    <a16:rowId xmlns:a16="http://schemas.microsoft.com/office/drawing/2014/main" val="2256060152"/>
                  </a:ext>
                </a:extLst>
              </a:tr>
              <a:tr h="0">
                <a:tc>
                  <a:txBody>
                    <a:bodyPr/>
                    <a:lstStyle/>
                    <a:p>
                      <a:pPr>
                        <a:buNone/>
                      </a:pPr>
                      <a:r>
                        <a:rPr lang="en-US" sz="2800"/>
                        <a:t>unstack()</a:t>
                      </a:r>
                      <a:endParaRPr lang="en-US" sz="2800">
                        <a:latin typeface="+mj-lt"/>
                      </a:endParaRPr>
                    </a:p>
                  </a:txBody>
                  <a:tcPr anchor="ctr"/>
                </a:tc>
                <a:tc>
                  <a:txBody>
                    <a:bodyPr/>
                    <a:lstStyle/>
                    <a:p>
                      <a:pPr>
                        <a:buNone/>
                      </a:pPr>
                      <a:r>
                        <a:rPr lang="en-US" sz="2800"/>
                        <a:t>Moves rows back into columns</a:t>
                      </a:r>
                      <a:endParaRPr lang="en-US" sz="2800">
                        <a:latin typeface="+mj-lt"/>
                      </a:endParaRPr>
                    </a:p>
                  </a:txBody>
                  <a:tcPr anchor="ctr"/>
                </a:tc>
                <a:tc>
                  <a:txBody>
                    <a:bodyPr/>
                    <a:lstStyle/>
                    <a:p>
                      <a:pPr>
                        <a:buNone/>
                      </a:pPr>
                      <a:r>
                        <a:rPr lang="en-US" sz="2800" dirty="0"/>
                        <a:t>Long → Wide</a:t>
                      </a:r>
                      <a:endParaRPr lang="en-US" sz="2800" dirty="0">
                        <a:latin typeface="+mj-lt"/>
                      </a:endParaRPr>
                    </a:p>
                  </a:txBody>
                  <a:tcPr anchor="ctr"/>
                </a:tc>
                <a:extLst>
                  <a:ext uri="{0D108BD9-81ED-4DB2-BD59-A6C34878D82A}">
                    <a16:rowId xmlns:a16="http://schemas.microsoft.com/office/drawing/2014/main" val="4189868324"/>
                  </a:ext>
                </a:extLst>
              </a:tr>
            </a:tbl>
          </a:graphicData>
        </a:graphic>
      </p:graphicFrame>
      <p:sp>
        <p:nvSpPr>
          <p:cNvPr id="12" name="Rectangle 1">
            <a:extLst>
              <a:ext uri="{FF2B5EF4-FFF2-40B4-BE49-F238E27FC236}">
                <a16:creationId xmlns:a16="http://schemas.microsoft.com/office/drawing/2014/main" id="{DC032245-E558-EC56-6E35-AE49B8077851}"/>
              </a:ext>
            </a:extLst>
          </p:cNvPr>
          <p:cNvSpPr>
            <a:spLocks noChangeArrowheads="1"/>
          </p:cNvSpPr>
          <p:nvPr/>
        </p:nvSpPr>
        <p:spPr bwMode="auto">
          <a:xfrm>
            <a:off x="-23751" y="681980"/>
            <a:ext cx="26196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Result Summary</a:t>
            </a:r>
          </a:p>
        </p:txBody>
      </p:sp>
      <p:sp>
        <p:nvSpPr>
          <p:cNvPr id="15" name="TextBox 14">
            <a:extLst>
              <a:ext uri="{FF2B5EF4-FFF2-40B4-BE49-F238E27FC236}">
                <a16:creationId xmlns:a16="http://schemas.microsoft.com/office/drawing/2014/main" id="{AAC9F17E-BC3F-2406-D5AF-42B1021D10BA}"/>
              </a:ext>
            </a:extLst>
          </p:cNvPr>
          <p:cNvSpPr txBox="1"/>
          <p:nvPr/>
        </p:nvSpPr>
        <p:spPr>
          <a:xfrm>
            <a:off x="0" y="4927901"/>
            <a:ext cx="9167750" cy="1964512"/>
          </a:xfrm>
          <a:prstGeom prst="rect">
            <a:avLst/>
          </a:prstGeom>
          <a:solidFill>
            <a:schemeClr val="bg1"/>
          </a:solidFill>
        </p:spPr>
        <p:txBody>
          <a:bodyPr wrap="square">
            <a:spAutoFit/>
          </a:bodyPr>
          <a:lstStyle/>
          <a:p>
            <a:pPr>
              <a:lnSpc>
                <a:spcPct val="150000"/>
              </a:lnSpc>
              <a:buNone/>
            </a:pPr>
            <a:r>
              <a:rPr lang="en-US" sz="2800" b="1" dirty="0">
                <a:latin typeface="+mj-lt"/>
              </a:rPr>
              <a:t>In simple classroom terms</a:t>
            </a:r>
          </a:p>
          <a:p>
            <a:pPr marL="457200" indent="-457200">
              <a:lnSpc>
                <a:spcPct val="150000"/>
              </a:lnSpc>
              <a:buFont typeface="Arial" panose="020B0604020202020204" pitchFamily="34" charset="0"/>
              <a:buChar char="•"/>
            </a:pPr>
            <a:r>
              <a:rPr lang="en-US" sz="2800" dirty="0">
                <a:latin typeface="+mj-lt"/>
              </a:rPr>
              <a:t>stack() = “fold” columns down</a:t>
            </a:r>
          </a:p>
          <a:p>
            <a:pPr marL="457200" indent="-457200">
              <a:lnSpc>
                <a:spcPct val="150000"/>
              </a:lnSpc>
              <a:buFont typeface="Arial" panose="020B0604020202020204" pitchFamily="34" charset="0"/>
              <a:buChar char="•"/>
            </a:pPr>
            <a:r>
              <a:rPr lang="en-US" sz="2800" dirty="0">
                <a:latin typeface="+mj-lt"/>
              </a:rPr>
              <a:t>unstack() = “unfold” them back up</a:t>
            </a:r>
          </a:p>
        </p:txBody>
      </p:sp>
    </p:spTree>
    <p:extLst>
      <p:ext uri="{BB962C8B-B14F-4D97-AF65-F5344CB8AC3E}">
        <p14:creationId xmlns:p14="http://schemas.microsoft.com/office/powerpoint/2010/main" val="9630635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7E4D0-A615-3015-7283-8CE67BEABB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D64B8D-C135-73AE-DA20-40C40AAA7AA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7CB1E533-1030-FD1B-5510-054C193BD5D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4E31E699-C332-20A4-0547-2AD9B3AF720F}"/>
              </a:ext>
            </a:extLst>
          </p:cNvPr>
          <p:cNvSpPr txBox="1"/>
          <p:nvPr/>
        </p:nvSpPr>
        <p:spPr>
          <a:xfrm>
            <a:off x="0" y="725785"/>
            <a:ext cx="9167751" cy="1315425"/>
          </a:xfrm>
          <a:prstGeom prst="rect">
            <a:avLst/>
          </a:prstGeom>
          <a:noFill/>
        </p:spPr>
        <p:txBody>
          <a:bodyPr wrap="square">
            <a:spAutoFit/>
          </a:bodyPr>
          <a:lstStyle/>
          <a:p>
            <a:pPr>
              <a:lnSpc>
                <a:spcPct val="150000"/>
              </a:lnSpc>
              <a:buNone/>
            </a:pPr>
            <a:r>
              <a:rPr lang="en-US" sz="2800" dirty="0">
                <a:latin typeface="+mj-lt"/>
              </a:rPr>
              <a:t>Compare pivot() vs </a:t>
            </a:r>
            <a:r>
              <a:rPr lang="en-US" sz="2800" dirty="0" err="1">
                <a:latin typeface="+mj-lt"/>
              </a:rPr>
              <a:t>pivot_table</a:t>
            </a:r>
            <a:r>
              <a:rPr lang="en-US" sz="2800" dirty="0">
                <a:latin typeface="+mj-lt"/>
              </a:rPr>
              <a:t>()</a:t>
            </a:r>
          </a:p>
          <a:p>
            <a:pPr>
              <a:lnSpc>
                <a:spcPct val="150000"/>
              </a:lnSpc>
              <a:buNone/>
            </a:pPr>
            <a:r>
              <a:rPr lang="en-US" sz="2800" dirty="0">
                <a:latin typeface="+mj-lt"/>
              </a:rPr>
              <a:t>See how </a:t>
            </a:r>
            <a:r>
              <a:rPr lang="en-US" sz="2800" dirty="0" err="1">
                <a:latin typeface="+mj-lt"/>
              </a:rPr>
              <a:t>pivot_table</a:t>
            </a:r>
            <a:r>
              <a:rPr lang="en-US" sz="2800" dirty="0">
                <a:latin typeface="+mj-lt"/>
              </a:rPr>
              <a:t>() can also summarize data.</a:t>
            </a:r>
            <a:endParaRPr lang="en-US" sz="2500" dirty="0">
              <a:latin typeface="+mj-lt"/>
            </a:endParaRPr>
          </a:p>
        </p:txBody>
      </p:sp>
      <p:pic>
        <p:nvPicPr>
          <p:cNvPr id="6" name="Timer">
            <a:hlinkClick r:id="" action="ppaction://media"/>
            <a:extLst>
              <a:ext uri="{FF2B5EF4-FFF2-40B4-BE49-F238E27FC236}">
                <a16:creationId xmlns:a16="http://schemas.microsoft.com/office/drawing/2014/main" id="{8BCF7F01-C0EA-72AF-1B96-9C1FC2A4A2B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53" t="44904" r="40733" b="40353"/>
          <a:stretch>
            <a:fillRect/>
          </a:stretch>
        </p:blipFill>
        <p:spPr>
          <a:xfrm>
            <a:off x="5203448" y="346644"/>
            <a:ext cx="1683834" cy="758283"/>
          </a:xfrm>
          <a:prstGeom prst="rect">
            <a:avLst/>
          </a:prstGeom>
          <a:ln w="38100">
            <a:solidFill>
              <a:srgbClr val="FF0000"/>
            </a:solidFill>
          </a:ln>
        </p:spPr>
      </p:pic>
      <p:pic>
        <p:nvPicPr>
          <p:cNvPr id="7" name="Picture 6">
            <a:extLst>
              <a:ext uri="{FF2B5EF4-FFF2-40B4-BE49-F238E27FC236}">
                <a16:creationId xmlns:a16="http://schemas.microsoft.com/office/drawing/2014/main" id="{00453A21-876E-589E-96BC-83551215C17E}"/>
              </a:ext>
            </a:extLst>
          </p:cNvPr>
          <p:cNvPicPr>
            <a:picLocks noChangeAspect="1"/>
          </p:cNvPicPr>
          <p:nvPr/>
        </p:nvPicPr>
        <p:blipFill>
          <a:blip r:embed="rId5"/>
          <a:srcRect l="10040" t="38978" r="30000" b="17968"/>
          <a:stretch>
            <a:fillRect/>
          </a:stretch>
        </p:blipFill>
        <p:spPr>
          <a:xfrm>
            <a:off x="23751" y="2252528"/>
            <a:ext cx="9144000" cy="3657600"/>
          </a:xfrm>
          <a:prstGeom prst="rect">
            <a:avLst/>
          </a:prstGeom>
          <a:ln>
            <a:solidFill>
              <a:srgbClr val="FF0000"/>
            </a:solidFill>
          </a:ln>
        </p:spPr>
      </p:pic>
    </p:spTree>
    <p:extLst>
      <p:ext uri="{BB962C8B-B14F-4D97-AF65-F5344CB8AC3E}">
        <p14:creationId xmlns:p14="http://schemas.microsoft.com/office/powerpoint/2010/main" val="2031999107"/>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7E4D0-A615-3015-7283-8CE67BEABB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D64B8D-C135-73AE-DA20-40C40AAA7AA1}"/>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7CB1E533-1030-FD1B-5510-054C193BD5D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08F260B2-CC0E-6C8D-A66F-6D2D12547333}"/>
              </a:ext>
            </a:extLst>
          </p:cNvPr>
          <p:cNvPicPr>
            <a:picLocks noChangeAspect="1"/>
          </p:cNvPicPr>
          <p:nvPr/>
        </p:nvPicPr>
        <p:blipFill>
          <a:blip r:embed="rId2"/>
          <a:srcRect l="10040" t="38978" r="30000" b="17968"/>
          <a:stretch>
            <a:fillRect/>
          </a:stretch>
        </p:blipFill>
        <p:spPr>
          <a:xfrm>
            <a:off x="0" y="1066800"/>
            <a:ext cx="9144000" cy="3657600"/>
          </a:xfrm>
          <a:prstGeom prst="rect">
            <a:avLst/>
          </a:prstGeom>
          <a:ln>
            <a:solidFill>
              <a:srgbClr val="FF0000"/>
            </a:solidFill>
          </a:ln>
        </p:spPr>
      </p:pic>
      <p:sp>
        <p:nvSpPr>
          <p:cNvPr id="10" name="Rectangle 1">
            <a:extLst>
              <a:ext uri="{FF2B5EF4-FFF2-40B4-BE49-F238E27FC236}">
                <a16:creationId xmlns:a16="http://schemas.microsoft.com/office/drawing/2014/main" id="{B6DBA0F2-DD7D-FBDA-9DD1-B511625C2DF6}"/>
              </a:ext>
            </a:extLst>
          </p:cNvPr>
          <p:cNvSpPr>
            <a:spLocks noChangeArrowheads="1"/>
          </p:cNvSpPr>
          <p:nvPr/>
        </p:nvSpPr>
        <p:spPr bwMode="auto">
          <a:xfrm>
            <a:off x="22124" y="4762830"/>
            <a:ext cx="9143999" cy="1951496"/>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pPr>
            <a:r>
              <a:rPr lang="en-US" sz="2800" b="1" dirty="0">
                <a:latin typeface="+mj-lt"/>
              </a:rPr>
              <a:t>Step 1: Create a simple sales table: </a:t>
            </a:r>
            <a:r>
              <a:rPr lang="en-US" sz="2800" dirty="0">
                <a:latin typeface="+mj-lt"/>
              </a:rPr>
              <a:t>This makes a small </a:t>
            </a:r>
            <a:r>
              <a:rPr lang="en-US" sz="2800" dirty="0" err="1">
                <a:latin typeface="+mj-lt"/>
              </a:rPr>
              <a:t>DataFrame</a:t>
            </a:r>
            <a:r>
              <a:rPr lang="en-US" sz="2800" dirty="0">
                <a:latin typeface="+mj-lt"/>
              </a:rPr>
              <a:t> showing sales by region and year: It lists each region’s sales for two years.</a:t>
            </a:r>
          </a:p>
        </p:txBody>
      </p:sp>
      <p:sp>
        <p:nvSpPr>
          <p:cNvPr id="11" name="Rectangle: Rounded Corners 10">
            <a:extLst>
              <a:ext uri="{FF2B5EF4-FFF2-40B4-BE49-F238E27FC236}">
                <a16:creationId xmlns:a16="http://schemas.microsoft.com/office/drawing/2014/main" id="{824080C5-F5F1-D6DA-2D4E-833BCE2087EC}"/>
              </a:ext>
            </a:extLst>
          </p:cNvPr>
          <p:cNvSpPr/>
          <p:nvPr/>
        </p:nvSpPr>
        <p:spPr>
          <a:xfrm>
            <a:off x="0" y="1066800"/>
            <a:ext cx="5486400" cy="16002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23762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3360B-E531-EE83-5E3A-EC8D15665A3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BCF8BE-BE1E-6848-4B92-4DD5B13BAC73}"/>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C576E0D7-38A9-2D34-879E-D463E09074A9}"/>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5A682FC3-A127-E232-7599-537979F97C5F}"/>
              </a:ext>
            </a:extLst>
          </p:cNvPr>
          <p:cNvPicPr>
            <a:picLocks noChangeAspect="1"/>
          </p:cNvPicPr>
          <p:nvPr/>
        </p:nvPicPr>
        <p:blipFill>
          <a:blip r:embed="rId2"/>
          <a:srcRect l="10040" t="38978" r="30000" b="17968"/>
          <a:stretch>
            <a:fillRect/>
          </a:stretch>
        </p:blipFill>
        <p:spPr>
          <a:xfrm>
            <a:off x="22124" y="534132"/>
            <a:ext cx="9144000" cy="3657600"/>
          </a:xfrm>
          <a:prstGeom prst="rect">
            <a:avLst/>
          </a:prstGeom>
          <a:ln>
            <a:solidFill>
              <a:srgbClr val="FF0000"/>
            </a:solidFill>
          </a:ln>
        </p:spPr>
      </p:pic>
      <p:sp>
        <p:nvSpPr>
          <p:cNvPr id="10" name="Rectangle 1">
            <a:extLst>
              <a:ext uri="{FF2B5EF4-FFF2-40B4-BE49-F238E27FC236}">
                <a16:creationId xmlns:a16="http://schemas.microsoft.com/office/drawing/2014/main" id="{1CB71FE8-1756-B323-E959-39A1A2F08FB5}"/>
              </a:ext>
            </a:extLst>
          </p:cNvPr>
          <p:cNvSpPr>
            <a:spLocks noChangeArrowheads="1"/>
          </p:cNvSpPr>
          <p:nvPr/>
        </p:nvSpPr>
        <p:spPr bwMode="auto">
          <a:xfrm>
            <a:off x="-7373" y="3962016"/>
            <a:ext cx="9144000" cy="2918107"/>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pPr>
            <a:r>
              <a:rPr lang="en-US" sz="2500" b="1" dirty="0">
                <a:latin typeface="+mj-lt"/>
              </a:rPr>
              <a:t>Step 2: Use pivot() — reshapes data: </a:t>
            </a:r>
          </a:p>
          <a:p>
            <a:pPr>
              <a:lnSpc>
                <a:spcPct val="150000"/>
              </a:lnSpc>
            </a:pPr>
            <a:r>
              <a:rPr lang="en-US" sz="2500" dirty="0">
                <a:latin typeface="+mj-lt"/>
              </a:rPr>
              <a:t>The pivot() function reshapes the table so:</a:t>
            </a:r>
          </a:p>
          <a:p>
            <a:pPr marL="633413" lvl="1" indent="-342900">
              <a:lnSpc>
                <a:spcPct val="150000"/>
              </a:lnSpc>
              <a:buFont typeface="Arial" panose="020B0604020202020204" pitchFamily="34" charset="0"/>
              <a:buChar char="•"/>
            </a:pPr>
            <a:r>
              <a:rPr lang="en-US" sz="2500" dirty="0">
                <a:latin typeface="+mj-lt"/>
              </a:rPr>
              <a:t>Each row represents a region (Region → index)</a:t>
            </a:r>
          </a:p>
          <a:p>
            <a:pPr marL="633413" lvl="1" indent="-342900">
              <a:lnSpc>
                <a:spcPct val="150000"/>
              </a:lnSpc>
              <a:buFont typeface="Arial" panose="020B0604020202020204" pitchFamily="34" charset="0"/>
              <a:buChar char="•"/>
            </a:pPr>
            <a:r>
              <a:rPr lang="en-US" sz="2500" dirty="0">
                <a:latin typeface="+mj-lt"/>
              </a:rPr>
              <a:t>Each column represents a year (Year → columns)</a:t>
            </a:r>
          </a:p>
          <a:p>
            <a:pPr marL="633413" lvl="1" indent="-342900">
              <a:lnSpc>
                <a:spcPct val="150000"/>
              </a:lnSpc>
              <a:buFont typeface="Arial" panose="020B0604020202020204" pitchFamily="34" charset="0"/>
              <a:buChar char="•"/>
            </a:pPr>
            <a:r>
              <a:rPr lang="en-US" sz="2500" dirty="0">
                <a:latin typeface="+mj-lt"/>
              </a:rPr>
              <a:t>The cell values show the sales (Sales → values)</a:t>
            </a:r>
          </a:p>
        </p:txBody>
      </p:sp>
      <p:sp>
        <p:nvSpPr>
          <p:cNvPr id="11" name="Rectangle: Rounded Corners 10">
            <a:extLst>
              <a:ext uri="{FF2B5EF4-FFF2-40B4-BE49-F238E27FC236}">
                <a16:creationId xmlns:a16="http://schemas.microsoft.com/office/drawing/2014/main" id="{22582A25-ADA9-192D-9458-F9694FCFB2A2}"/>
              </a:ext>
            </a:extLst>
          </p:cNvPr>
          <p:cNvSpPr/>
          <p:nvPr/>
        </p:nvSpPr>
        <p:spPr>
          <a:xfrm>
            <a:off x="22124" y="2116028"/>
            <a:ext cx="8305800" cy="11049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8CFA52F-5FDC-33C2-8FF3-27D9382318E5}"/>
              </a:ext>
            </a:extLst>
          </p:cNvPr>
          <p:cNvPicPr>
            <a:picLocks noChangeAspect="1"/>
          </p:cNvPicPr>
          <p:nvPr/>
        </p:nvPicPr>
        <p:blipFill>
          <a:blip r:embed="rId3"/>
          <a:srcRect l="12738" t="54444" r="73255" b="31358"/>
          <a:stretch>
            <a:fillRect/>
          </a:stretch>
        </p:blipFill>
        <p:spPr>
          <a:xfrm>
            <a:off x="6629400" y="3962400"/>
            <a:ext cx="2492476" cy="1421130"/>
          </a:xfrm>
          <a:prstGeom prst="rect">
            <a:avLst/>
          </a:prstGeom>
          <a:ln>
            <a:solidFill>
              <a:srgbClr val="FF0000"/>
            </a:solidFill>
          </a:ln>
        </p:spPr>
      </p:pic>
    </p:spTree>
    <p:extLst>
      <p:ext uri="{BB962C8B-B14F-4D97-AF65-F5344CB8AC3E}">
        <p14:creationId xmlns:p14="http://schemas.microsoft.com/office/powerpoint/2010/main" val="19596393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2DEA9-6003-853B-8FCA-CC60ADEBA2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256A16E-565A-10EA-4A0D-ACD1C30DA282}"/>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5D750933-84B8-67FD-69EB-EFBCE02975C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1D0FBE03-A74C-232B-3933-A4120C2772BE}"/>
              </a:ext>
            </a:extLst>
          </p:cNvPr>
          <p:cNvPicPr>
            <a:picLocks noChangeAspect="1"/>
          </p:cNvPicPr>
          <p:nvPr/>
        </p:nvPicPr>
        <p:blipFill>
          <a:blip r:embed="rId2"/>
          <a:srcRect l="10040" t="38978" r="30000" b="17968"/>
          <a:stretch>
            <a:fillRect/>
          </a:stretch>
        </p:blipFill>
        <p:spPr>
          <a:xfrm>
            <a:off x="22124" y="534132"/>
            <a:ext cx="9144000" cy="3657600"/>
          </a:xfrm>
          <a:prstGeom prst="rect">
            <a:avLst/>
          </a:prstGeom>
          <a:ln>
            <a:solidFill>
              <a:srgbClr val="FF0000"/>
            </a:solidFill>
          </a:ln>
        </p:spPr>
      </p:pic>
      <p:sp>
        <p:nvSpPr>
          <p:cNvPr id="10" name="Rectangle 1">
            <a:extLst>
              <a:ext uri="{FF2B5EF4-FFF2-40B4-BE49-F238E27FC236}">
                <a16:creationId xmlns:a16="http://schemas.microsoft.com/office/drawing/2014/main" id="{F43A9FA7-E837-7A79-3D4F-3730F79A34D1}"/>
              </a:ext>
            </a:extLst>
          </p:cNvPr>
          <p:cNvSpPr>
            <a:spLocks noChangeArrowheads="1"/>
          </p:cNvSpPr>
          <p:nvPr/>
        </p:nvSpPr>
        <p:spPr bwMode="auto">
          <a:xfrm>
            <a:off x="19663" y="4311813"/>
            <a:ext cx="5265173" cy="131542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pPr>
            <a:r>
              <a:rPr lang="en-US" sz="2800" dirty="0">
                <a:latin typeface="+mj-lt"/>
              </a:rPr>
              <a:t>pivot() only changes the shape — it doesn’t do any calculations.</a:t>
            </a:r>
            <a:endParaRPr lang="en-US" sz="2500" dirty="0">
              <a:latin typeface="+mj-lt"/>
            </a:endParaRPr>
          </a:p>
        </p:txBody>
      </p:sp>
      <p:sp>
        <p:nvSpPr>
          <p:cNvPr id="11" name="Rectangle: Rounded Corners 10">
            <a:extLst>
              <a:ext uri="{FF2B5EF4-FFF2-40B4-BE49-F238E27FC236}">
                <a16:creationId xmlns:a16="http://schemas.microsoft.com/office/drawing/2014/main" id="{7EF6A4AD-BCA7-6C8F-5EA9-93507634E682}"/>
              </a:ext>
            </a:extLst>
          </p:cNvPr>
          <p:cNvSpPr/>
          <p:nvPr/>
        </p:nvSpPr>
        <p:spPr>
          <a:xfrm>
            <a:off x="22124" y="2116028"/>
            <a:ext cx="8305800" cy="11049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5C8A6F6-942D-C58F-FA1E-7DD0C44AB3BD}"/>
              </a:ext>
            </a:extLst>
          </p:cNvPr>
          <p:cNvPicPr>
            <a:picLocks noChangeAspect="1"/>
          </p:cNvPicPr>
          <p:nvPr/>
        </p:nvPicPr>
        <p:blipFill>
          <a:blip r:embed="rId3"/>
          <a:srcRect l="12738" t="54444" r="73255" b="31358"/>
          <a:stretch>
            <a:fillRect/>
          </a:stretch>
        </p:blipFill>
        <p:spPr>
          <a:xfrm>
            <a:off x="6631861" y="4191732"/>
            <a:ext cx="2492476" cy="1421130"/>
          </a:xfrm>
          <a:prstGeom prst="rect">
            <a:avLst/>
          </a:prstGeom>
          <a:ln>
            <a:solidFill>
              <a:srgbClr val="FF0000"/>
            </a:solidFill>
          </a:ln>
        </p:spPr>
      </p:pic>
    </p:spTree>
    <p:extLst>
      <p:ext uri="{BB962C8B-B14F-4D97-AF65-F5344CB8AC3E}">
        <p14:creationId xmlns:p14="http://schemas.microsoft.com/office/powerpoint/2010/main" val="15977682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32871-2009-15F1-BDEC-9B224233509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59C34E-C538-4F38-CD06-1F12DD07861F}"/>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C7B0CBED-CA1B-AEF9-86F3-A65D1BEFEB5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7" name="Picture 6">
            <a:extLst>
              <a:ext uri="{FF2B5EF4-FFF2-40B4-BE49-F238E27FC236}">
                <a16:creationId xmlns:a16="http://schemas.microsoft.com/office/drawing/2014/main" id="{BBF7D88A-E813-9DE2-FA2F-D464F08DD6DD}"/>
              </a:ext>
            </a:extLst>
          </p:cNvPr>
          <p:cNvPicPr>
            <a:picLocks noChangeAspect="1"/>
          </p:cNvPicPr>
          <p:nvPr/>
        </p:nvPicPr>
        <p:blipFill>
          <a:blip r:embed="rId2"/>
          <a:srcRect l="10040" t="38978" r="30000" b="17968"/>
          <a:stretch>
            <a:fillRect/>
          </a:stretch>
        </p:blipFill>
        <p:spPr>
          <a:xfrm>
            <a:off x="22124" y="534132"/>
            <a:ext cx="8131276" cy="3252510"/>
          </a:xfrm>
          <a:prstGeom prst="rect">
            <a:avLst/>
          </a:prstGeom>
          <a:ln>
            <a:solidFill>
              <a:srgbClr val="FF0000"/>
            </a:solidFill>
          </a:ln>
        </p:spPr>
      </p:pic>
      <p:sp>
        <p:nvSpPr>
          <p:cNvPr id="10" name="Rectangle 1">
            <a:extLst>
              <a:ext uri="{FF2B5EF4-FFF2-40B4-BE49-F238E27FC236}">
                <a16:creationId xmlns:a16="http://schemas.microsoft.com/office/drawing/2014/main" id="{1550CD03-8EAD-AED2-5216-09A904392F00}"/>
              </a:ext>
            </a:extLst>
          </p:cNvPr>
          <p:cNvSpPr>
            <a:spLocks noChangeArrowheads="1"/>
          </p:cNvSpPr>
          <p:nvPr/>
        </p:nvSpPr>
        <p:spPr bwMode="auto">
          <a:xfrm>
            <a:off x="5746" y="3789100"/>
            <a:ext cx="9119422" cy="671851"/>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gn="l" rtl="0" eaLnBrk="0" fontAlgn="base" hangingPunct="0">
              <a:lnSpc>
                <a:spcPct val="150000"/>
              </a:lnSpc>
              <a:spcBef>
                <a:spcPct val="0"/>
              </a:spcBef>
              <a:spcAft>
                <a:spcPct val="0"/>
              </a:spcAft>
            </a:pPr>
            <a:r>
              <a:rPr lang="en-US" sz="2800" dirty="0">
                <a:latin typeface="+mj-lt"/>
              </a:rPr>
              <a:t>Step 3: Use </a:t>
            </a:r>
            <a:r>
              <a:rPr lang="en-US" sz="2800" dirty="0" err="1">
                <a:latin typeface="+mj-lt"/>
              </a:rPr>
              <a:t>pivot_table</a:t>
            </a:r>
            <a:r>
              <a:rPr lang="en-US" sz="2800" dirty="0">
                <a:latin typeface="+mj-lt"/>
              </a:rPr>
              <a:t>() — reshapes + calculates</a:t>
            </a:r>
            <a:endParaRPr lang="en-US" sz="2500" dirty="0">
              <a:latin typeface="+mj-lt"/>
            </a:endParaRPr>
          </a:p>
        </p:txBody>
      </p:sp>
      <p:sp>
        <p:nvSpPr>
          <p:cNvPr id="11" name="Rectangle: Rounded Corners 10">
            <a:extLst>
              <a:ext uri="{FF2B5EF4-FFF2-40B4-BE49-F238E27FC236}">
                <a16:creationId xmlns:a16="http://schemas.microsoft.com/office/drawing/2014/main" id="{1B926ADB-EA93-69F0-7342-C285FDE50AE9}"/>
              </a:ext>
            </a:extLst>
          </p:cNvPr>
          <p:cNvSpPr/>
          <p:nvPr/>
        </p:nvSpPr>
        <p:spPr>
          <a:xfrm>
            <a:off x="22124" y="2895600"/>
            <a:ext cx="8131276" cy="89104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3CD45AC-86B2-7142-8CB6-C337EB05D049}"/>
              </a:ext>
            </a:extLst>
          </p:cNvPr>
          <p:cNvSpPr txBox="1"/>
          <p:nvPr/>
        </p:nvSpPr>
        <p:spPr>
          <a:xfrm>
            <a:off x="-26204" y="4460951"/>
            <a:ext cx="9151372" cy="2126864"/>
          </a:xfrm>
          <a:prstGeom prst="rect">
            <a:avLst/>
          </a:prstGeom>
          <a:noFill/>
        </p:spPr>
        <p:txBody>
          <a:bodyPr wrap="square">
            <a:spAutoFit/>
          </a:bodyPr>
          <a:lstStyle/>
          <a:p>
            <a:pPr>
              <a:lnSpc>
                <a:spcPct val="150000"/>
              </a:lnSpc>
              <a:buNone/>
            </a:pPr>
            <a:r>
              <a:rPr lang="en-US" dirty="0">
                <a:latin typeface="+mj-lt"/>
              </a:rPr>
              <a:t>The </a:t>
            </a:r>
            <a:r>
              <a:rPr lang="en-US" dirty="0" err="1">
                <a:latin typeface="+mj-lt"/>
              </a:rPr>
              <a:t>pivot_table</a:t>
            </a:r>
            <a:r>
              <a:rPr lang="en-US" dirty="0">
                <a:latin typeface="+mj-lt"/>
              </a:rPr>
              <a:t>() function can reshape </a:t>
            </a:r>
            <a:r>
              <a:rPr lang="en-US" i="1" dirty="0">
                <a:latin typeface="+mj-lt"/>
              </a:rPr>
              <a:t>and also perform calculations</a:t>
            </a:r>
            <a:r>
              <a:rPr lang="en-US" dirty="0">
                <a:latin typeface="+mj-lt"/>
              </a:rPr>
              <a:t> (like sum, mean, etc.)</a:t>
            </a:r>
          </a:p>
          <a:p>
            <a:pPr>
              <a:lnSpc>
                <a:spcPct val="150000"/>
              </a:lnSpc>
              <a:buNone/>
            </a:pPr>
            <a:r>
              <a:rPr lang="en-US" dirty="0">
                <a:latin typeface="+mj-lt"/>
              </a:rPr>
              <a:t>Here:</a:t>
            </a:r>
          </a:p>
          <a:p>
            <a:pPr marL="530225" lvl="1" indent="-285750">
              <a:lnSpc>
                <a:spcPct val="150000"/>
              </a:lnSpc>
              <a:buFont typeface="Arial" panose="020B0604020202020204" pitchFamily="34" charset="0"/>
              <a:buChar char="•"/>
            </a:pPr>
            <a:r>
              <a:rPr lang="en-US" dirty="0">
                <a:latin typeface="+mj-lt"/>
              </a:rPr>
              <a:t>index='Region' → group by region</a:t>
            </a:r>
          </a:p>
          <a:p>
            <a:pPr marL="530225" lvl="1" indent="-285750">
              <a:lnSpc>
                <a:spcPct val="150000"/>
              </a:lnSpc>
              <a:buFont typeface="Arial" panose="020B0604020202020204" pitchFamily="34" charset="0"/>
              <a:buChar char="•"/>
            </a:pPr>
            <a:r>
              <a:rPr lang="en-US" dirty="0">
                <a:latin typeface="+mj-lt"/>
              </a:rPr>
              <a:t>values='Sales' → use the Sales column</a:t>
            </a:r>
          </a:p>
          <a:p>
            <a:pPr marL="530225" lvl="1" indent="-285750">
              <a:lnSpc>
                <a:spcPct val="150000"/>
              </a:lnSpc>
              <a:buFont typeface="Arial" panose="020B0604020202020204" pitchFamily="34" charset="0"/>
              <a:buChar char="•"/>
            </a:pPr>
            <a:r>
              <a:rPr lang="en-US" dirty="0" err="1">
                <a:latin typeface="+mj-lt"/>
              </a:rPr>
              <a:t>aggfunc</a:t>
            </a:r>
            <a:r>
              <a:rPr lang="en-US" dirty="0">
                <a:latin typeface="+mj-lt"/>
              </a:rPr>
              <a:t>='sum' → sum up sales for each region</a:t>
            </a:r>
          </a:p>
        </p:txBody>
      </p:sp>
      <p:graphicFrame>
        <p:nvGraphicFramePr>
          <p:cNvPr id="8" name="Table 7">
            <a:extLst>
              <a:ext uri="{FF2B5EF4-FFF2-40B4-BE49-F238E27FC236}">
                <a16:creationId xmlns:a16="http://schemas.microsoft.com/office/drawing/2014/main" id="{1D318679-ADF6-3DD2-ED3C-7B3323AA4BA7}"/>
              </a:ext>
            </a:extLst>
          </p:cNvPr>
          <p:cNvGraphicFramePr>
            <a:graphicFrameLocks noGrp="1"/>
          </p:cNvGraphicFramePr>
          <p:nvPr>
            <p:extLst>
              <p:ext uri="{D42A27DB-BD31-4B8C-83A1-F6EECF244321}">
                <p14:modId xmlns:p14="http://schemas.microsoft.com/office/powerpoint/2010/main" val="972004225"/>
              </p:ext>
            </p:extLst>
          </p:nvPr>
        </p:nvGraphicFramePr>
        <p:xfrm>
          <a:off x="6639232" y="5269107"/>
          <a:ext cx="2504768" cy="1554480"/>
        </p:xfrm>
        <a:graphic>
          <a:graphicData uri="http://schemas.openxmlformats.org/drawingml/2006/table">
            <a:tbl>
              <a:tblPr>
                <a:tableStyleId>{ED083AE6-46FA-4A59-8FB0-9F97EB10719F}</a:tableStyleId>
              </a:tblPr>
              <a:tblGrid>
                <a:gridCol w="1285568">
                  <a:extLst>
                    <a:ext uri="{9D8B030D-6E8A-4147-A177-3AD203B41FA5}">
                      <a16:colId xmlns:a16="http://schemas.microsoft.com/office/drawing/2014/main" val="949901825"/>
                    </a:ext>
                  </a:extLst>
                </a:gridCol>
                <a:gridCol w="1219200">
                  <a:extLst>
                    <a:ext uri="{9D8B030D-6E8A-4147-A177-3AD203B41FA5}">
                      <a16:colId xmlns:a16="http://schemas.microsoft.com/office/drawing/2014/main" val="1208443112"/>
                    </a:ext>
                  </a:extLst>
                </a:gridCol>
              </a:tblGrid>
              <a:tr h="0">
                <a:tc>
                  <a:txBody>
                    <a:bodyPr/>
                    <a:lstStyle/>
                    <a:p>
                      <a:pPr>
                        <a:buNone/>
                      </a:pPr>
                      <a:r>
                        <a:rPr lang="en-US" sz="2800"/>
                        <a:t>Region</a:t>
                      </a:r>
                    </a:p>
                  </a:txBody>
                  <a:tcPr anchor="ctr"/>
                </a:tc>
                <a:tc>
                  <a:txBody>
                    <a:bodyPr/>
                    <a:lstStyle/>
                    <a:p>
                      <a:pPr>
                        <a:buNone/>
                      </a:pPr>
                      <a:r>
                        <a:rPr lang="en-US" sz="2800" dirty="0"/>
                        <a:t>Sales</a:t>
                      </a:r>
                    </a:p>
                  </a:txBody>
                  <a:tcPr anchor="ctr"/>
                </a:tc>
                <a:extLst>
                  <a:ext uri="{0D108BD9-81ED-4DB2-BD59-A6C34878D82A}">
                    <a16:rowId xmlns:a16="http://schemas.microsoft.com/office/drawing/2014/main" val="2931566406"/>
                  </a:ext>
                </a:extLst>
              </a:tr>
              <a:tr h="0">
                <a:tc>
                  <a:txBody>
                    <a:bodyPr/>
                    <a:lstStyle/>
                    <a:p>
                      <a:pPr>
                        <a:buNone/>
                      </a:pPr>
                      <a:r>
                        <a:rPr lang="en-US" sz="2800"/>
                        <a:t>NSW</a:t>
                      </a:r>
                    </a:p>
                  </a:txBody>
                  <a:tcPr anchor="ctr"/>
                </a:tc>
                <a:tc>
                  <a:txBody>
                    <a:bodyPr/>
                    <a:lstStyle/>
                    <a:p>
                      <a:pPr>
                        <a:buNone/>
                      </a:pPr>
                      <a:r>
                        <a:rPr lang="en-US" sz="2800"/>
                        <a:t>420</a:t>
                      </a:r>
                    </a:p>
                  </a:txBody>
                  <a:tcPr anchor="ctr"/>
                </a:tc>
                <a:extLst>
                  <a:ext uri="{0D108BD9-81ED-4DB2-BD59-A6C34878D82A}">
                    <a16:rowId xmlns:a16="http://schemas.microsoft.com/office/drawing/2014/main" val="4234634108"/>
                  </a:ext>
                </a:extLst>
              </a:tr>
              <a:tr h="0">
                <a:tc>
                  <a:txBody>
                    <a:bodyPr/>
                    <a:lstStyle/>
                    <a:p>
                      <a:pPr>
                        <a:buNone/>
                      </a:pPr>
                      <a:r>
                        <a:rPr lang="en-US" sz="2800"/>
                        <a:t>VIC</a:t>
                      </a:r>
                    </a:p>
                  </a:txBody>
                  <a:tcPr anchor="ctr"/>
                </a:tc>
                <a:tc>
                  <a:txBody>
                    <a:bodyPr/>
                    <a:lstStyle/>
                    <a:p>
                      <a:pPr>
                        <a:buNone/>
                      </a:pPr>
                      <a:r>
                        <a:rPr lang="en-US" sz="2800" dirty="0"/>
                        <a:t>330</a:t>
                      </a:r>
                    </a:p>
                  </a:txBody>
                  <a:tcPr anchor="ctr"/>
                </a:tc>
                <a:extLst>
                  <a:ext uri="{0D108BD9-81ED-4DB2-BD59-A6C34878D82A}">
                    <a16:rowId xmlns:a16="http://schemas.microsoft.com/office/drawing/2014/main" val="1995665973"/>
                  </a:ext>
                </a:extLst>
              </a:tr>
            </a:tbl>
          </a:graphicData>
        </a:graphic>
      </p:graphicFrame>
      <p:sp>
        <p:nvSpPr>
          <p:cNvPr id="9" name="Rectangle 1">
            <a:extLst>
              <a:ext uri="{FF2B5EF4-FFF2-40B4-BE49-F238E27FC236}">
                <a16:creationId xmlns:a16="http://schemas.microsoft.com/office/drawing/2014/main" id="{5780FB84-4EDB-27B8-AF69-6BC8ACFEE3D7}"/>
              </a:ext>
            </a:extLst>
          </p:cNvPr>
          <p:cNvSpPr>
            <a:spLocks noChangeArrowheads="1"/>
          </p:cNvSpPr>
          <p:nvPr/>
        </p:nvSpPr>
        <p:spPr bwMode="auto">
          <a:xfrm>
            <a:off x="5105400" y="5262773"/>
            <a:ext cx="1326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Output:</a:t>
            </a:r>
          </a:p>
        </p:txBody>
      </p:sp>
      <p:sp>
        <p:nvSpPr>
          <p:cNvPr id="13" name="TextBox 12">
            <a:extLst>
              <a:ext uri="{FF2B5EF4-FFF2-40B4-BE49-F238E27FC236}">
                <a16:creationId xmlns:a16="http://schemas.microsoft.com/office/drawing/2014/main" id="{FE04EEDA-64F3-1357-FCB3-1E7AD692B154}"/>
              </a:ext>
            </a:extLst>
          </p:cNvPr>
          <p:cNvSpPr txBox="1"/>
          <p:nvPr/>
        </p:nvSpPr>
        <p:spPr>
          <a:xfrm>
            <a:off x="4490884" y="1060362"/>
            <a:ext cx="4653116" cy="954107"/>
          </a:xfrm>
          <a:prstGeom prst="rect">
            <a:avLst/>
          </a:prstGeom>
          <a:noFill/>
        </p:spPr>
        <p:txBody>
          <a:bodyPr wrap="square">
            <a:spAutoFit/>
          </a:bodyPr>
          <a:lstStyle/>
          <a:p>
            <a:r>
              <a:rPr lang="en-US" sz="2800" dirty="0">
                <a:latin typeface="+mj-lt"/>
              </a:rPr>
              <a:t>It adds together sales across years for each region.</a:t>
            </a:r>
          </a:p>
        </p:txBody>
      </p:sp>
    </p:spTree>
    <p:extLst>
      <p:ext uri="{BB962C8B-B14F-4D97-AF65-F5344CB8AC3E}">
        <p14:creationId xmlns:p14="http://schemas.microsoft.com/office/powerpoint/2010/main" val="153982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3C414-AD64-B65A-73AE-45A2AC4B53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453ADD-5F8D-D0BA-7F89-64A8037994BD}"/>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C7D6BF39-9111-E7B5-F6D9-0A9929EA619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graphicFrame>
        <p:nvGraphicFramePr>
          <p:cNvPr id="3" name="Table 2">
            <a:extLst>
              <a:ext uri="{FF2B5EF4-FFF2-40B4-BE49-F238E27FC236}">
                <a16:creationId xmlns:a16="http://schemas.microsoft.com/office/drawing/2014/main" id="{59526699-B193-B583-2ED5-1BD8509F8EB1}"/>
              </a:ext>
            </a:extLst>
          </p:cNvPr>
          <p:cNvGraphicFramePr>
            <a:graphicFrameLocks noGrp="1"/>
          </p:cNvGraphicFramePr>
          <p:nvPr>
            <p:extLst>
              <p:ext uri="{D42A27DB-BD31-4B8C-83A1-F6EECF244321}">
                <p14:modId xmlns:p14="http://schemas.microsoft.com/office/powerpoint/2010/main" val="1564852312"/>
              </p:ext>
            </p:extLst>
          </p:nvPr>
        </p:nvGraphicFramePr>
        <p:xfrm>
          <a:off x="0" y="1447800"/>
          <a:ext cx="9144000" cy="4219637"/>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2522804628"/>
                    </a:ext>
                  </a:extLst>
                </a:gridCol>
                <a:gridCol w="3048000">
                  <a:extLst>
                    <a:ext uri="{9D8B030D-6E8A-4147-A177-3AD203B41FA5}">
                      <a16:colId xmlns:a16="http://schemas.microsoft.com/office/drawing/2014/main" val="4084776293"/>
                    </a:ext>
                  </a:extLst>
                </a:gridCol>
                <a:gridCol w="3048000">
                  <a:extLst>
                    <a:ext uri="{9D8B030D-6E8A-4147-A177-3AD203B41FA5}">
                      <a16:colId xmlns:a16="http://schemas.microsoft.com/office/drawing/2014/main" val="1440717701"/>
                    </a:ext>
                  </a:extLst>
                </a:gridCol>
              </a:tblGrid>
              <a:tr h="1051909">
                <a:tc>
                  <a:txBody>
                    <a:bodyPr/>
                    <a:lstStyle/>
                    <a:p>
                      <a:pPr>
                        <a:buNone/>
                      </a:pPr>
                      <a:r>
                        <a:rPr lang="en-US" sz="2800" b="0" dirty="0"/>
                        <a:t>Function</a:t>
                      </a:r>
                      <a:endParaRPr lang="en-US" sz="2800" b="0" dirty="0">
                        <a:latin typeface="+mj-lt"/>
                      </a:endParaRPr>
                    </a:p>
                  </a:txBody>
                  <a:tcPr marL="90343" marR="90343" marT="45172" marB="45172" anchor="ctr">
                    <a:solidFill>
                      <a:schemeClr val="accent4">
                        <a:lumMod val="20000"/>
                        <a:lumOff val="80000"/>
                      </a:schemeClr>
                    </a:solidFill>
                  </a:tcPr>
                </a:tc>
                <a:tc>
                  <a:txBody>
                    <a:bodyPr/>
                    <a:lstStyle/>
                    <a:p>
                      <a:pPr>
                        <a:buNone/>
                      </a:pPr>
                      <a:r>
                        <a:rPr lang="en-US" sz="2800" b="0" dirty="0"/>
                        <a:t>What it does</a:t>
                      </a:r>
                      <a:endParaRPr lang="en-US" sz="2800" b="0" dirty="0">
                        <a:latin typeface="+mj-lt"/>
                      </a:endParaRPr>
                    </a:p>
                  </a:txBody>
                  <a:tcPr marL="90343" marR="90343" marT="45172" marB="45172" anchor="ctr">
                    <a:solidFill>
                      <a:schemeClr val="accent4">
                        <a:lumMod val="20000"/>
                        <a:lumOff val="80000"/>
                      </a:schemeClr>
                    </a:solidFill>
                  </a:tcPr>
                </a:tc>
                <a:tc>
                  <a:txBody>
                    <a:bodyPr/>
                    <a:lstStyle/>
                    <a:p>
                      <a:pPr>
                        <a:buNone/>
                      </a:pPr>
                      <a:r>
                        <a:rPr lang="en-US" sz="2800" b="0" dirty="0"/>
                        <a:t>Example result</a:t>
                      </a:r>
                      <a:endParaRPr lang="en-US" sz="2800" b="0" dirty="0">
                        <a:latin typeface="+mj-lt"/>
                      </a:endParaRPr>
                    </a:p>
                  </a:txBody>
                  <a:tcPr marL="90343" marR="90343" marT="45172" marB="45172" anchor="ctr">
                    <a:solidFill>
                      <a:schemeClr val="accent4">
                        <a:lumMod val="20000"/>
                        <a:lumOff val="80000"/>
                      </a:schemeClr>
                    </a:solidFill>
                  </a:tcPr>
                </a:tc>
                <a:extLst>
                  <a:ext uri="{0D108BD9-81ED-4DB2-BD59-A6C34878D82A}">
                    <a16:rowId xmlns:a16="http://schemas.microsoft.com/office/drawing/2014/main" val="1738735207"/>
                  </a:ext>
                </a:extLst>
              </a:tr>
              <a:tr h="0">
                <a:tc>
                  <a:txBody>
                    <a:bodyPr/>
                    <a:lstStyle/>
                    <a:p>
                      <a:pPr>
                        <a:buNone/>
                      </a:pPr>
                      <a:r>
                        <a:rPr lang="en-US" sz="2800" b="0"/>
                        <a:t>pivot()</a:t>
                      </a:r>
                      <a:endParaRPr lang="en-US" sz="2800" b="0">
                        <a:latin typeface="+mj-lt"/>
                      </a:endParaRPr>
                    </a:p>
                  </a:txBody>
                  <a:tcPr marL="90343" marR="90343" marT="45172" marB="45172" anchor="ctr"/>
                </a:tc>
                <a:tc>
                  <a:txBody>
                    <a:bodyPr/>
                    <a:lstStyle/>
                    <a:p>
                      <a:pPr>
                        <a:buNone/>
                      </a:pPr>
                      <a:r>
                        <a:rPr lang="en-US" sz="2800" b="0"/>
                        <a:t>Just reshapes data</a:t>
                      </a:r>
                      <a:endParaRPr lang="en-US" sz="2800" b="0">
                        <a:latin typeface="+mj-lt"/>
                      </a:endParaRPr>
                    </a:p>
                  </a:txBody>
                  <a:tcPr marL="90343" marR="90343" marT="45172" marB="45172" anchor="ctr"/>
                </a:tc>
                <a:tc>
                  <a:txBody>
                    <a:bodyPr/>
                    <a:lstStyle/>
                    <a:p>
                      <a:pPr>
                        <a:buNone/>
                      </a:pPr>
                      <a:r>
                        <a:rPr lang="en-US" sz="2800" b="0"/>
                        <a:t>Year columns (2022, 2023) shown separately</a:t>
                      </a:r>
                      <a:endParaRPr lang="en-US" sz="2800" b="0">
                        <a:latin typeface="+mj-lt"/>
                      </a:endParaRPr>
                    </a:p>
                  </a:txBody>
                  <a:tcPr marL="90343" marR="90343" marT="45172" marB="45172" anchor="ctr"/>
                </a:tc>
                <a:extLst>
                  <a:ext uri="{0D108BD9-81ED-4DB2-BD59-A6C34878D82A}">
                    <a16:rowId xmlns:a16="http://schemas.microsoft.com/office/drawing/2014/main" val="344292086"/>
                  </a:ext>
                </a:extLst>
              </a:tr>
              <a:tr h="0">
                <a:tc>
                  <a:txBody>
                    <a:bodyPr/>
                    <a:lstStyle/>
                    <a:p>
                      <a:pPr>
                        <a:buNone/>
                      </a:pPr>
                      <a:r>
                        <a:rPr lang="en-US" sz="2800" b="0"/>
                        <a:t>pivot_table()</a:t>
                      </a:r>
                      <a:endParaRPr lang="en-US" sz="2800" b="0">
                        <a:latin typeface="+mj-lt"/>
                      </a:endParaRPr>
                    </a:p>
                  </a:txBody>
                  <a:tcPr marL="90343" marR="90343" marT="45172" marB="45172" anchor="ctr"/>
                </a:tc>
                <a:tc>
                  <a:txBody>
                    <a:bodyPr/>
                    <a:lstStyle/>
                    <a:p>
                      <a:pPr>
                        <a:buNone/>
                      </a:pPr>
                      <a:r>
                        <a:rPr lang="en-US" sz="2800" b="0"/>
                        <a:t>Reshapes and performs a calculation (like sum or average)</a:t>
                      </a:r>
                      <a:endParaRPr lang="en-US" sz="2800" b="0">
                        <a:latin typeface="+mj-lt"/>
                      </a:endParaRPr>
                    </a:p>
                  </a:txBody>
                  <a:tcPr marL="90343" marR="90343" marT="45172" marB="45172" anchor="ctr"/>
                </a:tc>
                <a:tc>
                  <a:txBody>
                    <a:bodyPr/>
                    <a:lstStyle/>
                    <a:p>
                      <a:pPr>
                        <a:buNone/>
                      </a:pPr>
                      <a:r>
                        <a:rPr lang="en-US" sz="2800" b="0" dirty="0"/>
                        <a:t>Totals or averages by group</a:t>
                      </a:r>
                      <a:endParaRPr lang="en-US" sz="2800" b="0" dirty="0">
                        <a:latin typeface="+mj-lt"/>
                      </a:endParaRPr>
                    </a:p>
                  </a:txBody>
                  <a:tcPr marL="90343" marR="90343" marT="45172" marB="45172" anchor="ctr"/>
                </a:tc>
                <a:extLst>
                  <a:ext uri="{0D108BD9-81ED-4DB2-BD59-A6C34878D82A}">
                    <a16:rowId xmlns:a16="http://schemas.microsoft.com/office/drawing/2014/main" val="61808640"/>
                  </a:ext>
                </a:extLst>
              </a:tr>
            </a:tbl>
          </a:graphicData>
        </a:graphic>
      </p:graphicFrame>
      <p:sp>
        <p:nvSpPr>
          <p:cNvPr id="4" name="Rectangle 1">
            <a:extLst>
              <a:ext uri="{FF2B5EF4-FFF2-40B4-BE49-F238E27FC236}">
                <a16:creationId xmlns:a16="http://schemas.microsoft.com/office/drawing/2014/main" id="{495D5EF3-5746-40DA-7AAA-7B674C399D76}"/>
              </a:ext>
            </a:extLst>
          </p:cNvPr>
          <p:cNvSpPr>
            <a:spLocks noChangeArrowheads="1"/>
          </p:cNvSpPr>
          <p:nvPr/>
        </p:nvSpPr>
        <p:spPr bwMode="auto">
          <a:xfrm>
            <a:off x="-23751" y="815900"/>
            <a:ext cx="30668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Simple Comparison</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6125955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7733D-82FF-0109-F76D-9031566E893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72FF0A5-4C54-B4D7-3314-B417D5C3BE2E}"/>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Hands-On Activity 12</a:t>
            </a:r>
            <a:endParaRPr spc="-20" dirty="0">
              <a:latin typeface="+mj-lt"/>
            </a:endParaRPr>
          </a:p>
        </p:txBody>
      </p:sp>
      <p:sp>
        <p:nvSpPr>
          <p:cNvPr id="5" name="object 5">
            <a:extLst>
              <a:ext uri="{FF2B5EF4-FFF2-40B4-BE49-F238E27FC236}">
                <a16:creationId xmlns:a16="http://schemas.microsoft.com/office/drawing/2014/main" id="{6C7885CC-647B-7CAC-9F26-E5A877A25AB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Rectangle 1">
            <a:extLst>
              <a:ext uri="{FF2B5EF4-FFF2-40B4-BE49-F238E27FC236}">
                <a16:creationId xmlns:a16="http://schemas.microsoft.com/office/drawing/2014/main" id="{0BEAD725-DD75-6CF0-71EF-B6D6CEFE5DA0}"/>
              </a:ext>
            </a:extLst>
          </p:cNvPr>
          <p:cNvSpPr>
            <a:spLocks noChangeArrowheads="1"/>
          </p:cNvSpPr>
          <p:nvPr/>
        </p:nvSpPr>
        <p:spPr bwMode="auto">
          <a:xfrm>
            <a:off x="-23751" y="1847165"/>
            <a:ext cx="9167751"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22313" indent="-457200">
              <a:lnSpc>
                <a:spcPct val="150000"/>
              </a:lnSpc>
              <a:buFont typeface="Arial" panose="020B0604020202020204" pitchFamily="34" charset="0"/>
              <a:buChar char="•"/>
            </a:pPr>
            <a:r>
              <a:rPr lang="en-US" sz="2800" dirty="0">
                <a:latin typeface="+mj-lt"/>
              </a:rPr>
              <a:t>pivot() → “Rearrange the table for easier viewing.”</a:t>
            </a:r>
          </a:p>
          <a:p>
            <a:pPr marL="722313" indent="-457200">
              <a:lnSpc>
                <a:spcPct val="150000"/>
              </a:lnSpc>
              <a:buFont typeface="Arial" panose="020B0604020202020204" pitchFamily="34" charset="0"/>
              <a:buChar char="•"/>
            </a:pPr>
            <a:r>
              <a:rPr lang="en-US" sz="2800" dirty="0" err="1">
                <a:latin typeface="+mj-lt"/>
              </a:rPr>
              <a:t>pivot_table</a:t>
            </a:r>
            <a:r>
              <a:rPr lang="en-US" sz="2800" dirty="0">
                <a:latin typeface="+mj-lt"/>
              </a:rPr>
              <a:t>() → “Rearrange and calculate something at the same time.”</a:t>
            </a:r>
          </a:p>
        </p:txBody>
      </p:sp>
    </p:spTree>
    <p:extLst>
      <p:ext uri="{BB962C8B-B14F-4D97-AF65-F5344CB8AC3E}">
        <p14:creationId xmlns:p14="http://schemas.microsoft.com/office/powerpoint/2010/main" val="5022814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E223-5F04-8142-AF11-20E9D4D4F5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67BDF8-CC21-3853-A2A5-2DCBFEBB6080}"/>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Research &amp; Discussion Prompts</a:t>
            </a:r>
            <a:endParaRPr spc="-20" dirty="0">
              <a:latin typeface="+mj-lt"/>
            </a:endParaRPr>
          </a:p>
        </p:txBody>
      </p:sp>
      <p:sp>
        <p:nvSpPr>
          <p:cNvPr id="5" name="object 5">
            <a:extLst>
              <a:ext uri="{FF2B5EF4-FFF2-40B4-BE49-F238E27FC236}">
                <a16:creationId xmlns:a16="http://schemas.microsoft.com/office/drawing/2014/main" id="{B3039EB0-B3D9-92FE-3E7E-3BB6D6E6DB0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B0DD2D7E-5A96-2926-D8B7-899FD17E3D21}"/>
              </a:ext>
            </a:extLst>
          </p:cNvPr>
          <p:cNvSpPr>
            <a:spLocks noChangeArrowheads="1"/>
          </p:cNvSpPr>
          <p:nvPr/>
        </p:nvSpPr>
        <p:spPr bwMode="auto">
          <a:xfrm>
            <a:off x="0" y="1832599"/>
            <a:ext cx="9144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mj-lt"/>
              </a:rPr>
              <a:t>Q1: Why might an inner join drop important rows?</a:t>
            </a:r>
          </a:p>
          <a:p>
            <a:pPr>
              <a:lnSpc>
                <a:spcPct val="150000"/>
              </a:lnSpc>
            </a:pPr>
            <a:r>
              <a:rPr lang="en-US" sz="2800" dirty="0">
                <a:latin typeface="+mj-lt"/>
              </a:rPr>
              <a:t>Because it only keeps matching records — any non-matching rows are lost.</a:t>
            </a:r>
          </a:p>
          <a:p>
            <a:pPr>
              <a:lnSpc>
                <a:spcPct val="150000"/>
              </a:lnSpc>
            </a:pPr>
            <a:r>
              <a:rPr lang="en-US" sz="2800" b="1" dirty="0">
                <a:latin typeface="+mj-lt"/>
              </a:rPr>
              <a:t>Q2: Should we always use an outer join to keep everything?</a:t>
            </a:r>
          </a:p>
          <a:p>
            <a:pPr>
              <a:lnSpc>
                <a:spcPct val="150000"/>
              </a:lnSpc>
            </a:pPr>
            <a:r>
              <a:rPr lang="en-US" sz="2800" dirty="0">
                <a:latin typeface="+mj-lt"/>
              </a:rPr>
              <a:t>Not always — it keeps all rows but adds </a:t>
            </a:r>
            <a:r>
              <a:rPr lang="en-US" sz="2800" dirty="0" err="1">
                <a:latin typeface="+mj-lt"/>
              </a:rPr>
              <a:t>NaN</a:t>
            </a:r>
            <a:r>
              <a:rPr lang="en-US" sz="2800" dirty="0">
                <a:latin typeface="+mj-lt"/>
              </a:rPr>
              <a:t> (missing values) you’ll need to clean later.</a:t>
            </a:r>
          </a:p>
        </p:txBody>
      </p:sp>
    </p:spTree>
    <p:extLst>
      <p:ext uri="{BB962C8B-B14F-4D97-AF65-F5344CB8AC3E}">
        <p14:creationId xmlns:p14="http://schemas.microsoft.com/office/powerpoint/2010/main" val="230085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1000"/>
                                        <p:tgtEl>
                                          <p:spTgt spid="10">
                                            <p:txEl>
                                              <p:pRg st="3" end="3"/>
                                            </p:txEl>
                                          </p:spTgt>
                                        </p:tgtEl>
                                      </p:cBhvr>
                                    </p:animEffect>
                                    <p:anim calcmode="lin" valueType="num">
                                      <p:cBhvr>
                                        <p:cTn id="1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6DA59-ECED-93EA-F4D1-771E9C7E9E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90AF64-343A-31A7-2D39-791116E2C968}"/>
              </a:ext>
            </a:extLst>
          </p:cNvPr>
          <p:cNvSpPr txBox="1">
            <a:spLocks noGrp="1"/>
          </p:cNvSpPr>
          <p:nvPr>
            <p:ph type="title"/>
          </p:nvPr>
        </p:nvSpPr>
        <p:spPr>
          <a:xfrm>
            <a:off x="-23751" y="-220434"/>
            <a:ext cx="6920865" cy="754566"/>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Research &amp; Discussion Prompts</a:t>
            </a:r>
            <a:endParaRPr spc="-20" dirty="0">
              <a:latin typeface="+mj-lt"/>
            </a:endParaRPr>
          </a:p>
        </p:txBody>
      </p:sp>
      <p:sp>
        <p:nvSpPr>
          <p:cNvPr id="5" name="object 5">
            <a:extLst>
              <a:ext uri="{FF2B5EF4-FFF2-40B4-BE49-F238E27FC236}">
                <a16:creationId xmlns:a16="http://schemas.microsoft.com/office/drawing/2014/main" id="{354A4540-3656-5872-C483-9A781CDF732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52E761B9-511A-7914-F541-FDA6430DA025}"/>
              </a:ext>
            </a:extLst>
          </p:cNvPr>
          <p:cNvSpPr>
            <a:spLocks noChangeArrowheads="1"/>
          </p:cNvSpPr>
          <p:nvPr/>
        </p:nvSpPr>
        <p:spPr bwMode="auto">
          <a:xfrm>
            <a:off x="0" y="1832599"/>
            <a:ext cx="9144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mj-lt"/>
              </a:rPr>
              <a:t>Q3: Which reshaping method works best for survey data with repeated columns?</a:t>
            </a:r>
          </a:p>
          <a:p>
            <a:pPr>
              <a:lnSpc>
                <a:spcPct val="150000"/>
              </a:lnSpc>
            </a:pPr>
            <a:r>
              <a:rPr lang="en-US" sz="2800" b="1" dirty="0">
                <a:latin typeface="+mj-lt"/>
              </a:rPr>
              <a:t>Melt</a:t>
            </a:r>
            <a:r>
              <a:rPr lang="en-US" sz="2800" dirty="0">
                <a:latin typeface="+mj-lt"/>
              </a:rPr>
              <a:t> — it turns many similar columns into one long, tidy list that’s easy to analyze.</a:t>
            </a:r>
          </a:p>
          <a:p>
            <a:pPr>
              <a:lnSpc>
                <a:spcPct val="150000"/>
              </a:lnSpc>
            </a:pPr>
            <a:r>
              <a:rPr lang="en-US" sz="2800" b="1" dirty="0">
                <a:latin typeface="+mj-lt"/>
              </a:rPr>
              <a:t>Key Idea:</a:t>
            </a:r>
            <a:r>
              <a:rPr lang="en-US" sz="2800" dirty="0">
                <a:latin typeface="+mj-lt"/>
              </a:rPr>
              <a:t> Choose the right join or reshape for your data goal — no one method fits all!</a:t>
            </a:r>
          </a:p>
        </p:txBody>
      </p:sp>
    </p:spTree>
    <p:extLst>
      <p:ext uri="{BB962C8B-B14F-4D97-AF65-F5344CB8AC3E}">
        <p14:creationId xmlns:p14="http://schemas.microsoft.com/office/powerpoint/2010/main" val="226835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A52A-37F5-1F96-5FF1-FB3E678097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B8CCD3-CED5-822A-5F6D-1D8D6D64D9D1}"/>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Role-Play &amp; Problem-Solving (Hands-On Thinking)</a:t>
            </a:r>
            <a:endParaRPr spc="-20" dirty="0">
              <a:latin typeface="+mj-lt"/>
            </a:endParaRPr>
          </a:p>
        </p:txBody>
      </p:sp>
      <p:sp>
        <p:nvSpPr>
          <p:cNvPr id="5" name="object 5">
            <a:extLst>
              <a:ext uri="{FF2B5EF4-FFF2-40B4-BE49-F238E27FC236}">
                <a16:creationId xmlns:a16="http://schemas.microsoft.com/office/drawing/2014/main" id="{CC9EF12F-C611-06C4-C47A-F288192BD2A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09529E38-7597-C970-FFFB-F586E06F4784}"/>
              </a:ext>
            </a:extLst>
          </p:cNvPr>
          <p:cNvSpPr>
            <a:spLocks noChangeArrowheads="1"/>
          </p:cNvSpPr>
          <p:nvPr/>
        </p:nvSpPr>
        <p:spPr bwMode="auto">
          <a:xfrm>
            <a:off x="0" y="1369909"/>
            <a:ext cx="9144000" cy="4828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600" b="1" dirty="0">
                <a:latin typeface="+mj-lt"/>
              </a:rPr>
              <a:t>Scenario 1 – University Data:</a:t>
            </a:r>
            <a:br>
              <a:rPr lang="en-US" sz="2600" dirty="0">
                <a:latin typeface="+mj-lt"/>
              </a:rPr>
            </a:br>
            <a:r>
              <a:rPr lang="en-US" sz="2600" dirty="0">
                <a:latin typeface="+mj-lt"/>
              </a:rPr>
              <a:t>You’re an analyst at an Australian university.</a:t>
            </a:r>
          </a:p>
          <a:p>
            <a:pPr marL="809625" lvl="1" indent="-457200">
              <a:lnSpc>
                <a:spcPct val="150000"/>
              </a:lnSpc>
              <a:buFont typeface="Arial" panose="020B0604020202020204" pitchFamily="34" charset="0"/>
              <a:buChar char="•"/>
            </a:pPr>
            <a:r>
              <a:rPr lang="en-US" sz="2600" dirty="0">
                <a:latin typeface="+mj-lt"/>
              </a:rPr>
              <a:t>Student info → one file</a:t>
            </a:r>
          </a:p>
          <a:p>
            <a:pPr marL="809625" lvl="1" indent="-457200">
              <a:lnSpc>
                <a:spcPct val="150000"/>
              </a:lnSpc>
              <a:buFont typeface="Arial" panose="020B0604020202020204" pitchFamily="34" charset="0"/>
              <a:buChar char="•"/>
            </a:pPr>
            <a:r>
              <a:rPr lang="en-US" sz="2600" dirty="0">
                <a:latin typeface="+mj-lt"/>
              </a:rPr>
              <a:t>Marks → another</a:t>
            </a:r>
          </a:p>
          <a:p>
            <a:pPr marL="809625" lvl="1" indent="-457200">
              <a:lnSpc>
                <a:spcPct val="150000"/>
              </a:lnSpc>
              <a:buFont typeface="Arial" panose="020B0604020202020204" pitchFamily="34" charset="0"/>
              <a:buChar char="•"/>
            </a:pPr>
            <a:r>
              <a:rPr lang="en-US" sz="2600" dirty="0">
                <a:latin typeface="+mj-lt"/>
              </a:rPr>
              <a:t>Attendance → third</a:t>
            </a:r>
          </a:p>
          <a:p>
            <a:pPr>
              <a:lnSpc>
                <a:spcPct val="150000"/>
              </a:lnSpc>
            </a:pPr>
            <a:r>
              <a:rPr lang="en-US" sz="2600" dirty="0">
                <a:latin typeface="+mj-lt"/>
              </a:rPr>
              <a:t>Debate in pairs: Would you use a left join (keep all students) or an inner join (only those with marks + attendance)?</a:t>
            </a:r>
            <a:br>
              <a:rPr lang="en-US" sz="2600" dirty="0">
                <a:latin typeface="+mj-lt"/>
              </a:rPr>
            </a:br>
            <a:r>
              <a:rPr lang="en-US" sz="2600" dirty="0">
                <a:latin typeface="+mj-lt"/>
              </a:rPr>
              <a:t>Discuss: </a:t>
            </a:r>
            <a:r>
              <a:rPr lang="en-US" sz="2600" i="1" dirty="0">
                <a:latin typeface="+mj-lt"/>
              </a:rPr>
              <a:t>Which join gives the best report for student success?</a:t>
            </a:r>
            <a:endParaRPr lang="en-US" sz="2600" dirty="0">
              <a:latin typeface="+mj-lt"/>
            </a:endParaRPr>
          </a:p>
        </p:txBody>
      </p:sp>
    </p:spTree>
    <p:extLst>
      <p:ext uri="{BB962C8B-B14F-4D97-AF65-F5344CB8AC3E}">
        <p14:creationId xmlns:p14="http://schemas.microsoft.com/office/powerpoint/2010/main" val="26254258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2C9D-EE9D-6992-078B-918C86BB40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516EF8-E854-D5EA-E931-E6BB4C0BFE77}"/>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Role-Play &amp; Problem-Solving (Hands-On Thinking)</a:t>
            </a:r>
            <a:endParaRPr spc="-20" dirty="0">
              <a:latin typeface="+mj-lt"/>
            </a:endParaRPr>
          </a:p>
        </p:txBody>
      </p:sp>
      <p:sp>
        <p:nvSpPr>
          <p:cNvPr id="5" name="object 5">
            <a:extLst>
              <a:ext uri="{FF2B5EF4-FFF2-40B4-BE49-F238E27FC236}">
                <a16:creationId xmlns:a16="http://schemas.microsoft.com/office/drawing/2014/main" id="{27EF7539-4B5F-A3F8-01DE-C405C706BC1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0" name="Rectangle 1">
            <a:extLst>
              <a:ext uri="{FF2B5EF4-FFF2-40B4-BE49-F238E27FC236}">
                <a16:creationId xmlns:a16="http://schemas.microsoft.com/office/drawing/2014/main" id="{0150A66B-DAB7-3CD0-FDD9-73DBB9BCB913}"/>
              </a:ext>
            </a:extLst>
          </p:cNvPr>
          <p:cNvSpPr>
            <a:spLocks noChangeArrowheads="1"/>
          </p:cNvSpPr>
          <p:nvPr/>
        </p:nvSpPr>
        <p:spPr bwMode="auto">
          <a:xfrm>
            <a:off x="0" y="1186269"/>
            <a:ext cx="9144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mj-lt"/>
              </a:rPr>
              <a:t>Scenario 2 – ABS Census Data:</a:t>
            </a:r>
            <a:br>
              <a:rPr lang="en-US" sz="2800" dirty="0">
                <a:latin typeface="+mj-lt"/>
              </a:rPr>
            </a:br>
            <a:r>
              <a:rPr lang="en-US" sz="2800" dirty="0">
                <a:latin typeface="+mj-lt"/>
              </a:rPr>
              <a:t>The Australian Bureau of Statistics (ABS) provides data with one column per year.</a:t>
            </a:r>
            <a:br>
              <a:rPr lang="en-US" sz="2800" dirty="0">
                <a:latin typeface="+mj-lt"/>
              </a:rPr>
            </a:br>
            <a:r>
              <a:rPr lang="en-US" sz="2800" dirty="0">
                <a:latin typeface="+mj-lt"/>
              </a:rPr>
              <a:t>How would you make it easier to plot or summarize?</a:t>
            </a:r>
          </a:p>
          <a:p>
            <a:pPr>
              <a:lnSpc>
                <a:spcPct val="150000"/>
              </a:lnSpc>
            </a:pPr>
            <a:r>
              <a:rPr lang="en-US" sz="2800" dirty="0">
                <a:latin typeface="+mj-lt"/>
              </a:rPr>
              <a:t>Answer: Use melt() → converts wide yearly columns into long, tidy format (City + Year + Value).</a:t>
            </a:r>
          </a:p>
          <a:p>
            <a:pPr>
              <a:lnSpc>
                <a:spcPct val="150000"/>
              </a:lnSpc>
            </a:pPr>
            <a:r>
              <a:rPr lang="en-US" sz="2800" dirty="0">
                <a:latin typeface="+mj-lt"/>
              </a:rPr>
              <a:t>Outcome: Learn how to choose the right join or reshape for real-life Australian datasets.</a:t>
            </a:r>
          </a:p>
        </p:txBody>
      </p:sp>
    </p:spTree>
    <p:extLst>
      <p:ext uri="{BB962C8B-B14F-4D97-AF65-F5344CB8AC3E}">
        <p14:creationId xmlns:p14="http://schemas.microsoft.com/office/powerpoint/2010/main" val="326456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anim calcmode="lin" valueType="num">
                                      <p:cBhvr additive="base">
                                        <p:cTn id="1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531C1-6032-8A96-5253-2DCDE944D2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8695CA-1098-54F1-BF86-8477EABCA2D9}"/>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8DBD7AC0-B1F9-826F-0485-8FDDCF828D6F}"/>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FCD9D3CA-6F0E-CD36-87FF-AE94B1F52803}"/>
              </a:ext>
            </a:extLst>
          </p:cNvPr>
          <p:cNvSpPr txBox="1"/>
          <p:nvPr/>
        </p:nvSpPr>
        <p:spPr>
          <a:xfrm>
            <a:off x="0" y="1905000"/>
            <a:ext cx="9044356" cy="3257174"/>
          </a:xfrm>
          <a:prstGeom prst="rect">
            <a:avLst/>
          </a:prstGeom>
          <a:noFill/>
        </p:spPr>
        <p:txBody>
          <a:bodyPr wrap="square">
            <a:spAutoFit/>
          </a:bodyPr>
          <a:lstStyle/>
          <a:p>
            <a:pPr>
              <a:lnSpc>
                <a:spcPct val="150000"/>
              </a:lnSpc>
              <a:buNone/>
            </a:pPr>
            <a:r>
              <a:rPr lang="en-US" sz="2800" b="1" dirty="0">
                <a:latin typeface="+mj-lt"/>
              </a:rPr>
              <a:t>Practical Scenario</a:t>
            </a:r>
          </a:p>
          <a:p>
            <a:pPr>
              <a:lnSpc>
                <a:spcPct val="150000"/>
              </a:lnSpc>
              <a:buNone/>
            </a:pPr>
            <a:r>
              <a:rPr lang="en-US" sz="2800" dirty="0">
                <a:latin typeface="+mj-lt"/>
              </a:rPr>
              <a:t>Students act as junior data analysts for a university. They must combine student demographic data, subject results, and attendance-style information to prepare a clean report for academic support planning.</a:t>
            </a:r>
          </a:p>
        </p:txBody>
      </p:sp>
      <p:sp>
        <p:nvSpPr>
          <p:cNvPr id="6" name="TextBox 5">
            <a:extLst>
              <a:ext uri="{FF2B5EF4-FFF2-40B4-BE49-F238E27FC236}">
                <a16:creationId xmlns:a16="http://schemas.microsoft.com/office/drawing/2014/main" id="{C9BE4C92-2116-DAEB-2453-A643F09FFC4C}"/>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Tree>
    <p:extLst>
      <p:ext uri="{BB962C8B-B14F-4D97-AF65-F5344CB8AC3E}">
        <p14:creationId xmlns:p14="http://schemas.microsoft.com/office/powerpoint/2010/main" val="42917250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D2FA-D727-1A7E-3477-5872244757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6F692E-7EF4-6FC3-CC40-B44A0A754157}"/>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BF24B413-7B30-8D41-D5A6-F1444C44AFF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9E40D7CB-0E72-1AD2-7543-824418C685B1}"/>
              </a:ext>
            </a:extLst>
          </p:cNvPr>
          <p:cNvSpPr txBox="1"/>
          <p:nvPr/>
        </p:nvSpPr>
        <p:spPr>
          <a:xfrm>
            <a:off x="0" y="1905000"/>
            <a:ext cx="9044356" cy="3257174"/>
          </a:xfrm>
          <a:prstGeom prst="rect">
            <a:avLst/>
          </a:prstGeom>
          <a:noFill/>
        </p:spPr>
        <p:txBody>
          <a:bodyPr wrap="square">
            <a:spAutoFit/>
          </a:bodyPr>
          <a:lstStyle/>
          <a:p>
            <a:pPr>
              <a:lnSpc>
                <a:spcPct val="150000"/>
              </a:lnSpc>
              <a:buNone/>
            </a:pPr>
            <a:r>
              <a:rPr lang="en-US" sz="2800" dirty="0">
                <a:latin typeface="+mj-lt"/>
              </a:rPr>
              <a:t>Use the UCI Student Performance Dataset, which includes student demographic, social, school-related, and grade data for Mathematics and Portuguese subjects. The repository provides two subject datasets, making it suitable for merge and reshape practice.</a:t>
            </a:r>
          </a:p>
        </p:txBody>
      </p:sp>
      <p:sp>
        <p:nvSpPr>
          <p:cNvPr id="3" name="TextBox 2">
            <a:extLst>
              <a:ext uri="{FF2B5EF4-FFF2-40B4-BE49-F238E27FC236}">
                <a16:creationId xmlns:a16="http://schemas.microsoft.com/office/drawing/2014/main" id="{8E5002D6-4FF5-EFFA-732C-29E63D700383}"/>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Tree>
    <p:extLst>
      <p:ext uri="{BB962C8B-B14F-4D97-AF65-F5344CB8AC3E}">
        <p14:creationId xmlns:p14="http://schemas.microsoft.com/office/powerpoint/2010/main" val="19023866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EBC5-7058-EC4C-9BCE-B8803D50E3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A48D14-60FA-C93B-C020-35AC0557FEFF}"/>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1CA89FBC-6488-4477-0274-913E96710DD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29AB9314-62DF-19E2-79B9-E66266F5EF13}"/>
              </a:ext>
            </a:extLst>
          </p:cNvPr>
          <p:cNvSpPr txBox="1"/>
          <p:nvPr/>
        </p:nvSpPr>
        <p:spPr>
          <a:xfrm>
            <a:off x="-23751" y="1360428"/>
            <a:ext cx="9044356" cy="5196166"/>
          </a:xfrm>
          <a:prstGeom prst="rect">
            <a:avLst/>
          </a:prstGeom>
          <a:noFill/>
        </p:spPr>
        <p:txBody>
          <a:bodyPr wrap="square">
            <a:spAutoFit/>
          </a:bodyPr>
          <a:lstStyle/>
          <a:p>
            <a:pPr>
              <a:lnSpc>
                <a:spcPct val="150000"/>
              </a:lnSpc>
            </a:pPr>
            <a:r>
              <a:rPr lang="en-US" sz="2800" b="1" dirty="0">
                <a:latin typeface="+mj-lt"/>
              </a:rPr>
              <a:t>Learning Objectives</a:t>
            </a:r>
          </a:p>
          <a:p>
            <a:pPr>
              <a:lnSpc>
                <a:spcPct val="150000"/>
              </a:lnSpc>
            </a:pPr>
            <a:r>
              <a:rPr lang="en-US" sz="2800" dirty="0">
                <a:latin typeface="+mj-lt"/>
              </a:rPr>
              <a:t>By the end, students can:</a:t>
            </a:r>
          </a:p>
          <a:p>
            <a:pPr marL="514350" indent="-514350">
              <a:lnSpc>
                <a:spcPct val="150000"/>
              </a:lnSpc>
              <a:buFont typeface="+mj-lt"/>
              <a:buAutoNum type="arabicPeriod"/>
            </a:pPr>
            <a:r>
              <a:rPr lang="en-US" sz="2800" dirty="0">
                <a:latin typeface="+mj-lt"/>
              </a:rPr>
              <a:t>Create and use hierarchical indexes. </a:t>
            </a:r>
          </a:p>
          <a:p>
            <a:pPr marL="514350" indent="-514350">
              <a:lnSpc>
                <a:spcPct val="150000"/>
              </a:lnSpc>
              <a:buFont typeface="+mj-lt"/>
              <a:buAutoNum type="arabicPeriod"/>
            </a:pPr>
            <a:r>
              <a:rPr lang="en-US" sz="2800" dirty="0">
                <a:latin typeface="+mj-lt"/>
              </a:rPr>
              <a:t>Merge datasets using inner, left, outer joins. </a:t>
            </a:r>
          </a:p>
          <a:p>
            <a:pPr marL="514350" indent="-514350">
              <a:lnSpc>
                <a:spcPct val="150000"/>
              </a:lnSpc>
              <a:buFont typeface="+mj-lt"/>
              <a:buAutoNum type="arabicPeriod"/>
            </a:pPr>
            <a:r>
              <a:rPr lang="en-US" sz="2800" dirty="0">
                <a:latin typeface="+mj-lt"/>
              </a:rPr>
              <a:t>Handle different key column names. </a:t>
            </a:r>
          </a:p>
          <a:p>
            <a:pPr marL="514350" indent="-514350">
              <a:lnSpc>
                <a:spcPct val="150000"/>
              </a:lnSpc>
              <a:buFont typeface="+mj-lt"/>
              <a:buAutoNum type="arabicPeriod"/>
            </a:pPr>
            <a:r>
              <a:rPr lang="en-US" sz="2800" dirty="0">
                <a:latin typeface="+mj-lt"/>
              </a:rPr>
              <a:t>Reshape data using pivot, </a:t>
            </a:r>
            <a:r>
              <a:rPr lang="en-US" sz="2800" dirty="0" err="1">
                <a:latin typeface="+mj-lt"/>
              </a:rPr>
              <a:t>pivot_table</a:t>
            </a:r>
            <a:r>
              <a:rPr lang="en-US" sz="2800" dirty="0">
                <a:latin typeface="+mj-lt"/>
              </a:rPr>
              <a:t>, melt, stack, and unstack. </a:t>
            </a:r>
          </a:p>
          <a:p>
            <a:pPr marL="514350" indent="-514350">
              <a:lnSpc>
                <a:spcPct val="150000"/>
              </a:lnSpc>
              <a:buFont typeface="+mj-lt"/>
              <a:buAutoNum type="arabicPeriod"/>
            </a:pPr>
            <a:r>
              <a:rPr lang="en-US" sz="2800" dirty="0">
                <a:latin typeface="+mj-lt"/>
              </a:rPr>
              <a:t>Prepare a tidy dataset for analysis or </a:t>
            </a:r>
            <a:r>
              <a:rPr lang="en-US" sz="2800" dirty="0" err="1">
                <a:latin typeface="+mj-lt"/>
              </a:rPr>
              <a:t>visualisation</a:t>
            </a:r>
            <a:r>
              <a:rPr lang="en-US" sz="2800" dirty="0">
                <a:latin typeface="+mj-lt"/>
              </a:rPr>
              <a:t>.</a:t>
            </a:r>
          </a:p>
        </p:txBody>
      </p:sp>
    </p:spTree>
    <p:extLst>
      <p:ext uri="{BB962C8B-B14F-4D97-AF65-F5344CB8AC3E}">
        <p14:creationId xmlns:p14="http://schemas.microsoft.com/office/powerpoint/2010/main" val="28317735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F5E44-0DED-9BA0-3775-F8AC534403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53F642-D6F4-7C98-5E7C-077C3E2B5592}"/>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487754E9-CA53-4C1F-DDFE-2055D930DC4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8463ADEA-965E-226F-70E5-97F0C2C63DE9}"/>
              </a:ext>
            </a:extLst>
          </p:cNvPr>
          <p:cNvSpPr txBox="1"/>
          <p:nvPr/>
        </p:nvSpPr>
        <p:spPr>
          <a:xfrm>
            <a:off x="-23751" y="1360428"/>
            <a:ext cx="9044356" cy="1318181"/>
          </a:xfrm>
          <a:prstGeom prst="rect">
            <a:avLst/>
          </a:prstGeom>
          <a:noFill/>
        </p:spPr>
        <p:txBody>
          <a:bodyPr wrap="square">
            <a:spAutoFit/>
          </a:bodyPr>
          <a:lstStyle/>
          <a:p>
            <a:pPr>
              <a:lnSpc>
                <a:spcPct val="150000"/>
              </a:lnSpc>
            </a:pPr>
            <a:r>
              <a:rPr lang="en-US" sz="2800" b="1" dirty="0">
                <a:latin typeface="+mj-lt"/>
              </a:rPr>
              <a:t>Mini-Project Tasks</a:t>
            </a:r>
          </a:p>
          <a:p>
            <a:pPr>
              <a:lnSpc>
                <a:spcPct val="150000"/>
              </a:lnSpc>
            </a:pPr>
            <a:r>
              <a:rPr lang="en-US" sz="2800" b="1" dirty="0">
                <a:latin typeface="+mj-lt"/>
              </a:rPr>
              <a:t>Task 1: Load the Dataset</a:t>
            </a:r>
          </a:p>
        </p:txBody>
      </p:sp>
      <p:sp>
        <p:nvSpPr>
          <p:cNvPr id="6" name="TextBox 5">
            <a:extLst>
              <a:ext uri="{FF2B5EF4-FFF2-40B4-BE49-F238E27FC236}">
                <a16:creationId xmlns:a16="http://schemas.microsoft.com/office/drawing/2014/main" id="{BDCE3A2C-2984-F1E1-994D-435F1F4138C0}"/>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12" name="TextBox 11">
            <a:extLst>
              <a:ext uri="{FF2B5EF4-FFF2-40B4-BE49-F238E27FC236}">
                <a16:creationId xmlns:a16="http://schemas.microsoft.com/office/drawing/2014/main" id="{D548D63C-2B6D-734D-E611-1251C839D149}"/>
              </a:ext>
            </a:extLst>
          </p:cNvPr>
          <p:cNvSpPr txBox="1"/>
          <p:nvPr/>
        </p:nvSpPr>
        <p:spPr>
          <a:xfrm>
            <a:off x="-29006" y="2837534"/>
            <a:ext cx="8986344" cy="3139321"/>
          </a:xfrm>
          <a:prstGeom prst="rect">
            <a:avLst/>
          </a:prstGeom>
          <a:noFill/>
        </p:spPr>
        <p:txBody>
          <a:bodyPr wrap="square">
            <a:spAutoFit/>
          </a:bodyPr>
          <a:lstStyle/>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endParaRPr lang="en-US" b="0" dirty="0">
              <a:solidFill>
                <a:srgbClr val="000000"/>
              </a:solidFill>
              <a:effectLst/>
              <a:latin typeface="Courier New" panose="02070309020205020404" pitchFamily="49" charset="0"/>
            </a:endParaRPr>
          </a:p>
          <a:p>
            <a:pPr>
              <a:buNone/>
            </a:pPr>
            <a:r>
              <a:rPr lang="en-US" b="0" dirty="0" err="1">
                <a:solidFill>
                  <a:srgbClr val="000000"/>
                </a:solidFill>
                <a:effectLst/>
                <a:latin typeface="Courier New" panose="02070309020205020404" pitchFamily="49" charset="0"/>
              </a:rPr>
              <a:t>base_url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"https://raw.githubusercontent.com/</a:t>
            </a:r>
            <a:r>
              <a:rPr lang="en-US" b="0" dirty="0" err="1">
                <a:solidFill>
                  <a:srgbClr val="A31515"/>
                </a:solidFill>
                <a:effectLst/>
                <a:latin typeface="Courier New" panose="02070309020205020404" pitchFamily="49" charset="0"/>
              </a:rPr>
              <a:t>FarshidKeivanian</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Sessions_Python</a:t>
            </a:r>
            <a:r>
              <a:rPr lang="en-US" b="0" dirty="0">
                <a:solidFill>
                  <a:srgbClr val="A31515"/>
                </a:solidFill>
                <a:effectLst/>
                <a:latin typeface="Courier New" panose="02070309020205020404" pitchFamily="49" charset="0"/>
              </a:rPr>
              <a:t>/main/"</a:t>
            </a:r>
            <a:endParaRPr lang="en-US" b="0" dirty="0">
              <a:solidFill>
                <a:srgbClr val="000000"/>
              </a:solidFill>
              <a:effectLst/>
              <a:latin typeface="Courier New" panose="02070309020205020404" pitchFamily="49" charset="0"/>
            </a:endParaRPr>
          </a:p>
          <a:p>
            <a:pPr>
              <a:buNone/>
            </a:pPr>
            <a:endParaRPr lang="en-US" b="0" dirty="0">
              <a:solidFill>
                <a:srgbClr val="000000"/>
              </a:solidFill>
              <a:effectLst/>
              <a:latin typeface="Courier New" panose="02070309020205020404" pitchFamily="49" charset="0"/>
            </a:endParaRPr>
          </a:p>
          <a:p>
            <a:pPr>
              <a:buNone/>
            </a:pPr>
            <a:r>
              <a:rPr lang="en-US" b="0" dirty="0">
                <a:solidFill>
                  <a:srgbClr val="000000"/>
                </a:solidFill>
                <a:effectLst/>
                <a:latin typeface="Courier New" panose="02070309020205020404" pitchFamily="49" charset="0"/>
              </a:rPr>
              <a:t>students = </a:t>
            </a:r>
            <a:r>
              <a:rPr lang="en-US" b="0" dirty="0" err="1">
                <a:solidFill>
                  <a:srgbClr val="000000"/>
                </a:solidFill>
                <a:effectLst/>
                <a:latin typeface="Courier New" panose="02070309020205020404" pitchFamily="49" charset="0"/>
              </a:rPr>
              <a:t>pd.read_csv</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base_url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"students.csv"</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grades = </a:t>
            </a:r>
            <a:r>
              <a:rPr lang="en-US" b="0" dirty="0" err="1">
                <a:solidFill>
                  <a:srgbClr val="000000"/>
                </a:solidFill>
                <a:effectLst/>
                <a:latin typeface="Courier New" panose="02070309020205020404" pitchFamily="49" charset="0"/>
              </a:rPr>
              <a:t>pd.read_csv</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base_url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"grades.csv"</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subjects = </a:t>
            </a:r>
            <a:r>
              <a:rPr lang="en-US" b="0" dirty="0" err="1">
                <a:solidFill>
                  <a:srgbClr val="000000"/>
                </a:solidFill>
                <a:effectLst/>
                <a:latin typeface="Courier New" panose="02070309020205020404" pitchFamily="49" charset="0"/>
              </a:rPr>
              <a:t>pd.read_csv</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base_url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"subjects.csv"</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attendance = </a:t>
            </a:r>
            <a:r>
              <a:rPr lang="en-US" b="0" dirty="0" err="1">
                <a:solidFill>
                  <a:srgbClr val="000000"/>
                </a:solidFill>
                <a:effectLst/>
                <a:latin typeface="Courier New" panose="02070309020205020404" pitchFamily="49" charset="0"/>
              </a:rPr>
              <a:t>pd.read_csv</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base_url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"attendance_wide.csv"</a:t>
            </a:r>
            <a:r>
              <a:rPr lang="en-US" b="0" dirty="0">
                <a:solidFill>
                  <a:srgbClr val="000000"/>
                </a:solidFill>
                <a:effectLst/>
                <a:latin typeface="Courier New" panose="02070309020205020404" pitchFamily="49" charset="0"/>
              </a:rPr>
              <a:t>)</a:t>
            </a:r>
          </a:p>
          <a:p>
            <a:pPr>
              <a:buNone/>
            </a:pPr>
            <a:r>
              <a:rPr lang="en-US" b="0" dirty="0" err="1">
                <a:solidFill>
                  <a:srgbClr val="000000"/>
                </a:solidFill>
                <a:effectLst/>
                <a:latin typeface="Courier New" panose="02070309020205020404" pitchFamily="49" charset="0"/>
              </a:rPr>
              <a:t>students.head</a:t>
            </a:r>
            <a:r>
              <a:rPr lang="en-US"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8438250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4A05-8018-8B30-353E-E09D75EEBD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7F9A9A-CA57-1DB2-C8E2-9398EF6F5D5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7158D6DD-5E43-1432-367B-7E6BF4D991A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FA393975-7009-07A6-DD89-149339A1B533}"/>
              </a:ext>
            </a:extLst>
          </p:cNvPr>
          <p:cNvSpPr txBox="1"/>
          <p:nvPr/>
        </p:nvSpPr>
        <p:spPr>
          <a:xfrm>
            <a:off x="-23751" y="1360428"/>
            <a:ext cx="9044356" cy="671851"/>
          </a:xfrm>
          <a:prstGeom prst="rect">
            <a:avLst/>
          </a:prstGeom>
          <a:noFill/>
        </p:spPr>
        <p:txBody>
          <a:bodyPr wrap="square">
            <a:spAutoFit/>
          </a:bodyPr>
          <a:lstStyle/>
          <a:p>
            <a:pPr>
              <a:lnSpc>
                <a:spcPct val="150000"/>
              </a:lnSpc>
            </a:pPr>
            <a:r>
              <a:rPr lang="en-US" sz="2800" b="1" dirty="0">
                <a:latin typeface="+mj-lt"/>
              </a:rPr>
              <a:t>Task 2: Inspect the Datasets</a:t>
            </a:r>
          </a:p>
        </p:txBody>
      </p:sp>
      <p:sp>
        <p:nvSpPr>
          <p:cNvPr id="6" name="TextBox 5">
            <a:extLst>
              <a:ext uri="{FF2B5EF4-FFF2-40B4-BE49-F238E27FC236}">
                <a16:creationId xmlns:a16="http://schemas.microsoft.com/office/drawing/2014/main" id="{6331166F-D415-F9DF-6F24-EEF90C801267}"/>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10" name="TextBox 9">
            <a:extLst>
              <a:ext uri="{FF2B5EF4-FFF2-40B4-BE49-F238E27FC236}">
                <a16:creationId xmlns:a16="http://schemas.microsoft.com/office/drawing/2014/main" id="{5006D1C7-109F-A3A7-B284-1531D8832B7C}"/>
              </a:ext>
            </a:extLst>
          </p:cNvPr>
          <p:cNvSpPr txBox="1"/>
          <p:nvPr/>
        </p:nvSpPr>
        <p:spPr>
          <a:xfrm>
            <a:off x="0" y="2286000"/>
            <a:ext cx="6818585" cy="2677656"/>
          </a:xfrm>
          <a:prstGeom prst="rect">
            <a:avLst/>
          </a:prstGeom>
          <a:noFill/>
        </p:spPr>
        <p:txBody>
          <a:bodyPr wrap="square">
            <a:spAutoFit/>
          </a:bodyPr>
          <a:lstStyle/>
          <a:p>
            <a:pPr>
              <a:buNone/>
            </a:pPr>
            <a:r>
              <a:rPr lang="en-US" sz="2800" b="0" dirty="0" err="1">
                <a:solidFill>
                  <a:srgbClr val="000000"/>
                </a:solidFill>
                <a:effectLst/>
                <a:latin typeface="Courier New" panose="02070309020205020404" pitchFamily="49" charset="0"/>
              </a:rPr>
              <a:t>students.shape</a:t>
            </a:r>
            <a:endParaRPr lang="en-US" sz="2800" b="0" dirty="0">
              <a:solidFill>
                <a:srgbClr val="000000"/>
              </a:solidFill>
              <a:effectLst/>
              <a:latin typeface="Courier New" panose="02070309020205020404" pitchFamily="49" charset="0"/>
            </a:endParaRPr>
          </a:p>
          <a:p>
            <a:pPr>
              <a:buNone/>
            </a:pPr>
            <a:r>
              <a:rPr lang="en-US" sz="2800" b="0" dirty="0" err="1">
                <a:solidFill>
                  <a:srgbClr val="000000"/>
                </a:solidFill>
                <a:effectLst/>
                <a:latin typeface="Courier New" panose="02070309020205020404" pitchFamily="49" charset="0"/>
              </a:rPr>
              <a:t>students.columns</a:t>
            </a:r>
            <a:endParaRPr lang="en-US" sz="2800" b="0" dirty="0">
              <a:solidFill>
                <a:srgbClr val="000000"/>
              </a:solidFill>
              <a:effectLst/>
              <a:latin typeface="Courier New" panose="02070309020205020404" pitchFamily="49" charset="0"/>
            </a:endParaRPr>
          </a:p>
          <a:p>
            <a:pPr>
              <a:buNone/>
            </a:pPr>
            <a:r>
              <a:rPr lang="en-US" sz="2800" b="0" dirty="0">
                <a:solidFill>
                  <a:srgbClr val="000000"/>
                </a:solidFill>
                <a:effectLst/>
                <a:latin typeface="Courier New" panose="02070309020205020404" pitchFamily="49" charset="0"/>
              </a:rPr>
              <a:t>students.info()</a:t>
            </a:r>
          </a:p>
          <a:p>
            <a:pPr>
              <a:buNone/>
            </a:pPr>
            <a:r>
              <a:rPr lang="en-US" sz="2800" b="0" dirty="0" err="1">
                <a:solidFill>
                  <a:srgbClr val="000000"/>
                </a:solidFill>
                <a:effectLst/>
                <a:latin typeface="Courier New" panose="02070309020205020404" pitchFamily="49" charset="0"/>
              </a:rPr>
              <a:t>grades.head</a:t>
            </a:r>
            <a:r>
              <a:rPr lang="en-US" sz="2800" b="0" dirty="0">
                <a:solidFill>
                  <a:srgbClr val="000000"/>
                </a:solidFill>
                <a:effectLst/>
                <a:latin typeface="Courier New" panose="02070309020205020404" pitchFamily="49" charset="0"/>
              </a:rPr>
              <a:t>()</a:t>
            </a:r>
          </a:p>
          <a:p>
            <a:pPr>
              <a:buNone/>
            </a:pPr>
            <a:r>
              <a:rPr lang="en-US" sz="2800" b="0" dirty="0" err="1">
                <a:solidFill>
                  <a:srgbClr val="000000"/>
                </a:solidFill>
                <a:effectLst/>
                <a:latin typeface="Courier New" panose="02070309020205020404" pitchFamily="49" charset="0"/>
              </a:rPr>
              <a:t>subjects.head</a:t>
            </a:r>
            <a:r>
              <a:rPr lang="en-US" sz="2800" b="0" dirty="0">
                <a:solidFill>
                  <a:srgbClr val="000000"/>
                </a:solidFill>
                <a:effectLst/>
                <a:latin typeface="Courier New" panose="02070309020205020404" pitchFamily="49" charset="0"/>
              </a:rPr>
              <a:t>()</a:t>
            </a:r>
          </a:p>
          <a:p>
            <a:pPr>
              <a:buNone/>
            </a:pPr>
            <a:r>
              <a:rPr lang="en-US" sz="2800" b="0" dirty="0" err="1">
                <a:solidFill>
                  <a:srgbClr val="000000"/>
                </a:solidFill>
                <a:effectLst/>
                <a:latin typeface="Courier New" panose="02070309020205020404" pitchFamily="49" charset="0"/>
              </a:rPr>
              <a:t>attendance.head</a:t>
            </a:r>
            <a:r>
              <a:rPr lang="en-US" sz="2800" b="0" dirty="0">
                <a:solidFill>
                  <a:srgbClr val="000000"/>
                </a:solidFill>
                <a:effectLst/>
                <a:latin typeface="Courier New" panose="02070309020205020404" pitchFamily="49" charset="0"/>
              </a:rPr>
              <a:t>()</a:t>
            </a:r>
          </a:p>
        </p:txBody>
      </p:sp>
      <p:pic>
        <p:nvPicPr>
          <p:cNvPr id="12" name="Picture 11">
            <a:extLst>
              <a:ext uri="{FF2B5EF4-FFF2-40B4-BE49-F238E27FC236}">
                <a16:creationId xmlns:a16="http://schemas.microsoft.com/office/drawing/2014/main" id="{955ECB82-2CAD-7FD0-953E-66FD586C3EF2}"/>
              </a:ext>
            </a:extLst>
          </p:cNvPr>
          <p:cNvPicPr>
            <a:picLocks noChangeAspect="1"/>
          </p:cNvPicPr>
          <p:nvPr/>
        </p:nvPicPr>
        <p:blipFill>
          <a:blip r:embed="rId3"/>
          <a:srcRect l="7011" t="39323" r="47500" b="10817"/>
          <a:stretch>
            <a:fillRect/>
          </a:stretch>
        </p:blipFill>
        <p:spPr>
          <a:xfrm>
            <a:off x="3953479" y="2040162"/>
            <a:ext cx="5166872" cy="3185640"/>
          </a:xfrm>
          <a:prstGeom prst="rect">
            <a:avLst/>
          </a:prstGeom>
          <a:ln>
            <a:solidFill>
              <a:srgbClr val="FF0000"/>
            </a:solidFill>
          </a:ln>
        </p:spPr>
      </p:pic>
    </p:spTree>
    <p:extLst>
      <p:ext uri="{BB962C8B-B14F-4D97-AF65-F5344CB8AC3E}">
        <p14:creationId xmlns:p14="http://schemas.microsoft.com/office/powerpoint/2010/main" val="12962940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80CDA-7EDC-8630-075A-640046AD6A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2C236E-3FBE-759B-0C1A-EEE19EB20369}"/>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A37020C3-F18D-2FC9-E8F9-9151075E103C}"/>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4C7B1244-75F2-5A7E-3230-D5391B6CD71C}"/>
              </a:ext>
            </a:extLst>
          </p:cNvPr>
          <p:cNvSpPr txBox="1"/>
          <p:nvPr/>
        </p:nvSpPr>
        <p:spPr>
          <a:xfrm>
            <a:off x="-23751" y="1360428"/>
            <a:ext cx="9044356" cy="1964512"/>
          </a:xfrm>
          <a:prstGeom prst="rect">
            <a:avLst/>
          </a:prstGeom>
          <a:noFill/>
        </p:spPr>
        <p:txBody>
          <a:bodyPr wrap="square">
            <a:spAutoFit/>
          </a:bodyPr>
          <a:lstStyle/>
          <a:p>
            <a:pPr>
              <a:lnSpc>
                <a:spcPct val="150000"/>
              </a:lnSpc>
            </a:pPr>
            <a:r>
              <a:rPr lang="en-US" sz="2800" b="1" dirty="0">
                <a:latin typeface="+mj-lt"/>
              </a:rPr>
              <a:t>Task 3: Understand the Student ID</a:t>
            </a:r>
          </a:p>
          <a:p>
            <a:pPr>
              <a:lnSpc>
                <a:spcPct val="150000"/>
              </a:lnSpc>
            </a:pPr>
            <a:r>
              <a:rPr lang="en-US" sz="2800" dirty="0">
                <a:latin typeface="+mj-lt"/>
              </a:rPr>
              <a:t>The synthetic dataset already includes a unique student ID, so we do not need to create one.</a:t>
            </a:r>
          </a:p>
        </p:txBody>
      </p:sp>
      <p:sp>
        <p:nvSpPr>
          <p:cNvPr id="6" name="TextBox 5">
            <a:extLst>
              <a:ext uri="{FF2B5EF4-FFF2-40B4-BE49-F238E27FC236}">
                <a16:creationId xmlns:a16="http://schemas.microsoft.com/office/drawing/2014/main" id="{A51F5F68-C869-BE59-9339-D71B0FFE6160}"/>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7" name="TextBox 6">
            <a:extLst>
              <a:ext uri="{FF2B5EF4-FFF2-40B4-BE49-F238E27FC236}">
                <a16:creationId xmlns:a16="http://schemas.microsoft.com/office/drawing/2014/main" id="{BFA91566-1265-C9A8-CF2F-2343A8E7338D}"/>
              </a:ext>
            </a:extLst>
          </p:cNvPr>
          <p:cNvSpPr txBox="1"/>
          <p:nvPr/>
        </p:nvSpPr>
        <p:spPr>
          <a:xfrm>
            <a:off x="34261" y="3429000"/>
            <a:ext cx="8986344" cy="954107"/>
          </a:xfrm>
          <a:prstGeom prst="rect">
            <a:avLst/>
          </a:prstGeom>
          <a:noFill/>
        </p:spPr>
        <p:txBody>
          <a:bodyPr wrap="square">
            <a:spAutoFit/>
          </a:bodyPr>
          <a:lstStyle/>
          <a:p>
            <a:pPr>
              <a:buNone/>
            </a:pPr>
            <a:r>
              <a:rPr lang="en-US" sz="2800" b="0" dirty="0">
                <a:solidFill>
                  <a:srgbClr val="000000"/>
                </a:solidFill>
                <a:effectLst/>
                <a:latin typeface="Courier New" panose="02070309020205020404" pitchFamily="49" charset="0"/>
              </a:rPr>
              <a:t>students[[</a:t>
            </a:r>
            <a:r>
              <a:rPr lang="en-US" sz="2800" b="0" dirty="0">
                <a:solidFill>
                  <a:srgbClr val="A31515"/>
                </a:solidFill>
                <a:effectLst/>
                <a:latin typeface="Courier New" panose="02070309020205020404" pitchFamily="49" charset="0"/>
              </a:rPr>
              <a:t>"</a:t>
            </a:r>
            <a:r>
              <a:rPr lang="en-US" sz="2800" b="0" dirty="0" err="1">
                <a:solidFill>
                  <a:srgbClr val="A31515"/>
                </a:solidFill>
                <a:effectLst/>
                <a:latin typeface="Courier New" panose="02070309020205020404" pitchFamily="49" charset="0"/>
              </a:rPr>
              <a:t>student_id</a:t>
            </a:r>
            <a:r>
              <a:rPr lang="en-US" sz="2800" b="0" dirty="0">
                <a:solidFill>
                  <a:srgbClr val="A31515"/>
                </a:solidFill>
                <a:effectLst/>
                <a:latin typeface="Courier New" panose="02070309020205020404" pitchFamily="49" charset="0"/>
              </a:rPr>
              <a:t>"</a:t>
            </a:r>
            <a:r>
              <a:rPr lang="en-US" sz="2800" b="0" dirty="0">
                <a:solidFill>
                  <a:srgbClr val="000000"/>
                </a:solidFill>
                <a:effectLst/>
                <a:latin typeface="Courier New" panose="02070309020205020404" pitchFamily="49" charset="0"/>
              </a:rPr>
              <a:t>, </a:t>
            </a:r>
            <a:r>
              <a:rPr lang="en-US" sz="2800" b="0" dirty="0">
                <a:solidFill>
                  <a:srgbClr val="A31515"/>
                </a:solidFill>
                <a:effectLst/>
                <a:latin typeface="Courier New" panose="02070309020205020404" pitchFamily="49" charset="0"/>
              </a:rPr>
              <a:t>"</a:t>
            </a:r>
            <a:r>
              <a:rPr lang="en-US" sz="2800" b="0" dirty="0" err="1">
                <a:solidFill>
                  <a:srgbClr val="A31515"/>
                </a:solidFill>
                <a:effectLst/>
                <a:latin typeface="Courier New" panose="02070309020205020404" pitchFamily="49" charset="0"/>
              </a:rPr>
              <a:t>first_name</a:t>
            </a:r>
            <a:r>
              <a:rPr lang="en-US" sz="2800" b="0" dirty="0">
                <a:solidFill>
                  <a:srgbClr val="A31515"/>
                </a:solidFill>
                <a:effectLst/>
                <a:latin typeface="Courier New" panose="02070309020205020404" pitchFamily="49" charset="0"/>
              </a:rPr>
              <a:t>"</a:t>
            </a:r>
            <a:r>
              <a:rPr lang="en-US" sz="2800" b="0" dirty="0">
                <a:solidFill>
                  <a:srgbClr val="000000"/>
                </a:solidFill>
                <a:effectLst/>
                <a:latin typeface="Courier New" panose="02070309020205020404" pitchFamily="49" charset="0"/>
              </a:rPr>
              <a:t>, </a:t>
            </a:r>
            <a:r>
              <a:rPr lang="en-US" sz="2800" b="0" dirty="0">
                <a:solidFill>
                  <a:srgbClr val="A31515"/>
                </a:solidFill>
                <a:effectLst/>
                <a:latin typeface="Courier New" panose="02070309020205020404" pitchFamily="49" charset="0"/>
              </a:rPr>
              <a:t>"</a:t>
            </a:r>
            <a:r>
              <a:rPr lang="en-US" sz="2800" b="0" dirty="0" err="1">
                <a:solidFill>
                  <a:srgbClr val="A31515"/>
                </a:solidFill>
                <a:effectLst/>
                <a:latin typeface="Courier New" panose="02070309020205020404" pitchFamily="49" charset="0"/>
              </a:rPr>
              <a:t>last_name</a:t>
            </a:r>
            <a:r>
              <a:rPr lang="en-US" sz="2800" b="0" dirty="0">
                <a:solidFill>
                  <a:srgbClr val="A31515"/>
                </a:solidFill>
                <a:effectLst/>
                <a:latin typeface="Courier New" panose="02070309020205020404" pitchFamily="49" charset="0"/>
              </a:rPr>
              <a:t>"</a:t>
            </a:r>
            <a:r>
              <a:rPr lang="en-US" sz="2800" b="0" dirty="0">
                <a:solidFill>
                  <a:srgbClr val="000000"/>
                </a:solidFill>
                <a:effectLst/>
                <a:latin typeface="Courier New" panose="02070309020205020404" pitchFamily="49" charset="0"/>
              </a:rPr>
              <a:t>, </a:t>
            </a:r>
            <a:r>
              <a:rPr lang="en-US" sz="2800" b="0" dirty="0">
                <a:solidFill>
                  <a:srgbClr val="A31515"/>
                </a:solidFill>
                <a:effectLst/>
                <a:latin typeface="Courier New" panose="02070309020205020404" pitchFamily="49" charset="0"/>
              </a:rPr>
              <a:t>"campus"</a:t>
            </a:r>
            <a:r>
              <a:rPr lang="en-US" sz="2800" b="0" dirty="0">
                <a:solidFill>
                  <a:srgbClr val="000000"/>
                </a:solidFill>
                <a:effectLst/>
                <a:latin typeface="Courier New" panose="02070309020205020404" pitchFamily="49" charset="0"/>
              </a:rPr>
              <a:t>, </a:t>
            </a:r>
            <a:r>
              <a:rPr lang="en-US" sz="2800" b="0" dirty="0">
                <a:solidFill>
                  <a:srgbClr val="A31515"/>
                </a:solidFill>
                <a:effectLst/>
                <a:latin typeface="Courier New" panose="02070309020205020404" pitchFamily="49" charset="0"/>
              </a:rPr>
              <a:t>"school"</a:t>
            </a:r>
            <a:r>
              <a:rPr lang="en-US" sz="2800" b="0" dirty="0">
                <a:solidFill>
                  <a:srgbClr val="000000"/>
                </a:solidFill>
                <a:effectLst/>
                <a:latin typeface="Courier New" panose="02070309020205020404" pitchFamily="49" charset="0"/>
              </a:rPr>
              <a:t>]].head()</a:t>
            </a:r>
          </a:p>
        </p:txBody>
      </p:sp>
      <p:sp>
        <p:nvSpPr>
          <p:cNvPr id="9" name="TextBox 8">
            <a:extLst>
              <a:ext uri="{FF2B5EF4-FFF2-40B4-BE49-F238E27FC236}">
                <a16:creationId xmlns:a16="http://schemas.microsoft.com/office/drawing/2014/main" id="{4FFF416D-E60F-58A9-A1E2-4ADD2AD7404A}"/>
              </a:ext>
            </a:extLst>
          </p:cNvPr>
          <p:cNvSpPr txBox="1"/>
          <p:nvPr/>
        </p:nvSpPr>
        <p:spPr>
          <a:xfrm>
            <a:off x="34261" y="4383107"/>
            <a:ext cx="8986344" cy="1318181"/>
          </a:xfrm>
          <a:prstGeom prst="rect">
            <a:avLst/>
          </a:prstGeom>
          <a:noFill/>
        </p:spPr>
        <p:txBody>
          <a:bodyPr wrap="square">
            <a:spAutoFit/>
          </a:bodyPr>
          <a:lstStyle/>
          <a:p>
            <a:pPr>
              <a:lnSpc>
                <a:spcPct val="150000"/>
              </a:lnSpc>
            </a:pPr>
            <a:r>
              <a:rPr lang="en-US" sz="2800" dirty="0" err="1">
                <a:latin typeface="+mj-lt"/>
              </a:rPr>
              <a:t>student_id</a:t>
            </a:r>
            <a:r>
              <a:rPr lang="en-US" sz="2800" dirty="0">
                <a:latin typeface="+mj-lt"/>
              </a:rPr>
              <a:t> is the common key that connects the students, grades, and attendance tables.</a:t>
            </a:r>
          </a:p>
        </p:txBody>
      </p:sp>
    </p:spTree>
    <p:extLst>
      <p:ext uri="{BB962C8B-B14F-4D97-AF65-F5344CB8AC3E}">
        <p14:creationId xmlns:p14="http://schemas.microsoft.com/office/powerpoint/2010/main" val="22331508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0E0B5-B2F7-10BB-2E17-931D3497DCA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7FFBAC0-A6CA-DDEB-E77E-039A8EA10C7F}"/>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3BC5AF42-A9F5-7FAB-B73A-AA053E80C16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6" name="TextBox 5">
            <a:extLst>
              <a:ext uri="{FF2B5EF4-FFF2-40B4-BE49-F238E27FC236}">
                <a16:creationId xmlns:a16="http://schemas.microsoft.com/office/drawing/2014/main" id="{A270DCA5-4202-DEC9-B61C-8E0656D78E5D}"/>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pic>
        <p:nvPicPr>
          <p:cNvPr id="8" name="Picture 7">
            <a:extLst>
              <a:ext uri="{FF2B5EF4-FFF2-40B4-BE49-F238E27FC236}">
                <a16:creationId xmlns:a16="http://schemas.microsoft.com/office/drawing/2014/main" id="{BCAE7350-346A-999C-03AB-9898FB237C1C}"/>
              </a:ext>
            </a:extLst>
          </p:cNvPr>
          <p:cNvPicPr>
            <a:picLocks noChangeAspect="1"/>
          </p:cNvPicPr>
          <p:nvPr/>
        </p:nvPicPr>
        <p:blipFill>
          <a:blip r:embed="rId3"/>
          <a:srcRect l="9079" t="60370" r="63334" b="17765"/>
          <a:stretch>
            <a:fillRect/>
          </a:stretch>
        </p:blipFill>
        <p:spPr>
          <a:xfrm>
            <a:off x="609600" y="1775318"/>
            <a:ext cx="7924800" cy="3533136"/>
          </a:xfrm>
          <a:prstGeom prst="rect">
            <a:avLst/>
          </a:prstGeom>
        </p:spPr>
      </p:pic>
    </p:spTree>
    <p:extLst>
      <p:ext uri="{BB962C8B-B14F-4D97-AF65-F5344CB8AC3E}">
        <p14:creationId xmlns:p14="http://schemas.microsoft.com/office/powerpoint/2010/main" val="34039247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4CCF-B528-59D1-8312-43E3DAFA8E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B10F3B-C78C-CC6A-BC91-75E4FE621672}"/>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18D0CE67-A4AE-C381-1B58-D2B39572D78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5D58EE29-6533-7AB9-47E4-78647CE589E1}"/>
              </a:ext>
            </a:extLst>
          </p:cNvPr>
          <p:cNvSpPr txBox="1"/>
          <p:nvPr/>
        </p:nvSpPr>
        <p:spPr>
          <a:xfrm>
            <a:off x="-23751" y="1360428"/>
            <a:ext cx="9044356" cy="1318181"/>
          </a:xfrm>
          <a:prstGeom prst="rect">
            <a:avLst/>
          </a:prstGeom>
          <a:noFill/>
        </p:spPr>
        <p:txBody>
          <a:bodyPr wrap="square">
            <a:spAutoFit/>
          </a:bodyPr>
          <a:lstStyle/>
          <a:p>
            <a:pPr>
              <a:lnSpc>
                <a:spcPct val="150000"/>
              </a:lnSpc>
            </a:pPr>
            <a:r>
              <a:rPr lang="en-US" sz="2800" b="1" dirty="0">
                <a:latin typeface="+mj-lt"/>
              </a:rPr>
              <a:t>Task 4: Hierarchical Indexing</a:t>
            </a:r>
          </a:p>
          <a:p>
            <a:pPr>
              <a:lnSpc>
                <a:spcPct val="150000"/>
              </a:lnSpc>
            </a:pPr>
            <a:r>
              <a:rPr lang="en-US" sz="2800" dirty="0">
                <a:latin typeface="+mj-lt"/>
              </a:rPr>
              <a:t>Create a multi-level index using campus and school.</a:t>
            </a:r>
          </a:p>
        </p:txBody>
      </p:sp>
      <p:sp>
        <p:nvSpPr>
          <p:cNvPr id="6" name="TextBox 5">
            <a:extLst>
              <a:ext uri="{FF2B5EF4-FFF2-40B4-BE49-F238E27FC236}">
                <a16:creationId xmlns:a16="http://schemas.microsoft.com/office/drawing/2014/main" id="{F7962950-0F62-624D-AEA0-6A620F832476}"/>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8" name="TextBox 7">
            <a:extLst>
              <a:ext uri="{FF2B5EF4-FFF2-40B4-BE49-F238E27FC236}">
                <a16:creationId xmlns:a16="http://schemas.microsoft.com/office/drawing/2014/main" id="{C1D7BFEB-7E5C-045A-C495-E8806BA7A1DF}"/>
              </a:ext>
            </a:extLst>
          </p:cNvPr>
          <p:cNvSpPr txBox="1"/>
          <p:nvPr/>
        </p:nvSpPr>
        <p:spPr>
          <a:xfrm>
            <a:off x="0" y="2724311"/>
            <a:ext cx="8986344" cy="1446550"/>
          </a:xfrm>
          <a:prstGeom prst="rect">
            <a:avLst/>
          </a:prstGeom>
          <a:noFill/>
        </p:spPr>
        <p:txBody>
          <a:bodyPr wrap="square">
            <a:spAutoFit/>
          </a:bodyPr>
          <a:lstStyle/>
          <a:p>
            <a:pPr>
              <a:buNone/>
            </a:pPr>
            <a:r>
              <a:rPr lang="en-US" sz="2200" b="0" dirty="0" err="1">
                <a:solidFill>
                  <a:srgbClr val="000000"/>
                </a:solidFill>
                <a:effectLst/>
                <a:latin typeface="Courier New" panose="02070309020205020404" pitchFamily="49" charset="0"/>
              </a:rPr>
              <a:t>students_indexed</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students.set_index</a:t>
            </a:r>
            <a:r>
              <a:rPr lang="en-US" sz="2200" b="0" dirty="0">
                <a:solidFill>
                  <a:srgbClr val="000000"/>
                </a:solidFill>
                <a:effectLst/>
                <a:latin typeface="Courier New" panose="02070309020205020404" pitchFamily="49" charset="0"/>
              </a:rPr>
              <a:t>([</a:t>
            </a:r>
            <a:r>
              <a:rPr lang="en-US" sz="2200" b="0" dirty="0">
                <a:solidFill>
                  <a:srgbClr val="A31515"/>
                </a:solidFill>
                <a:effectLst/>
                <a:latin typeface="Courier New" panose="02070309020205020404" pitchFamily="49" charset="0"/>
              </a:rPr>
              <a:t>"campus"</a:t>
            </a:r>
            <a:r>
              <a:rPr lang="en-US" sz="2200" b="0" dirty="0">
                <a:solidFill>
                  <a:srgbClr val="000000"/>
                </a:solidFill>
                <a:effectLst/>
                <a:latin typeface="Courier New" panose="02070309020205020404" pitchFamily="49" charset="0"/>
              </a:rPr>
              <a:t>, </a:t>
            </a:r>
            <a:r>
              <a:rPr lang="en-US" sz="2200" b="0" dirty="0">
                <a:solidFill>
                  <a:srgbClr val="A31515"/>
                </a:solidFill>
                <a:effectLst/>
                <a:latin typeface="Courier New" panose="02070309020205020404" pitchFamily="49" charset="0"/>
              </a:rPr>
              <a:t>"school"</a:t>
            </a:r>
            <a:r>
              <a:rPr lang="en-US" sz="2200" b="0" dirty="0">
                <a:solidFill>
                  <a:srgbClr val="000000"/>
                </a:solidFill>
                <a:effectLst/>
                <a:latin typeface="Courier New" panose="02070309020205020404" pitchFamily="49" charset="0"/>
              </a:rPr>
              <a:t>])</a:t>
            </a:r>
          </a:p>
          <a:p>
            <a:pPr>
              <a:buNone/>
            </a:pPr>
            <a:br>
              <a:rPr lang="en-US" sz="2200" b="0" dirty="0">
                <a:solidFill>
                  <a:srgbClr val="000000"/>
                </a:solidFill>
                <a:effectLst/>
                <a:latin typeface="Courier New" panose="02070309020205020404" pitchFamily="49" charset="0"/>
              </a:rPr>
            </a:br>
            <a:r>
              <a:rPr lang="en-US" sz="2200" b="0" dirty="0" err="1">
                <a:solidFill>
                  <a:srgbClr val="000000"/>
                </a:solidFill>
                <a:effectLst/>
                <a:latin typeface="Courier New" panose="02070309020205020404" pitchFamily="49" charset="0"/>
              </a:rPr>
              <a:t>students_indexed.head</a:t>
            </a:r>
            <a:r>
              <a:rPr lang="en-US" sz="2200" b="0" dirty="0">
                <a:solidFill>
                  <a:srgbClr val="000000"/>
                </a:solidFill>
                <a:effectLst/>
                <a:latin typeface="Courier New" panose="02070309020205020404" pitchFamily="49" charset="0"/>
              </a:rPr>
              <a:t>()</a:t>
            </a:r>
          </a:p>
        </p:txBody>
      </p:sp>
      <p:pic>
        <p:nvPicPr>
          <p:cNvPr id="11" name="Picture 10">
            <a:extLst>
              <a:ext uri="{FF2B5EF4-FFF2-40B4-BE49-F238E27FC236}">
                <a16:creationId xmlns:a16="http://schemas.microsoft.com/office/drawing/2014/main" id="{D33D5582-B3EF-E3EE-CB01-5E0586B00D9A}"/>
              </a:ext>
            </a:extLst>
          </p:cNvPr>
          <p:cNvPicPr>
            <a:picLocks noChangeAspect="1"/>
          </p:cNvPicPr>
          <p:nvPr/>
        </p:nvPicPr>
        <p:blipFill>
          <a:blip r:embed="rId3"/>
          <a:srcRect l="8333" t="48518" r="45977" b="28187"/>
          <a:stretch>
            <a:fillRect/>
          </a:stretch>
        </p:blipFill>
        <p:spPr>
          <a:xfrm>
            <a:off x="2441028" y="4057950"/>
            <a:ext cx="6702972" cy="1922361"/>
          </a:xfrm>
          <a:prstGeom prst="rect">
            <a:avLst/>
          </a:prstGeom>
        </p:spPr>
      </p:pic>
    </p:spTree>
    <p:extLst>
      <p:ext uri="{BB962C8B-B14F-4D97-AF65-F5344CB8AC3E}">
        <p14:creationId xmlns:p14="http://schemas.microsoft.com/office/powerpoint/2010/main" val="68778783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3B8CB-108F-A7A8-658F-371C44F956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974E9C-443F-A14E-8DF7-9B285D0DB00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5F784008-B347-0AD0-E843-F2FA56882EE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B902EB2F-7BAA-1108-7178-B921577A49C7}"/>
              </a:ext>
            </a:extLst>
          </p:cNvPr>
          <p:cNvSpPr txBox="1"/>
          <p:nvPr/>
        </p:nvSpPr>
        <p:spPr>
          <a:xfrm>
            <a:off x="-23751" y="1360428"/>
            <a:ext cx="9044356" cy="671851"/>
          </a:xfrm>
          <a:prstGeom prst="rect">
            <a:avLst/>
          </a:prstGeom>
          <a:noFill/>
        </p:spPr>
        <p:txBody>
          <a:bodyPr wrap="square">
            <a:spAutoFit/>
          </a:bodyPr>
          <a:lstStyle/>
          <a:p>
            <a:pPr>
              <a:lnSpc>
                <a:spcPct val="150000"/>
              </a:lnSpc>
            </a:pPr>
            <a:r>
              <a:rPr lang="en-US" sz="2800" dirty="0">
                <a:latin typeface="+mj-lt"/>
              </a:rPr>
              <a:t>Show all students from one campus:</a:t>
            </a:r>
          </a:p>
        </p:txBody>
      </p:sp>
      <p:sp>
        <p:nvSpPr>
          <p:cNvPr id="6" name="TextBox 5">
            <a:extLst>
              <a:ext uri="{FF2B5EF4-FFF2-40B4-BE49-F238E27FC236}">
                <a16:creationId xmlns:a16="http://schemas.microsoft.com/office/drawing/2014/main" id="{E216F7A5-AF5B-14BC-64DE-6387633A49FD}"/>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pic>
        <p:nvPicPr>
          <p:cNvPr id="13" name="Picture 12">
            <a:extLst>
              <a:ext uri="{FF2B5EF4-FFF2-40B4-BE49-F238E27FC236}">
                <a16:creationId xmlns:a16="http://schemas.microsoft.com/office/drawing/2014/main" id="{5A4B740E-263F-3232-8691-59D726928C66}"/>
              </a:ext>
            </a:extLst>
          </p:cNvPr>
          <p:cNvPicPr>
            <a:picLocks noChangeAspect="1"/>
          </p:cNvPicPr>
          <p:nvPr/>
        </p:nvPicPr>
        <p:blipFill>
          <a:blip r:embed="rId3"/>
          <a:srcRect l="9081" t="56079" r="52873" b="21035"/>
          <a:stretch>
            <a:fillRect/>
          </a:stretch>
        </p:blipFill>
        <p:spPr>
          <a:xfrm>
            <a:off x="3686605" y="4111447"/>
            <a:ext cx="5334000" cy="1804858"/>
          </a:xfrm>
          <a:prstGeom prst="rect">
            <a:avLst/>
          </a:prstGeom>
        </p:spPr>
      </p:pic>
      <p:sp>
        <p:nvSpPr>
          <p:cNvPr id="15" name="TextBox 14">
            <a:extLst>
              <a:ext uri="{FF2B5EF4-FFF2-40B4-BE49-F238E27FC236}">
                <a16:creationId xmlns:a16="http://schemas.microsoft.com/office/drawing/2014/main" id="{189C373B-0A76-2A5B-D81B-0176FE572D41}"/>
              </a:ext>
            </a:extLst>
          </p:cNvPr>
          <p:cNvSpPr txBox="1"/>
          <p:nvPr/>
        </p:nvSpPr>
        <p:spPr>
          <a:xfrm>
            <a:off x="-29006" y="3083384"/>
            <a:ext cx="9044356" cy="684803"/>
          </a:xfrm>
          <a:prstGeom prst="rect">
            <a:avLst/>
          </a:prstGeom>
          <a:noFill/>
        </p:spPr>
        <p:txBody>
          <a:bodyPr wrap="square">
            <a:spAutoFit/>
          </a:bodyPr>
          <a:lstStyle/>
          <a:p>
            <a:pPr>
              <a:lnSpc>
                <a:spcPct val="150000"/>
              </a:lnSpc>
              <a:buNone/>
            </a:pPr>
            <a:r>
              <a:rPr lang="en-US" sz="2800" b="0" dirty="0" err="1">
                <a:solidFill>
                  <a:srgbClr val="000000"/>
                </a:solidFill>
                <a:effectLst/>
                <a:latin typeface="Courier New" panose="02070309020205020404" pitchFamily="49" charset="0"/>
              </a:rPr>
              <a:t>students_indexed.loc</a:t>
            </a:r>
            <a:r>
              <a:rPr lang="en-US" sz="2800" b="0" dirty="0">
                <a:solidFill>
                  <a:srgbClr val="000000"/>
                </a:solidFill>
                <a:effectLst/>
                <a:latin typeface="Courier New" panose="02070309020205020404" pitchFamily="49" charset="0"/>
              </a:rPr>
              <a:t>[</a:t>
            </a:r>
            <a:r>
              <a:rPr lang="en-US" sz="2800" b="0" dirty="0">
                <a:solidFill>
                  <a:srgbClr val="A31515"/>
                </a:solidFill>
                <a:effectLst/>
                <a:latin typeface="Courier New" panose="02070309020205020404" pitchFamily="49" charset="0"/>
              </a:rPr>
              <a:t>"Sydney"</a:t>
            </a:r>
            <a:r>
              <a:rPr lang="en-US" sz="2800" b="0" dirty="0">
                <a:solidFill>
                  <a:srgbClr val="000000"/>
                </a:solidFill>
                <a:effectLst/>
                <a:latin typeface="Courier New" panose="02070309020205020404" pitchFamily="49" charset="0"/>
              </a:rPr>
              <a:t>].head()</a:t>
            </a:r>
          </a:p>
        </p:txBody>
      </p:sp>
    </p:spTree>
    <p:extLst>
      <p:ext uri="{BB962C8B-B14F-4D97-AF65-F5344CB8AC3E}">
        <p14:creationId xmlns:p14="http://schemas.microsoft.com/office/powerpoint/2010/main" val="19979722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E6593-9D3D-5BE2-E505-F431197A7B8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409A0C-0FE3-A330-FD41-BFFC144D3CF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FAAD63EF-5D99-031F-558D-16249159FA9F}"/>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C8677D72-5530-6AA6-6CB1-73B078CF4B4B}"/>
              </a:ext>
            </a:extLst>
          </p:cNvPr>
          <p:cNvSpPr txBox="1"/>
          <p:nvPr/>
        </p:nvSpPr>
        <p:spPr>
          <a:xfrm>
            <a:off x="-23751" y="1360428"/>
            <a:ext cx="9044356" cy="671851"/>
          </a:xfrm>
          <a:prstGeom prst="rect">
            <a:avLst/>
          </a:prstGeom>
          <a:noFill/>
        </p:spPr>
        <p:txBody>
          <a:bodyPr wrap="square">
            <a:spAutoFit/>
          </a:bodyPr>
          <a:lstStyle/>
          <a:p>
            <a:pPr>
              <a:lnSpc>
                <a:spcPct val="150000"/>
              </a:lnSpc>
            </a:pPr>
            <a:r>
              <a:rPr lang="en-US" sz="2800" dirty="0">
                <a:latin typeface="+mj-lt"/>
              </a:rPr>
              <a:t>Count students by campus and school:</a:t>
            </a:r>
          </a:p>
        </p:txBody>
      </p:sp>
      <p:sp>
        <p:nvSpPr>
          <p:cNvPr id="6" name="TextBox 5">
            <a:extLst>
              <a:ext uri="{FF2B5EF4-FFF2-40B4-BE49-F238E27FC236}">
                <a16:creationId xmlns:a16="http://schemas.microsoft.com/office/drawing/2014/main" id="{6628C144-F34A-1593-3EB8-6CCCA11AD5DB}"/>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7" name="TextBox 6">
            <a:extLst>
              <a:ext uri="{FF2B5EF4-FFF2-40B4-BE49-F238E27FC236}">
                <a16:creationId xmlns:a16="http://schemas.microsoft.com/office/drawing/2014/main" id="{5D2B0E12-023B-3A1F-054D-096448DE58B0}"/>
              </a:ext>
            </a:extLst>
          </p:cNvPr>
          <p:cNvSpPr txBox="1"/>
          <p:nvPr/>
        </p:nvSpPr>
        <p:spPr>
          <a:xfrm>
            <a:off x="-29006" y="2053300"/>
            <a:ext cx="8986344" cy="861774"/>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students_indexed.groupby</a:t>
            </a:r>
            <a:r>
              <a:rPr lang="en-US" sz="2500" b="0" dirty="0">
                <a:solidFill>
                  <a:srgbClr val="000000"/>
                </a:solidFill>
                <a:effectLst/>
                <a:latin typeface="Courier New" panose="02070309020205020404" pitchFamily="49" charset="0"/>
              </a:rPr>
              <a:t>(level=[</a:t>
            </a:r>
            <a:r>
              <a:rPr lang="en-US" sz="2500" b="0" dirty="0">
                <a:solidFill>
                  <a:srgbClr val="A31515"/>
                </a:solidFill>
                <a:effectLst/>
                <a:latin typeface="Courier New" panose="02070309020205020404" pitchFamily="49" charset="0"/>
              </a:rPr>
              <a:t>"campus"</a:t>
            </a:r>
            <a:r>
              <a:rPr lang="en-US" sz="2500" b="0" dirty="0">
                <a:solidFill>
                  <a:srgbClr val="000000"/>
                </a:solidFill>
                <a:effectLst/>
                <a:latin typeface="Courier New" panose="02070309020205020404" pitchFamily="49" charset="0"/>
              </a:rPr>
              <a:t>, </a:t>
            </a:r>
            <a:r>
              <a:rPr lang="en-US" sz="2500" b="0" dirty="0">
                <a:solidFill>
                  <a:srgbClr val="A31515"/>
                </a:solidFill>
                <a:effectLst/>
                <a:latin typeface="Courier New" panose="02070309020205020404" pitchFamily="49" charset="0"/>
              </a:rPr>
              <a:t>"school"</a:t>
            </a:r>
            <a:r>
              <a:rPr lang="en-US" sz="2500" b="0" dirty="0">
                <a:solidFill>
                  <a:srgbClr val="000000"/>
                </a:solidFill>
                <a:effectLst/>
                <a:latin typeface="Courier New" panose="02070309020205020404" pitchFamily="49" charset="0"/>
              </a:rPr>
              <a:t>]).size()</a:t>
            </a:r>
          </a:p>
        </p:txBody>
      </p:sp>
      <p:pic>
        <p:nvPicPr>
          <p:cNvPr id="9" name="Picture 8">
            <a:extLst>
              <a:ext uri="{FF2B5EF4-FFF2-40B4-BE49-F238E27FC236}">
                <a16:creationId xmlns:a16="http://schemas.microsoft.com/office/drawing/2014/main" id="{12D68632-9E7E-6BF5-3A7D-63C0228D434B}"/>
              </a:ext>
            </a:extLst>
          </p:cNvPr>
          <p:cNvPicPr>
            <a:picLocks noChangeAspect="1"/>
          </p:cNvPicPr>
          <p:nvPr/>
        </p:nvPicPr>
        <p:blipFill>
          <a:blip r:embed="rId3"/>
          <a:srcRect l="7500" t="29336" r="77500" b="18889"/>
          <a:stretch>
            <a:fillRect/>
          </a:stretch>
        </p:blipFill>
        <p:spPr>
          <a:xfrm>
            <a:off x="6897114" y="2427576"/>
            <a:ext cx="2246886" cy="4362502"/>
          </a:xfrm>
          <a:prstGeom prst="rect">
            <a:avLst/>
          </a:prstGeom>
        </p:spPr>
      </p:pic>
    </p:spTree>
    <p:extLst>
      <p:ext uri="{BB962C8B-B14F-4D97-AF65-F5344CB8AC3E}">
        <p14:creationId xmlns:p14="http://schemas.microsoft.com/office/powerpoint/2010/main" val="7764487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EB42F-DD1A-5534-7160-E280B313862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A0EFA8-E6B2-FFBB-BC08-961B8115349D}"/>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49CA7963-E6D9-8B45-DB65-3F02645A291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69C9C5D3-29E6-6456-280C-F08B325DE7DE}"/>
              </a:ext>
            </a:extLst>
          </p:cNvPr>
          <p:cNvSpPr txBox="1"/>
          <p:nvPr/>
        </p:nvSpPr>
        <p:spPr>
          <a:xfrm>
            <a:off x="-23751" y="1360428"/>
            <a:ext cx="9044356" cy="1964512"/>
          </a:xfrm>
          <a:prstGeom prst="rect">
            <a:avLst/>
          </a:prstGeom>
          <a:noFill/>
        </p:spPr>
        <p:txBody>
          <a:bodyPr wrap="square">
            <a:spAutoFit/>
          </a:bodyPr>
          <a:lstStyle/>
          <a:p>
            <a:pPr>
              <a:lnSpc>
                <a:spcPct val="150000"/>
              </a:lnSpc>
            </a:pPr>
            <a:r>
              <a:rPr lang="en-US" sz="2800" dirty="0">
                <a:latin typeface="+mj-lt"/>
              </a:rPr>
              <a:t>Student reflection:</a:t>
            </a:r>
          </a:p>
          <a:p>
            <a:pPr>
              <a:lnSpc>
                <a:spcPct val="150000"/>
              </a:lnSpc>
            </a:pPr>
            <a:r>
              <a:rPr lang="en-US" sz="2800" dirty="0">
                <a:latin typeface="+mj-lt"/>
              </a:rPr>
              <a:t>What does the first index level represent?</a:t>
            </a:r>
            <a:br>
              <a:rPr lang="en-US" sz="2800" dirty="0">
                <a:latin typeface="+mj-lt"/>
              </a:rPr>
            </a:br>
            <a:r>
              <a:rPr lang="en-US" sz="2800" dirty="0">
                <a:latin typeface="+mj-lt"/>
              </a:rPr>
              <a:t>What does the second index level represent?</a:t>
            </a:r>
          </a:p>
        </p:txBody>
      </p:sp>
      <p:sp>
        <p:nvSpPr>
          <p:cNvPr id="6" name="TextBox 5">
            <a:extLst>
              <a:ext uri="{FF2B5EF4-FFF2-40B4-BE49-F238E27FC236}">
                <a16:creationId xmlns:a16="http://schemas.microsoft.com/office/drawing/2014/main" id="{CB8DBC05-D35B-7619-8CD8-935E9C1A343A}"/>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pic>
        <p:nvPicPr>
          <p:cNvPr id="9" name="Picture 8">
            <a:extLst>
              <a:ext uri="{FF2B5EF4-FFF2-40B4-BE49-F238E27FC236}">
                <a16:creationId xmlns:a16="http://schemas.microsoft.com/office/drawing/2014/main" id="{0A1409B4-6A55-5229-8C9B-F4DFA52940B0}"/>
              </a:ext>
            </a:extLst>
          </p:cNvPr>
          <p:cNvPicPr>
            <a:picLocks noChangeAspect="1"/>
          </p:cNvPicPr>
          <p:nvPr/>
        </p:nvPicPr>
        <p:blipFill>
          <a:blip r:embed="rId3"/>
          <a:srcRect l="7500" t="29336" r="77500" b="18889"/>
          <a:stretch>
            <a:fillRect/>
          </a:stretch>
        </p:blipFill>
        <p:spPr>
          <a:xfrm>
            <a:off x="6897114" y="2427576"/>
            <a:ext cx="2246886" cy="4362502"/>
          </a:xfrm>
          <a:prstGeom prst="rect">
            <a:avLst/>
          </a:prstGeom>
        </p:spPr>
      </p:pic>
    </p:spTree>
    <p:extLst>
      <p:ext uri="{BB962C8B-B14F-4D97-AF65-F5344CB8AC3E}">
        <p14:creationId xmlns:p14="http://schemas.microsoft.com/office/powerpoint/2010/main" val="23851254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0F577-C1A0-B2D1-385C-ED0DE52797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B0C6DC-AD05-DA72-DFB5-4FA51D476AE6}"/>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8FFAAAC8-12B3-D652-51B7-102B856B7FD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B9FC7D07-13EE-491B-A412-4D91F39D9E65}"/>
              </a:ext>
            </a:extLst>
          </p:cNvPr>
          <p:cNvSpPr txBox="1"/>
          <p:nvPr/>
        </p:nvSpPr>
        <p:spPr>
          <a:xfrm>
            <a:off x="-23751" y="1360428"/>
            <a:ext cx="9044356" cy="1318181"/>
          </a:xfrm>
          <a:prstGeom prst="rect">
            <a:avLst/>
          </a:prstGeom>
          <a:noFill/>
        </p:spPr>
        <p:txBody>
          <a:bodyPr wrap="square">
            <a:spAutoFit/>
          </a:bodyPr>
          <a:lstStyle/>
          <a:p>
            <a:pPr>
              <a:lnSpc>
                <a:spcPct val="150000"/>
              </a:lnSpc>
            </a:pPr>
            <a:r>
              <a:rPr lang="en-US" sz="2800" b="1" dirty="0">
                <a:latin typeface="+mj-lt"/>
              </a:rPr>
              <a:t>Task 4: Inner Join Example</a:t>
            </a:r>
          </a:p>
          <a:p>
            <a:pPr>
              <a:lnSpc>
                <a:spcPct val="150000"/>
              </a:lnSpc>
            </a:pPr>
            <a:r>
              <a:rPr lang="en-US" sz="2800" dirty="0">
                <a:latin typeface="+mj-lt"/>
              </a:rPr>
              <a:t>Merge student information with grades.</a:t>
            </a:r>
          </a:p>
        </p:txBody>
      </p:sp>
      <p:sp>
        <p:nvSpPr>
          <p:cNvPr id="6" name="TextBox 5">
            <a:extLst>
              <a:ext uri="{FF2B5EF4-FFF2-40B4-BE49-F238E27FC236}">
                <a16:creationId xmlns:a16="http://schemas.microsoft.com/office/drawing/2014/main" id="{C985748C-1D13-2A37-F559-3B79CA9F12E4}"/>
              </a:ext>
            </a:extLst>
          </p:cNvPr>
          <p:cNvSpPr txBox="1"/>
          <p:nvPr/>
        </p:nvSpPr>
        <p:spPr>
          <a:xfrm>
            <a:off x="-29006" y="5867400"/>
            <a:ext cx="8986344" cy="646331"/>
          </a:xfrm>
          <a:prstGeom prst="rect">
            <a:avLst/>
          </a:prstGeom>
          <a:noFill/>
        </p:spPr>
        <p:txBody>
          <a:bodyPr wrap="square">
            <a:spAutoFit/>
          </a:bodyPr>
          <a:lstStyle/>
          <a:p>
            <a:r>
              <a:rPr lang="en-US" dirty="0">
                <a:hlinkClick r:id="rId2"/>
              </a:rPr>
              <a:t>https://colab.research.google.com/drive/1uRbFkddHfPOp7hGPyVdLRBYL0w0aUsvU?usp=sharing</a:t>
            </a:r>
            <a:r>
              <a:rPr lang="en-US" dirty="0"/>
              <a:t> </a:t>
            </a:r>
          </a:p>
        </p:txBody>
      </p:sp>
      <p:sp>
        <p:nvSpPr>
          <p:cNvPr id="7" name="TextBox 6">
            <a:extLst>
              <a:ext uri="{FF2B5EF4-FFF2-40B4-BE49-F238E27FC236}">
                <a16:creationId xmlns:a16="http://schemas.microsoft.com/office/drawing/2014/main" id="{8AA7393E-3B92-4EA4-8608-A57673224B7A}"/>
              </a:ext>
            </a:extLst>
          </p:cNvPr>
          <p:cNvSpPr txBox="1"/>
          <p:nvPr/>
        </p:nvSpPr>
        <p:spPr>
          <a:xfrm>
            <a:off x="5255" y="2649223"/>
            <a:ext cx="8986344" cy="2785378"/>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inner_result</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pd.merge</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students,</a:t>
            </a:r>
          </a:p>
          <a:p>
            <a:pPr>
              <a:buNone/>
            </a:pPr>
            <a:r>
              <a:rPr lang="en-US" sz="2500" b="0" dirty="0">
                <a:solidFill>
                  <a:srgbClr val="000000"/>
                </a:solidFill>
                <a:effectLst/>
                <a:latin typeface="Courier New" panose="02070309020205020404" pitchFamily="49" charset="0"/>
              </a:rPr>
              <a:t>    grades,</a:t>
            </a:r>
          </a:p>
          <a:p>
            <a:pPr>
              <a:buNone/>
            </a:pPr>
            <a:r>
              <a:rPr lang="en-US" sz="2500" b="0" dirty="0">
                <a:solidFill>
                  <a:srgbClr val="000000"/>
                </a:solidFill>
                <a:effectLst/>
                <a:latin typeface="Courier New" panose="02070309020205020404" pitchFamily="49" charset="0"/>
              </a:rPr>
              <a:t>    on=</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student_id</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how=</a:t>
            </a:r>
            <a:r>
              <a:rPr lang="en-US" sz="2500" b="0" dirty="0">
                <a:solidFill>
                  <a:srgbClr val="A31515"/>
                </a:solidFill>
                <a:effectLst/>
                <a:latin typeface="Courier New" panose="02070309020205020404" pitchFamily="49" charset="0"/>
              </a:rPr>
              <a:t>"inner"</a:t>
            </a:r>
            <a:endParaRPr lang="en-US" sz="2500" b="0" dirty="0">
              <a:solidFill>
                <a:srgbClr val="000000"/>
              </a:solidFill>
              <a:effectLst/>
              <a:latin typeface="Courier New" panose="02070309020205020404" pitchFamily="49" charset="0"/>
            </a:endParaRPr>
          </a:p>
          <a:p>
            <a:pPr>
              <a:buNone/>
            </a:pPr>
            <a:r>
              <a:rPr lang="en-US" sz="2500" b="0" dirty="0">
                <a:solidFill>
                  <a:srgbClr val="000000"/>
                </a:solidFill>
                <a:effectLst/>
                <a:latin typeface="Courier New" panose="02070309020205020404" pitchFamily="49" charset="0"/>
              </a:rPr>
              <a:t>)</a:t>
            </a:r>
          </a:p>
          <a:p>
            <a:pPr>
              <a:buNone/>
            </a:pPr>
            <a:r>
              <a:rPr lang="en-US" sz="2500" b="0" dirty="0" err="1">
                <a:solidFill>
                  <a:srgbClr val="000000"/>
                </a:solidFill>
                <a:effectLst/>
                <a:latin typeface="Courier New" panose="02070309020205020404" pitchFamily="49" charset="0"/>
              </a:rPr>
              <a:t>inner_result.head</a:t>
            </a:r>
            <a:r>
              <a:rPr lang="en-US" sz="2500" b="0" dirty="0">
                <a:solidFill>
                  <a:srgbClr val="000000"/>
                </a:solidFill>
                <a:effectLst/>
                <a:latin typeface="Courier New" panose="02070309020205020404" pitchFamily="49" charset="0"/>
              </a:rPr>
              <a:t>()</a:t>
            </a:r>
          </a:p>
        </p:txBody>
      </p:sp>
      <p:pic>
        <p:nvPicPr>
          <p:cNvPr id="10" name="Picture 9">
            <a:extLst>
              <a:ext uri="{FF2B5EF4-FFF2-40B4-BE49-F238E27FC236}">
                <a16:creationId xmlns:a16="http://schemas.microsoft.com/office/drawing/2014/main" id="{6903A6E1-8A5E-237E-9B25-57C2A5F83C3F}"/>
              </a:ext>
            </a:extLst>
          </p:cNvPr>
          <p:cNvPicPr>
            <a:picLocks noChangeAspect="1"/>
          </p:cNvPicPr>
          <p:nvPr/>
        </p:nvPicPr>
        <p:blipFill>
          <a:blip r:embed="rId3"/>
          <a:srcRect l="9195" t="46679" r="17011" b="32478"/>
          <a:stretch>
            <a:fillRect/>
          </a:stretch>
        </p:blipFill>
        <p:spPr>
          <a:xfrm>
            <a:off x="0" y="5405215"/>
            <a:ext cx="9144000" cy="1452785"/>
          </a:xfrm>
          <a:prstGeom prst="rect">
            <a:avLst/>
          </a:prstGeom>
        </p:spPr>
      </p:pic>
    </p:spTree>
    <p:extLst>
      <p:ext uri="{BB962C8B-B14F-4D97-AF65-F5344CB8AC3E}">
        <p14:creationId xmlns:p14="http://schemas.microsoft.com/office/powerpoint/2010/main" val="161271168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8B63-CE7C-D1DC-1D5A-F29D5FE154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63CD11-93BA-209D-16EB-0FC85710CFBB}"/>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D6D5F37C-F67A-A0F3-A5B8-B39D130D7CA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725CDC99-ACA7-D9F3-78A9-C07DD8708A2B}"/>
              </a:ext>
            </a:extLst>
          </p:cNvPr>
          <p:cNvSpPr txBox="1"/>
          <p:nvPr/>
        </p:nvSpPr>
        <p:spPr>
          <a:xfrm>
            <a:off x="-23751" y="1360428"/>
            <a:ext cx="9044356" cy="1964512"/>
          </a:xfrm>
          <a:prstGeom prst="rect">
            <a:avLst/>
          </a:prstGeom>
          <a:noFill/>
        </p:spPr>
        <p:txBody>
          <a:bodyPr wrap="square">
            <a:spAutoFit/>
          </a:bodyPr>
          <a:lstStyle/>
          <a:p>
            <a:pPr>
              <a:lnSpc>
                <a:spcPct val="150000"/>
              </a:lnSpc>
            </a:pPr>
            <a:r>
              <a:rPr lang="en-US" sz="2800" b="1" dirty="0">
                <a:latin typeface="+mj-lt"/>
              </a:rPr>
              <a:t>Task 5: Left Join Example</a:t>
            </a:r>
          </a:p>
          <a:p>
            <a:pPr>
              <a:lnSpc>
                <a:spcPct val="150000"/>
              </a:lnSpc>
            </a:pPr>
            <a:r>
              <a:rPr lang="en-US" sz="2800" dirty="0">
                <a:latin typeface="+mj-lt"/>
              </a:rPr>
              <a:t>Keep all students, even if some students do not have matching grade records.</a:t>
            </a:r>
          </a:p>
        </p:txBody>
      </p:sp>
      <p:sp>
        <p:nvSpPr>
          <p:cNvPr id="8" name="TextBox 7">
            <a:extLst>
              <a:ext uri="{FF2B5EF4-FFF2-40B4-BE49-F238E27FC236}">
                <a16:creationId xmlns:a16="http://schemas.microsoft.com/office/drawing/2014/main" id="{8F1393B9-60AE-3D2B-BED1-90D4173AA4BD}"/>
              </a:ext>
            </a:extLst>
          </p:cNvPr>
          <p:cNvSpPr txBox="1"/>
          <p:nvPr/>
        </p:nvSpPr>
        <p:spPr>
          <a:xfrm>
            <a:off x="5255" y="3550706"/>
            <a:ext cx="4650826" cy="2785378"/>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left_result</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pd.merge</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students,</a:t>
            </a:r>
          </a:p>
          <a:p>
            <a:pPr>
              <a:buNone/>
            </a:pPr>
            <a:r>
              <a:rPr lang="en-US" sz="2500" b="0" dirty="0">
                <a:solidFill>
                  <a:srgbClr val="000000"/>
                </a:solidFill>
                <a:effectLst/>
                <a:latin typeface="Courier New" panose="02070309020205020404" pitchFamily="49" charset="0"/>
              </a:rPr>
              <a:t>    grades,</a:t>
            </a:r>
          </a:p>
          <a:p>
            <a:pPr>
              <a:buNone/>
            </a:pPr>
            <a:r>
              <a:rPr lang="en-US" sz="2500" b="0" dirty="0">
                <a:solidFill>
                  <a:srgbClr val="000000"/>
                </a:solidFill>
                <a:effectLst/>
                <a:latin typeface="Courier New" panose="02070309020205020404" pitchFamily="49" charset="0"/>
              </a:rPr>
              <a:t>    on=</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student_id</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how=</a:t>
            </a:r>
            <a:r>
              <a:rPr lang="en-US" sz="2500" b="0" dirty="0">
                <a:solidFill>
                  <a:srgbClr val="A31515"/>
                </a:solidFill>
                <a:effectLst/>
                <a:latin typeface="Courier New" panose="02070309020205020404" pitchFamily="49" charset="0"/>
              </a:rPr>
              <a:t>"left"</a:t>
            </a:r>
            <a:endParaRPr lang="en-US" sz="2500" b="0" dirty="0">
              <a:solidFill>
                <a:srgbClr val="000000"/>
              </a:solidFill>
              <a:effectLst/>
              <a:latin typeface="Courier New" panose="02070309020205020404" pitchFamily="49" charset="0"/>
            </a:endParaRPr>
          </a:p>
          <a:p>
            <a:pPr>
              <a:buNone/>
            </a:pPr>
            <a:r>
              <a:rPr lang="en-US" sz="2500" b="0" dirty="0">
                <a:solidFill>
                  <a:srgbClr val="000000"/>
                </a:solidFill>
                <a:effectLst/>
                <a:latin typeface="Courier New" panose="02070309020205020404" pitchFamily="49" charset="0"/>
              </a:rPr>
              <a:t>)</a:t>
            </a:r>
          </a:p>
          <a:p>
            <a:pPr>
              <a:buNone/>
            </a:pPr>
            <a:r>
              <a:rPr lang="en-US" sz="2500" b="0" dirty="0" err="1">
                <a:solidFill>
                  <a:srgbClr val="000000"/>
                </a:solidFill>
                <a:effectLst/>
                <a:latin typeface="Courier New" panose="02070309020205020404" pitchFamily="49" charset="0"/>
              </a:rPr>
              <a:t>left_result.head</a:t>
            </a:r>
            <a:r>
              <a:rPr lang="en-US" sz="25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0690774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50BE-8602-3B8A-74C1-E333452E3D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287912-88B4-2E61-1DCA-CB5BD50D77AD}"/>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B4A2261D-81E4-34C0-BC6C-EFE47AC9C82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950F107C-CCA8-3386-F4DB-0349D8EDF251}"/>
              </a:ext>
            </a:extLst>
          </p:cNvPr>
          <p:cNvPicPr>
            <a:picLocks noChangeAspect="1"/>
          </p:cNvPicPr>
          <p:nvPr/>
        </p:nvPicPr>
        <p:blipFill>
          <a:blip r:embed="rId2"/>
          <a:srcRect l="9311" t="54445" r="17242" b="25325"/>
          <a:stretch>
            <a:fillRect/>
          </a:stretch>
        </p:blipFill>
        <p:spPr>
          <a:xfrm>
            <a:off x="-23751" y="2209800"/>
            <a:ext cx="9175295" cy="1421524"/>
          </a:xfrm>
          <a:prstGeom prst="rect">
            <a:avLst/>
          </a:prstGeom>
        </p:spPr>
      </p:pic>
    </p:spTree>
    <p:extLst>
      <p:ext uri="{BB962C8B-B14F-4D97-AF65-F5344CB8AC3E}">
        <p14:creationId xmlns:p14="http://schemas.microsoft.com/office/powerpoint/2010/main" val="36961480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B01B0-F5DE-AD3B-07E2-1B8D4DFA90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7D02F1-EAE4-3FCE-8503-0A9AAC08A3BC}"/>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A112A5A5-C0AE-C504-F2EB-DDF79A80232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633A8D75-C77C-456C-DECC-6772BCE7BA7C}"/>
              </a:ext>
            </a:extLst>
          </p:cNvPr>
          <p:cNvSpPr txBox="1"/>
          <p:nvPr/>
        </p:nvSpPr>
        <p:spPr>
          <a:xfrm>
            <a:off x="0" y="1219200"/>
            <a:ext cx="9144000" cy="1318181"/>
          </a:xfrm>
          <a:prstGeom prst="rect">
            <a:avLst/>
          </a:prstGeom>
          <a:noFill/>
        </p:spPr>
        <p:txBody>
          <a:bodyPr wrap="square">
            <a:spAutoFit/>
          </a:bodyPr>
          <a:lstStyle/>
          <a:p>
            <a:pPr>
              <a:lnSpc>
                <a:spcPct val="150000"/>
              </a:lnSpc>
              <a:buNone/>
            </a:pPr>
            <a:r>
              <a:rPr lang="en-US" sz="2800" b="1" dirty="0">
                <a:latin typeface="+mj-lt"/>
              </a:rPr>
              <a:t>Task 6: Outer Join Example</a:t>
            </a:r>
          </a:p>
          <a:p>
            <a:pPr>
              <a:lnSpc>
                <a:spcPct val="150000"/>
              </a:lnSpc>
              <a:buNone/>
            </a:pPr>
            <a:r>
              <a:rPr lang="en-US" sz="2800" dirty="0">
                <a:latin typeface="+mj-lt"/>
              </a:rPr>
              <a:t>Use an outer join to keep all records from both tables.</a:t>
            </a:r>
          </a:p>
        </p:txBody>
      </p:sp>
      <p:sp>
        <p:nvSpPr>
          <p:cNvPr id="8" name="TextBox 7">
            <a:extLst>
              <a:ext uri="{FF2B5EF4-FFF2-40B4-BE49-F238E27FC236}">
                <a16:creationId xmlns:a16="http://schemas.microsoft.com/office/drawing/2014/main" id="{A5C26F8F-E2A2-3807-EA63-159D0532FA9D}"/>
              </a:ext>
            </a:extLst>
          </p:cNvPr>
          <p:cNvSpPr txBox="1"/>
          <p:nvPr/>
        </p:nvSpPr>
        <p:spPr>
          <a:xfrm>
            <a:off x="0" y="2730007"/>
            <a:ext cx="8996854" cy="3539430"/>
          </a:xfrm>
          <a:prstGeom prst="rect">
            <a:avLst/>
          </a:prstGeom>
          <a:noFill/>
        </p:spPr>
        <p:txBody>
          <a:bodyPr wrap="square">
            <a:spAutoFit/>
          </a:bodyPr>
          <a:lstStyle/>
          <a:p>
            <a:pPr>
              <a:buNone/>
            </a:pPr>
            <a:r>
              <a:rPr lang="en-US" sz="2800" b="0" dirty="0" err="1">
                <a:solidFill>
                  <a:srgbClr val="000000"/>
                </a:solidFill>
                <a:effectLst/>
                <a:latin typeface="Courier New" panose="02070309020205020404" pitchFamily="49" charset="0"/>
              </a:rPr>
              <a:t>outer_result</a:t>
            </a:r>
            <a:r>
              <a:rPr lang="en-US" sz="2800" b="0" dirty="0">
                <a:solidFill>
                  <a:srgbClr val="000000"/>
                </a:solidFill>
                <a:effectLst/>
                <a:latin typeface="Courier New" panose="02070309020205020404" pitchFamily="49" charset="0"/>
              </a:rPr>
              <a:t> = </a:t>
            </a:r>
            <a:r>
              <a:rPr lang="en-US" sz="2800" b="0" dirty="0" err="1">
                <a:solidFill>
                  <a:srgbClr val="000000"/>
                </a:solidFill>
                <a:effectLst/>
                <a:latin typeface="Courier New" panose="02070309020205020404" pitchFamily="49" charset="0"/>
              </a:rPr>
              <a:t>pd.merge</a:t>
            </a:r>
            <a:r>
              <a:rPr lang="en-US" sz="2800" b="0" dirty="0">
                <a:solidFill>
                  <a:srgbClr val="000000"/>
                </a:solidFill>
                <a:effectLst/>
                <a:latin typeface="Courier New" panose="02070309020205020404" pitchFamily="49" charset="0"/>
              </a:rPr>
              <a:t>(</a:t>
            </a:r>
          </a:p>
          <a:p>
            <a:pPr>
              <a:buNone/>
            </a:pPr>
            <a:r>
              <a:rPr lang="en-US" sz="2800" b="0" dirty="0">
                <a:solidFill>
                  <a:srgbClr val="000000"/>
                </a:solidFill>
                <a:effectLst/>
                <a:latin typeface="Courier New" panose="02070309020205020404" pitchFamily="49" charset="0"/>
              </a:rPr>
              <a:t>    students,</a:t>
            </a:r>
          </a:p>
          <a:p>
            <a:pPr>
              <a:buNone/>
            </a:pPr>
            <a:r>
              <a:rPr lang="en-US" sz="2800" b="0" dirty="0">
                <a:solidFill>
                  <a:srgbClr val="000000"/>
                </a:solidFill>
                <a:effectLst/>
                <a:latin typeface="Courier New" panose="02070309020205020404" pitchFamily="49" charset="0"/>
              </a:rPr>
              <a:t>    grades,</a:t>
            </a:r>
          </a:p>
          <a:p>
            <a:pPr>
              <a:buNone/>
            </a:pPr>
            <a:r>
              <a:rPr lang="en-US" sz="2800" b="0" dirty="0">
                <a:solidFill>
                  <a:srgbClr val="000000"/>
                </a:solidFill>
                <a:effectLst/>
                <a:latin typeface="Courier New" panose="02070309020205020404" pitchFamily="49" charset="0"/>
              </a:rPr>
              <a:t>    on=</a:t>
            </a:r>
            <a:r>
              <a:rPr lang="en-US" sz="2800" b="0" dirty="0">
                <a:solidFill>
                  <a:srgbClr val="A31515"/>
                </a:solidFill>
                <a:effectLst/>
                <a:latin typeface="Courier New" panose="02070309020205020404" pitchFamily="49" charset="0"/>
              </a:rPr>
              <a:t>"</a:t>
            </a:r>
            <a:r>
              <a:rPr lang="en-US" sz="2800" b="0" dirty="0" err="1">
                <a:solidFill>
                  <a:srgbClr val="A31515"/>
                </a:solidFill>
                <a:effectLst/>
                <a:latin typeface="Courier New" panose="02070309020205020404" pitchFamily="49" charset="0"/>
              </a:rPr>
              <a:t>student_id</a:t>
            </a:r>
            <a:r>
              <a:rPr lang="en-US" sz="2800" b="0" dirty="0">
                <a:solidFill>
                  <a:srgbClr val="A31515"/>
                </a:solidFill>
                <a:effectLst/>
                <a:latin typeface="Courier New" panose="02070309020205020404" pitchFamily="49" charset="0"/>
              </a:rPr>
              <a:t>"</a:t>
            </a:r>
            <a:r>
              <a:rPr lang="en-US" sz="2800" b="0" dirty="0">
                <a:solidFill>
                  <a:srgbClr val="000000"/>
                </a:solidFill>
                <a:effectLst/>
                <a:latin typeface="Courier New" panose="02070309020205020404" pitchFamily="49" charset="0"/>
              </a:rPr>
              <a:t>,</a:t>
            </a:r>
          </a:p>
          <a:p>
            <a:pPr>
              <a:buNone/>
            </a:pPr>
            <a:r>
              <a:rPr lang="en-US" sz="2800" b="0" dirty="0">
                <a:solidFill>
                  <a:srgbClr val="000000"/>
                </a:solidFill>
                <a:effectLst/>
                <a:latin typeface="Courier New" panose="02070309020205020404" pitchFamily="49" charset="0"/>
              </a:rPr>
              <a:t>    how=</a:t>
            </a:r>
            <a:r>
              <a:rPr lang="en-US" sz="2800" b="0" dirty="0">
                <a:solidFill>
                  <a:srgbClr val="A31515"/>
                </a:solidFill>
                <a:effectLst/>
                <a:latin typeface="Courier New" panose="02070309020205020404" pitchFamily="49" charset="0"/>
              </a:rPr>
              <a:t>"outer"</a:t>
            </a:r>
            <a:r>
              <a:rPr lang="en-US" sz="2800" b="0" dirty="0">
                <a:solidFill>
                  <a:srgbClr val="000000"/>
                </a:solidFill>
                <a:effectLst/>
                <a:latin typeface="Courier New" panose="02070309020205020404" pitchFamily="49" charset="0"/>
              </a:rPr>
              <a:t>,</a:t>
            </a:r>
          </a:p>
          <a:p>
            <a:pPr>
              <a:buNone/>
            </a:pPr>
            <a:r>
              <a:rPr lang="en-US" sz="2800" b="0" dirty="0">
                <a:solidFill>
                  <a:srgbClr val="000000"/>
                </a:solidFill>
                <a:effectLst/>
                <a:latin typeface="Courier New" panose="02070309020205020404" pitchFamily="49" charset="0"/>
              </a:rPr>
              <a:t>    indicator=</a:t>
            </a:r>
            <a:r>
              <a:rPr lang="en-US" sz="2800" b="0" dirty="0">
                <a:solidFill>
                  <a:srgbClr val="0000FF"/>
                </a:solidFill>
                <a:effectLst/>
                <a:latin typeface="Courier New" panose="02070309020205020404" pitchFamily="49" charset="0"/>
              </a:rPr>
              <a:t>True</a:t>
            </a:r>
            <a:endParaRPr lang="en-US" sz="2800" b="0" dirty="0">
              <a:solidFill>
                <a:srgbClr val="000000"/>
              </a:solidFill>
              <a:effectLst/>
              <a:latin typeface="Courier New" panose="02070309020205020404" pitchFamily="49" charset="0"/>
            </a:endParaRPr>
          </a:p>
          <a:p>
            <a:pPr>
              <a:buNone/>
            </a:pPr>
            <a:r>
              <a:rPr lang="en-US" sz="2800" b="0" dirty="0">
                <a:solidFill>
                  <a:srgbClr val="000000"/>
                </a:solidFill>
                <a:effectLst/>
                <a:latin typeface="Courier New" panose="02070309020205020404" pitchFamily="49" charset="0"/>
              </a:rPr>
              <a:t>)</a:t>
            </a:r>
          </a:p>
          <a:p>
            <a:pPr>
              <a:buNone/>
            </a:pPr>
            <a:r>
              <a:rPr lang="en-US" sz="2800" b="0" dirty="0" err="1">
                <a:solidFill>
                  <a:srgbClr val="000000"/>
                </a:solidFill>
                <a:effectLst/>
                <a:latin typeface="Courier New" panose="02070309020205020404" pitchFamily="49" charset="0"/>
              </a:rPr>
              <a:t>outer_result.head</a:t>
            </a:r>
            <a:r>
              <a:rPr lang="en-US" sz="28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41191093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16B28-C8BE-4336-48AA-E83BBB7E749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F004BC-5637-776D-01C7-E42747FD4CBE}"/>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A1962979-3C08-30D2-C8E7-2BFF352119C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153C4F58-23EA-ADA1-824C-47E097230CE7}"/>
              </a:ext>
            </a:extLst>
          </p:cNvPr>
          <p:cNvPicPr>
            <a:picLocks noChangeAspect="1"/>
          </p:cNvPicPr>
          <p:nvPr/>
        </p:nvPicPr>
        <p:blipFill>
          <a:blip r:embed="rId2"/>
          <a:srcRect l="9310" t="46067" r="14253" b="33499"/>
          <a:stretch>
            <a:fillRect/>
          </a:stretch>
        </p:blipFill>
        <p:spPr>
          <a:xfrm>
            <a:off x="-21123" y="1295400"/>
            <a:ext cx="9191040" cy="1382110"/>
          </a:xfrm>
          <a:prstGeom prst="rect">
            <a:avLst/>
          </a:prstGeom>
        </p:spPr>
      </p:pic>
      <p:sp>
        <p:nvSpPr>
          <p:cNvPr id="15" name="TextBox 14">
            <a:extLst>
              <a:ext uri="{FF2B5EF4-FFF2-40B4-BE49-F238E27FC236}">
                <a16:creationId xmlns:a16="http://schemas.microsoft.com/office/drawing/2014/main" id="{04F2AF65-0F0D-A030-639D-9FB9BE2968D9}"/>
              </a:ext>
            </a:extLst>
          </p:cNvPr>
          <p:cNvSpPr txBox="1"/>
          <p:nvPr/>
        </p:nvSpPr>
        <p:spPr>
          <a:xfrm>
            <a:off x="-23751" y="3048000"/>
            <a:ext cx="9046882" cy="1964512"/>
          </a:xfrm>
          <a:prstGeom prst="rect">
            <a:avLst/>
          </a:prstGeom>
          <a:noFill/>
        </p:spPr>
        <p:txBody>
          <a:bodyPr wrap="square">
            <a:spAutoFit/>
          </a:bodyPr>
          <a:lstStyle/>
          <a:p>
            <a:pPr>
              <a:lnSpc>
                <a:spcPct val="150000"/>
              </a:lnSpc>
              <a:buNone/>
            </a:pPr>
            <a:r>
              <a:rPr lang="en-US" sz="2800" dirty="0">
                <a:latin typeface="+mj-lt"/>
              </a:rPr>
              <a:t>Discussion:</a:t>
            </a:r>
          </a:p>
          <a:p>
            <a:pPr>
              <a:lnSpc>
                <a:spcPct val="150000"/>
              </a:lnSpc>
              <a:buNone/>
            </a:pPr>
            <a:r>
              <a:rPr lang="en-US" sz="2800" dirty="0">
                <a:latin typeface="+mj-lt"/>
              </a:rPr>
              <a:t>An outer join is useful for finding records that exist in one table but not the other.</a:t>
            </a:r>
          </a:p>
        </p:txBody>
      </p:sp>
    </p:spTree>
    <p:extLst>
      <p:ext uri="{BB962C8B-B14F-4D97-AF65-F5344CB8AC3E}">
        <p14:creationId xmlns:p14="http://schemas.microsoft.com/office/powerpoint/2010/main" val="29212205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B0CA4-298A-B770-DD57-8F2C4C5B06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B6FE6B-E94C-8422-E81A-2069A151C72C}"/>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9A363CB7-43B9-72EF-60A0-EB7127006379}"/>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9" name="TextBox 8">
            <a:extLst>
              <a:ext uri="{FF2B5EF4-FFF2-40B4-BE49-F238E27FC236}">
                <a16:creationId xmlns:a16="http://schemas.microsoft.com/office/drawing/2014/main" id="{D77679BB-D507-BAD3-678F-62D54250B384}"/>
              </a:ext>
            </a:extLst>
          </p:cNvPr>
          <p:cNvSpPr txBox="1"/>
          <p:nvPr/>
        </p:nvSpPr>
        <p:spPr>
          <a:xfrm>
            <a:off x="0" y="1742068"/>
            <a:ext cx="6836979" cy="671851"/>
          </a:xfrm>
          <a:prstGeom prst="rect">
            <a:avLst/>
          </a:prstGeom>
          <a:noFill/>
        </p:spPr>
        <p:txBody>
          <a:bodyPr wrap="square">
            <a:spAutoFit/>
          </a:bodyPr>
          <a:lstStyle/>
          <a:p>
            <a:pPr>
              <a:lnSpc>
                <a:spcPct val="150000"/>
              </a:lnSpc>
            </a:pPr>
            <a:r>
              <a:rPr lang="en-US" sz="2800" dirty="0">
                <a:latin typeface="+mj-lt"/>
              </a:rPr>
              <a:t>Check where each row came from:</a:t>
            </a:r>
          </a:p>
        </p:txBody>
      </p:sp>
      <p:sp>
        <p:nvSpPr>
          <p:cNvPr id="11" name="TextBox 10">
            <a:extLst>
              <a:ext uri="{FF2B5EF4-FFF2-40B4-BE49-F238E27FC236}">
                <a16:creationId xmlns:a16="http://schemas.microsoft.com/office/drawing/2014/main" id="{A1E7AA32-CC27-EEA4-FF31-EAEBC1D7A6D0}"/>
              </a:ext>
            </a:extLst>
          </p:cNvPr>
          <p:cNvSpPr txBox="1"/>
          <p:nvPr/>
        </p:nvSpPr>
        <p:spPr>
          <a:xfrm>
            <a:off x="0" y="2413919"/>
            <a:ext cx="9017876" cy="523220"/>
          </a:xfrm>
          <a:prstGeom prst="rect">
            <a:avLst/>
          </a:prstGeom>
          <a:noFill/>
        </p:spPr>
        <p:txBody>
          <a:bodyPr wrap="square">
            <a:spAutoFit/>
          </a:bodyPr>
          <a:lstStyle/>
          <a:p>
            <a:pPr>
              <a:buNone/>
            </a:pPr>
            <a:r>
              <a:rPr lang="en-US" sz="2800" b="0" dirty="0" err="1">
                <a:solidFill>
                  <a:srgbClr val="000000"/>
                </a:solidFill>
                <a:effectLst/>
                <a:latin typeface="Courier New" panose="02070309020205020404" pitchFamily="49" charset="0"/>
              </a:rPr>
              <a:t>outer_result</a:t>
            </a:r>
            <a:r>
              <a:rPr lang="en-US" sz="2800" b="0" dirty="0">
                <a:solidFill>
                  <a:srgbClr val="000000"/>
                </a:solidFill>
                <a:effectLst/>
                <a:latin typeface="Courier New" panose="02070309020205020404" pitchFamily="49" charset="0"/>
              </a:rPr>
              <a:t>[</a:t>
            </a:r>
            <a:r>
              <a:rPr lang="en-US" sz="2800" b="0" dirty="0">
                <a:solidFill>
                  <a:srgbClr val="A31515"/>
                </a:solidFill>
                <a:effectLst/>
                <a:latin typeface="Courier New" panose="02070309020205020404" pitchFamily="49" charset="0"/>
              </a:rPr>
              <a:t>"_merge"</a:t>
            </a:r>
            <a:r>
              <a:rPr lang="en-US" sz="2800" b="0" dirty="0">
                <a:solidFill>
                  <a:srgbClr val="000000"/>
                </a:solidFill>
                <a:effectLst/>
                <a:latin typeface="Courier New" panose="02070309020205020404" pitchFamily="49" charset="0"/>
              </a:rPr>
              <a:t>].</a:t>
            </a:r>
            <a:r>
              <a:rPr lang="en-US" sz="2800" b="0" dirty="0" err="1">
                <a:solidFill>
                  <a:srgbClr val="000000"/>
                </a:solidFill>
                <a:effectLst/>
                <a:latin typeface="Courier New" panose="02070309020205020404" pitchFamily="49" charset="0"/>
              </a:rPr>
              <a:t>value_counts</a:t>
            </a:r>
            <a:r>
              <a:rPr lang="en-US" sz="2800" b="0" dirty="0">
                <a:solidFill>
                  <a:srgbClr val="000000"/>
                </a:solidFill>
                <a:effectLst/>
                <a:latin typeface="Courier New" panose="02070309020205020404" pitchFamily="49" charset="0"/>
              </a:rPr>
              <a:t>()</a:t>
            </a:r>
          </a:p>
        </p:txBody>
      </p:sp>
      <p:pic>
        <p:nvPicPr>
          <p:cNvPr id="13" name="Picture 12">
            <a:extLst>
              <a:ext uri="{FF2B5EF4-FFF2-40B4-BE49-F238E27FC236}">
                <a16:creationId xmlns:a16="http://schemas.microsoft.com/office/drawing/2014/main" id="{32840CB1-0D6B-B6A1-7A7F-94036A5B9DF4}"/>
              </a:ext>
            </a:extLst>
          </p:cNvPr>
          <p:cNvPicPr>
            <a:picLocks noChangeAspect="1"/>
          </p:cNvPicPr>
          <p:nvPr/>
        </p:nvPicPr>
        <p:blipFill>
          <a:blip r:embed="rId2"/>
          <a:srcRect l="6039" t="40616" r="70000" b="30741"/>
          <a:stretch>
            <a:fillRect/>
          </a:stretch>
        </p:blipFill>
        <p:spPr>
          <a:xfrm>
            <a:off x="0" y="3085769"/>
            <a:ext cx="4120974" cy="2771097"/>
          </a:xfrm>
          <a:prstGeom prst="rect">
            <a:avLst/>
          </a:prstGeom>
        </p:spPr>
      </p:pic>
    </p:spTree>
    <p:extLst>
      <p:ext uri="{BB962C8B-B14F-4D97-AF65-F5344CB8AC3E}">
        <p14:creationId xmlns:p14="http://schemas.microsoft.com/office/powerpoint/2010/main" val="39865702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8FED-3172-6917-BC6B-A4F97CA045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5489C9E-7497-CE60-E07B-D95906D6E355}"/>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26E8F038-9084-1DA9-0883-BEE1AEB65FC2}"/>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93F3184E-CBDE-8DFE-2099-4B23F52C8C0F}"/>
              </a:ext>
            </a:extLst>
          </p:cNvPr>
          <p:cNvSpPr txBox="1"/>
          <p:nvPr/>
        </p:nvSpPr>
        <p:spPr>
          <a:xfrm>
            <a:off x="0" y="1219201"/>
            <a:ext cx="8996854" cy="1318181"/>
          </a:xfrm>
          <a:prstGeom prst="rect">
            <a:avLst/>
          </a:prstGeom>
          <a:noFill/>
        </p:spPr>
        <p:txBody>
          <a:bodyPr wrap="square">
            <a:spAutoFit/>
          </a:bodyPr>
          <a:lstStyle/>
          <a:p>
            <a:pPr>
              <a:lnSpc>
                <a:spcPct val="150000"/>
              </a:lnSpc>
              <a:buNone/>
            </a:pPr>
            <a:r>
              <a:rPr lang="en-US" sz="2800" b="1" dirty="0">
                <a:latin typeface="+mj-lt"/>
              </a:rPr>
              <a:t>Task 7: Merge with Different Column Names</a:t>
            </a:r>
          </a:p>
          <a:p>
            <a:pPr>
              <a:lnSpc>
                <a:spcPct val="150000"/>
              </a:lnSpc>
              <a:buNone/>
            </a:pPr>
            <a:r>
              <a:rPr lang="en-US" sz="2800" dirty="0">
                <a:latin typeface="+mj-lt"/>
              </a:rPr>
              <a:t>Rename the key column in the grades table.</a:t>
            </a:r>
          </a:p>
        </p:txBody>
      </p:sp>
      <p:sp>
        <p:nvSpPr>
          <p:cNvPr id="8" name="TextBox 7">
            <a:extLst>
              <a:ext uri="{FF2B5EF4-FFF2-40B4-BE49-F238E27FC236}">
                <a16:creationId xmlns:a16="http://schemas.microsoft.com/office/drawing/2014/main" id="{5BC862C4-51DD-E913-3C10-1D92500E6414}"/>
              </a:ext>
            </a:extLst>
          </p:cNvPr>
          <p:cNvSpPr txBox="1"/>
          <p:nvPr/>
        </p:nvSpPr>
        <p:spPr>
          <a:xfrm>
            <a:off x="0" y="2730009"/>
            <a:ext cx="9144000" cy="3477875"/>
          </a:xfrm>
          <a:prstGeom prst="rect">
            <a:avLst/>
          </a:prstGeom>
          <a:noFill/>
        </p:spPr>
        <p:txBody>
          <a:bodyPr wrap="square">
            <a:spAutoFit/>
          </a:bodyPr>
          <a:lstStyle/>
          <a:p>
            <a:pPr>
              <a:buNone/>
            </a:pPr>
            <a:r>
              <a:rPr lang="en-US" sz="2200" b="0" dirty="0">
                <a:solidFill>
                  <a:srgbClr val="000000"/>
                </a:solidFill>
                <a:effectLst/>
                <a:latin typeface="Courier New" panose="02070309020205020404" pitchFamily="49" charset="0"/>
              </a:rPr>
              <a:t>grades2 = </a:t>
            </a:r>
            <a:r>
              <a:rPr lang="en-US" sz="2200" b="0" dirty="0" err="1">
                <a:solidFill>
                  <a:srgbClr val="000000"/>
                </a:solidFill>
                <a:effectLst/>
                <a:latin typeface="Courier New" panose="02070309020205020404" pitchFamily="49" charset="0"/>
              </a:rPr>
              <a:t>grades.rename</a:t>
            </a:r>
            <a:r>
              <a:rPr lang="en-US" sz="2200" b="0" dirty="0">
                <a:solidFill>
                  <a:srgbClr val="000000"/>
                </a:solidFill>
                <a:effectLst/>
                <a:latin typeface="Courier New" panose="02070309020205020404" pitchFamily="49" charset="0"/>
              </a:rPr>
              <a:t>(columns={</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 </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grade_student_id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merged_diff_keys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grades2,</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left_on</a:t>
            </a:r>
            <a:r>
              <a:rPr lang="en-US" sz="2200" b="0" dirty="0">
                <a:solidFill>
                  <a:srgbClr val="000000"/>
                </a:solidFill>
                <a:effectLst/>
                <a:latin typeface="Courier New" panose="02070309020205020404" pitchFamily="49" charset="0"/>
              </a:rPr>
              <a:t>=</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right_on</a:t>
            </a:r>
            <a:r>
              <a:rPr lang="en-US" sz="2200" b="0" dirty="0">
                <a:solidFill>
                  <a:srgbClr val="000000"/>
                </a:solidFill>
                <a:effectLst/>
                <a:latin typeface="Courier New" panose="02070309020205020404" pitchFamily="49" charset="0"/>
              </a:rPr>
              <a:t>=</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grade_student_id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merged_diff_keys.head</a:t>
            </a:r>
            <a:r>
              <a:rPr lang="en-US" sz="22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1073616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CCE4-8169-72AD-00C4-EDD56C33818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DF1DF4-CD39-F7C7-ED39-D7A2DCA5323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09665E6F-6E96-0412-8CB4-83DAE47899EA}"/>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9C7F2D3C-7256-8EBA-6BD4-71194F61E6D8}"/>
              </a:ext>
            </a:extLst>
          </p:cNvPr>
          <p:cNvPicPr>
            <a:picLocks noChangeAspect="1"/>
          </p:cNvPicPr>
          <p:nvPr/>
        </p:nvPicPr>
        <p:blipFill>
          <a:blip r:embed="rId2"/>
          <a:srcRect l="9167" t="58889" r="10000" b="18378"/>
          <a:stretch>
            <a:fillRect/>
          </a:stretch>
        </p:blipFill>
        <p:spPr>
          <a:xfrm>
            <a:off x="0" y="2703610"/>
            <a:ext cx="9170880" cy="1450779"/>
          </a:xfrm>
          <a:prstGeom prst="rect">
            <a:avLst/>
          </a:prstGeom>
        </p:spPr>
      </p:pic>
    </p:spTree>
    <p:extLst>
      <p:ext uri="{BB962C8B-B14F-4D97-AF65-F5344CB8AC3E}">
        <p14:creationId xmlns:p14="http://schemas.microsoft.com/office/powerpoint/2010/main" val="13667650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9547E-3D09-FECF-F48E-CF6C6C22F4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B9C5D40-A25F-7847-E667-6C4854E9BF77}"/>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1C8C9E5A-8812-6C22-E9F4-9B73B203A54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77837C74-9107-A670-805F-D9915596E1D8}"/>
              </a:ext>
            </a:extLst>
          </p:cNvPr>
          <p:cNvSpPr txBox="1"/>
          <p:nvPr/>
        </p:nvSpPr>
        <p:spPr>
          <a:xfrm>
            <a:off x="-23751" y="1026574"/>
            <a:ext cx="8996854" cy="1318181"/>
          </a:xfrm>
          <a:prstGeom prst="rect">
            <a:avLst/>
          </a:prstGeom>
          <a:noFill/>
        </p:spPr>
        <p:txBody>
          <a:bodyPr wrap="square">
            <a:spAutoFit/>
          </a:bodyPr>
          <a:lstStyle/>
          <a:p>
            <a:pPr>
              <a:lnSpc>
                <a:spcPct val="150000"/>
              </a:lnSpc>
            </a:pPr>
            <a:r>
              <a:rPr lang="en-US" sz="2800" b="1" dirty="0">
                <a:latin typeface="+mj-lt"/>
              </a:rPr>
              <a:t>Task 8: Merge Three Datasets</a:t>
            </a:r>
          </a:p>
          <a:p>
            <a:pPr>
              <a:lnSpc>
                <a:spcPct val="150000"/>
              </a:lnSpc>
            </a:pPr>
            <a:r>
              <a:rPr lang="en-US" sz="2800" dirty="0">
                <a:latin typeface="+mj-lt"/>
              </a:rPr>
              <a:t>Merge students, grades, and subjects.</a:t>
            </a:r>
          </a:p>
        </p:txBody>
      </p:sp>
      <p:sp>
        <p:nvSpPr>
          <p:cNvPr id="7" name="TextBox 6">
            <a:extLst>
              <a:ext uri="{FF2B5EF4-FFF2-40B4-BE49-F238E27FC236}">
                <a16:creationId xmlns:a16="http://schemas.microsoft.com/office/drawing/2014/main" id="{069BB36F-BCFA-EE8C-684C-915BE60931F3}"/>
              </a:ext>
            </a:extLst>
          </p:cNvPr>
          <p:cNvSpPr txBox="1"/>
          <p:nvPr/>
        </p:nvSpPr>
        <p:spPr>
          <a:xfrm>
            <a:off x="21021" y="2432279"/>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FF7A5EA2-5C1D-D4EE-728C-CA9F67CCB32A}"/>
              </a:ext>
            </a:extLst>
          </p:cNvPr>
          <p:cNvSpPr txBox="1"/>
          <p:nvPr/>
        </p:nvSpPr>
        <p:spPr>
          <a:xfrm>
            <a:off x="4913586" y="2432279"/>
            <a:ext cx="4246179" cy="4072269"/>
          </a:xfrm>
          <a:prstGeom prst="rect">
            <a:avLst/>
          </a:prstGeom>
          <a:noFill/>
          <a:ln>
            <a:solidFill>
              <a:srgbClr val="FF0000"/>
            </a:solidFill>
          </a:ln>
        </p:spPr>
        <p:txBody>
          <a:bodyPr wrap="square">
            <a:spAutoFit/>
          </a:bodyPr>
          <a:lstStyle/>
          <a:p>
            <a:pPr>
              <a:lnSpc>
                <a:spcPct val="150000"/>
              </a:lnSpc>
              <a:buNone/>
            </a:pPr>
            <a:r>
              <a:rPr lang="en-US" sz="2500" dirty="0">
                <a:latin typeface="+mj-lt"/>
              </a:rPr>
              <a:t>This code joins the students table with the grades table.</a:t>
            </a:r>
          </a:p>
          <a:p>
            <a:pPr marL="342900" indent="-342900">
              <a:lnSpc>
                <a:spcPct val="150000"/>
              </a:lnSpc>
              <a:buFont typeface="Arial" panose="020B0604020202020204" pitchFamily="34" charset="0"/>
              <a:buChar char="•"/>
            </a:pPr>
            <a:r>
              <a:rPr lang="en-US" sz="2500" dirty="0">
                <a:latin typeface="+mj-lt"/>
              </a:rPr>
              <a:t>students → contains student details such as name, campus, and school. </a:t>
            </a:r>
          </a:p>
          <a:p>
            <a:pPr marL="342900" indent="-342900">
              <a:lnSpc>
                <a:spcPct val="150000"/>
              </a:lnSpc>
              <a:buFont typeface="Arial" panose="020B0604020202020204" pitchFamily="34" charset="0"/>
              <a:buChar char="•"/>
            </a:pPr>
            <a:r>
              <a:rPr lang="en-US" sz="2500" dirty="0">
                <a:latin typeface="+mj-lt"/>
              </a:rPr>
              <a:t>grades → contains subject marks and grades.</a:t>
            </a:r>
          </a:p>
        </p:txBody>
      </p:sp>
    </p:spTree>
    <p:extLst>
      <p:ext uri="{BB962C8B-B14F-4D97-AF65-F5344CB8AC3E}">
        <p14:creationId xmlns:p14="http://schemas.microsoft.com/office/powerpoint/2010/main" val="13923592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3749-0C39-C8DA-D5F7-DFD599DED8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B5CE0F-4A43-A236-EAA2-2C76583F4B49}"/>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76DC9F43-F6B3-3C61-1C88-E8CEDEBEEA5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CA321EAD-CD5B-78D5-D0F7-30ECC00ECC9B}"/>
              </a:ext>
            </a:extLst>
          </p:cNvPr>
          <p:cNvSpPr txBox="1"/>
          <p:nvPr/>
        </p:nvSpPr>
        <p:spPr>
          <a:xfrm>
            <a:off x="-23751" y="1026574"/>
            <a:ext cx="8996854" cy="1318181"/>
          </a:xfrm>
          <a:prstGeom prst="rect">
            <a:avLst/>
          </a:prstGeom>
          <a:noFill/>
        </p:spPr>
        <p:txBody>
          <a:bodyPr wrap="square">
            <a:spAutoFit/>
          </a:bodyPr>
          <a:lstStyle/>
          <a:p>
            <a:pPr>
              <a:lnSpc>
                <a:spcPct val="150000"/>
              </a:lnSpc>
            </a:pPr>
            <a:r>
              <a:rPr lang="en-US" sz="2800" b="1" dirty="0">
                <a:latin typeface="+mj-lt"/>
              </a:rPr>
              <a:t>Task 8: Merge Three Datasets</a:t>
            </a:r>
          </a:p>
          <a:p>
            <a:pPr>
              <a:lnSpc>
                <a:spcPct val="150000"/>
              </a:lnSpc>
            </a:pPr>
            <a:r>
              <a:rPr lang="en-US" sz="2800" dirty="0">
                <a:latin typeface="+mj-lt"/>
              </a:rPr>
              <a:t>Merge students, grades, and subjects.</a:t>
            </a:r>
          </a:p>
        </p:txBody>
      </p:sp>
      <p:sp>
        <p:nvSpPr>
          <p:cNvPr id="7" name="TextBox 6">
            <a:extLst>
              <a:ext uri="{FF2B5EF4-FFF2-40B4-BE49-F238E27FC236}">
                <a16:creationId xmlns:a16="http://schemas.microsoft.com/office/drawing/2014/main" id="{E7F62C87-037F-C2BA-844E-9667392431B1}"/>
              </a:ext>
            </a:extLst>
          </p:cNvPr>
          <p:cNvSpPr txBox="1"/>
          <p:nvPr/>
        </p:nvSpPr>
        <p:spPr>
          <a:xfrm>
            <a:off x="21021" y="2432279"/>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D3178178-823E-CA92-40E0-D41376D7D8A5}"/>
              </a:ext>
            </a:extLst>
          </p:cNvPr>
          <p:cNvSpPr txBox="1"/>
          <p:nvPr/>
        </p:nvSpPr>
        <p:spPr>
          <a:xfrm>
            <a:off x="4913586" y="2432279"/>
            <a:ext cx="4246179" cy="3257174"/>
          </a:xfrm>
          <a:prstGeom prst="rect">
            <a:avLst/>
          </a:prstGeom>
          <a:noFill/>
          <a:ln>
            <a:solidFill>
              <a:srgbClr val="FF0000"/>
            </a:solidFill>
          </a:ln>
        </p:spPr>
        <p:txBody>
          <a:bodyPr wrap="square">
            <a:spAutoFit/>
          </a:bodyPr>
          <a:lstStyle/>
          <a:p>
            <a:pPr rtl="0">
              <a:lnSpc>
                <a:spcPct val="150000"/>
              </a:lnSpc>
            </a:pPr>
            <a:r>
              <a:rPr lang="en-US" sz="2800" dirty="0">
                <a:latin typeface="+mj-lt"/>
              </a:rPr>
              <a:t>on="</a:t>
            </a:r>
            <a:r>
              <a:rPr lang="en-US" sz="2800" dirty="0" err="1">
                <a:latin typeface="+mj-lt"/>
              </a:rPr>
              <a:t>student_id</a:t>
            </a:r>
            <a:r>
              <a:rPr lang="en-US" sz="2800" dirty="0">
                <a:latin typeface="+mj-lt"/>
              </a:rPr>
              <a:t>"</a:t>
            </a:r>
          </a:p>
          <a:p>
            <a:pPr>
              <a:lnSpc>
                <a:spcPct val="150000"/>
              </a:lnSpc>
            </a:pPr>
            <a:r>
              <a:rPr lang="en-US" sz="2800" dirty="0">
                <a:latin typeface="+mj-lt"/>
              </a:rPr>
              <a:t>This tells Python:</a:t>
            </a:r>
          </a:p>
          <a:p>
            <a:pPr>
              <a:lnSpc>
                <a:spcPct val="150000"/>
              </a:lnSpc>
            </a:pPr>
            <a:r>
              <a:rPr lang="en-US" sz="2800" dirty="0">
                <a:latin typeface="+mj-lt"/>
              </a:rPr>
              <a:t>“Use the </a:t>
            </a:r>
            <a:r>
              <a:rPr lang="en-US" sz="2800" dirty="0" err="1">
                <a:latin typeface="+mj-lt"/>
              </a:rPr>
              <a:t>student_id</a:t>
            </a:r>
            <a:r>
              <a:rPr lang="en-US" sz="2800" dirty="0">
                <a:latin typeface="+mj-lt"/>
              </a:rPr>
              <a:t> column to match rows between the two tables.”</a:t>
            </a:r>
          </a:p>
        </p:txBody>
      </p:sp>
    </p:spTree>
    <p:extLst>
      <p:ext uri="{BB962C8B-B14F-4D97-AF65-F5344CB8AC3E}">
        <p14:creationId xmlns:p14="http://schemas.microsoft.com/office/powerpoint/2010/main" val="11071922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697C4-3EFD-89A2-0EB2-17FB34DEFAA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1CEF70-6DEE-F27A-A07E-9E8FD2B3AC2F}"/>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8A4E3FDA-5B2E-1342-3085-BE4A30B83EF3}"/>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852D2082-F456-FCD6-2D9C-55A54E1295AC}"/>
              </a:ext>
            </a:extLst>
          </p:cNvPr>
          <p:cNvSpPr txBox="1"/>
          <p:nvPr/>
        </p:nvSpPr>
        <p:spPr>
          <a:xfrm>
            <a:off x="-23751" y="1026574"/>
            <a:ext cx="8996854" cy="1318181"/>
          </a:xfrm>
          <a:prstGeom prst="rect">
            <a:avLst/>
          </a:prstGeom>
          <a:noFill/>
        </p:spPr>
        <p:txBody>
          <a:bodyPr wrap="square">
            <a:spAutoFit/>
          </a:bodyPr>
          <a:lstStyle/>
          <a:p>
            <a:pPr>
              <a:lnSpc>
                <a:spcPct val="150000"/>
              </a:lnSpc>
            </a:pPr>
            <a:r>
              <a:rPr lang="en-US" sz="2800" b="1" dirty="0">
                <a:latin typeface="+mj-lt"/>
              </a:rPr>
              <a:t>Task 8: Merge Three Datasets</a:t>
            </a:r>
          </a:p>
          <a:p>
            <a:pPr>
              <a:lnSpc>
                <a:spcPct val="150000"/>
              </a:lnSpc>
            </a:pPr>
            <a:r>
              <a:rPr lang="en-US" sz="2800" dirty="0">
                <a:latin typeface="+mj-lt"/>
              </a:rPr>
              <a:t>Merge students, grades, and subjects.</a:t>
            </a:r>
          </a:p>
        </p:txBody>
      </p:sp>
      <p:sp>
        <p:nvSpPr>
          <p:cNvPr id="7" name="TextBox 6">
            <a:extLst>
              <a:ext uri="{FF2B5EF4-FFF2-40B4-BE49-F238E27FC236}">
                <a16:creationId xmlns:a16="http://schemas.microsoft.com/office/drawing/2014/main" id="{0850DAD1-915F-6A4B-E491-0EA57484FF54}"/>
              </a:ext>
            </a:extLst>
          </p:cNvPr>
          <p:cNvSpPr txBox="1"/>
          <p:nvPr/>
        </p:nvSpPr>
        <p:spPr>
          <a:xfrm>
            <a:off x="21021" y="2432279"/>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109D4777-A2D8-6E15-3C75-294377234F1C}"/>
              </a:ext>
            </a:extLst>
          </p:cNvPr>
          <p:cNvSpPr txBox="1"/>
          <p:nvPr/>
        </p:nvSpPr>
        <p:spPr>
          <a:xfrm>
            <a:off x="4913586" y="2432279"/>
            <a:ext cx="4246179" cy="2610843"/>
          </a:xfrm>
          <a:prstGeom prst="rect">
            <a:avLst/>
          </a:prstGeom>
          <a:noFill/>
          <a:ln>
            <a:solidFill>
              <a:srgbClr val="FF0000"/>
            </a:solidFill>
          </a:ln>
        </p:spPr>
        <p:txBody>
          <a:bodyPr wrap="square">
            <a:spAutoFit/>
          </a:bodyPr>
          <a:lstStyle/>
          <a:p>
            <a:pPr>
              <a:lnSpc>
                <a:spcPct val="150000"/>
              </a:lnSpc>
            </a:pPr>
            <a:r>
              <a:rPr lang="en-US" sz="2800" dirty="0">
                <a:latin typeface="+mj-lt"/>
              </a:rPr>
              <a:t>So if a student has the same </a:t>
            </a:r>
            <a:r>
              <a:rPr lang="en-US" sz="2800" dirty="0" err="1">
                <a:latin typeface="+mj-lt"/>
              </a:rPr>
              <a:t>student_id</a:t>
            </a:r>
            <a:r>
              <a:rPr lang="en-US" sz="2800" dirty="0">
                <a:latin typeface="+mj-lt"/>
              </a:rPr>
              <a:t> in both tables, their information gets combined together.</a:t>
            </a:r>
          </a:p>
        </p:txBody>
      </p:sp>
    </p:spTree>
    <p:extLst>
      <p:ext uri="{BB962C8B-B14F-4D97-AF65-F5344CB8AC3E}">
        <p14:creationId xmlns:p14="http://schemas.microsoft.com/office/powerpoint/2010/main" val="34325988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0ADE-2654-AE0A-254D-F510F28AC7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3F5AD3D-6339-A262-A1A5-A2DB9A1FD001}"/>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87EA4F20-19ED-F3C6-C6BF-1765793F265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114DE608-6AE6-19B2-7910-C50C6CFA9C59}"/>
              </a:ext>
            </a:extLst>
          </p:cNvPr>
          <p:cNvSpPr txBox="1"/>
          <p:nvPr/>
        </p:nvSpPr>
        <p:spPr>
          <a:xfrm>
            <a:off x="-23751" y="1026574"/>
            <a:ext cx="8996854" cy="1318181"/>
          </a:xfrm>
          <a:prstGeom prst="rect">
            <a:avLst/>
          </a:prstGeom>
          <a:noFill/>
        </p:spPr>
        <p:txBody>
          <a:bodyPr wrap="square">
            <a:spAutoFit/>
          </a:bodyPr>
          <a:lstStyle/>
          <a:p>
            <a:pPr>
              <a:lnSpc>
                <a:spcPct val="150000"/>
              </a:lnSpc>
            </a:pPr>
            <a:r>
              <a:rPr lang="en-US" sz="2800" b="1" dirty="0">
                <a:latin typeface="+mj-lt"/>
              </a:rPr>
              <a:t>Task 8: Merge Three Datasets</a:t>
            </a:r>
          </a:p>
          <a:p>
            <a:pPr>
              <a:lnSpc>
                <a:spcPct val="150000"/>
              </a:lnSpc>
            </a:pPr>
            <a:r>
              <a:rPr lang="en-US" sz="2800" dirty="0">
                <a:latin typeface="+mj-lt"/>
              </a:rPr>
              <a:t>Merge students, grades, and subjects.</a:t>
            </a:r>
          </a:p>
        </p:txBody>
      </p:sp>
      <p:sp>
        <p:nvSpPr>
          <p:cNvPr id="7" name="TextBox 6">
            <a:extLst>
              <a:ext uri="{FF2B5EF4-FFF2-40B4-BE49-F238E27FC236}">
                <a16:creationId xmlns:a16="http://schemas.microsoft.com/office/drawing/2014/main" id="{9345C63B-E23E-9881-F872-4D40550B47AC}"/>
              </a:ext>
            </a:extLst>
          </p:cNvPr>
          <p:cNvSpPr txBox="1"/>
          <p:nvPr/>
        </p:nvSpPr>
        <p:spPr>
          <a:xfrm>
            <a:off x="21021" y="2432279"/>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134C64D6-7B52-EA37-F159-ADD60C1C6CCC}"/>
              </a:ext>
            </a:extLst>
          </p:cNvPr>
          <p:cNvSpPr txBox="1"/>
          <p:nvPr/>
        </p:nvSpPr>
        <p:spPr>
          <a:xfrm>
            <a:off x="4913586" y="2432279"/>
            <a:ext cx="4246179" cy="4102533"/>
          </a:xfrm>
          <a:prstGeom prst="rect">
            <a:avLst/>
          </a:prstGeom>
          <a:noFill/>
          <a:ln>
            <a:solidFill>
              <a:srgbClr val="FF0000"/>
            </a:solidFill>
          </a:ln>
        </p:spPr>
        <p:txBody>
          <a:bodyPr wrap="square">
            <a:spAutoFit/>
          </a:bodyPr>
          <a:lstStyle/>
          <a:p>
            <a:pPr rtl="0">
              <a:lnSpc>
                <a:spcPct val="150000"/>
              </a:lnSpc>
            </a:pPr>
            <a:r>
              <a:rPr lang="en-US" sz="2200" dirty="0">
                <a:highlight>
                  <a:srgbClr val="FFFF00"/>
                </a:highlight>
                <a:latin typeface="+mj-lt"/>
              </a:rPr>
              <a:t>how="left“</a:t>
            </a:r>
          </a:p>
          <a:p>
            <a:pPr>
              <a:lnSpc>
                <a:spcPct val="150000"/>
              </a:lnSpc>
            </a:pPr>
            <a:r>
              <a:rPr lang="en-US" sz="2200" dirty="0">
                <a:latin typeface="+mj-lt"/>
              </a:rPr>
              <a:t>This means:</a:t>
            </a:r>
          </a:p>
          <a:p>
            <a:pPr>
              <a:lnSpc>
                <a:spcPct val="150000"/>
              </a:lnSpc>
            </a:pPr>
            <a:r>
              <a:rPr lang="en-US" sz="2200" dirty="0">
                <a:latin typeface="+mj-lt"/>
              </a:rPr>
              <a:t>“Keep ALL students from the left table (students), even if some students do not have grades.”</a:t>
            </a:r>
          </a:p>
          <a:p>
            <a:pPr>
              <a:lnSpc>
                <a:spcPct val="150000"/>
              </a:lnSpc>
            </a:pPr>
            <a:r>
              <a:rPr lang="en-US" sz="2200" dirty="0">
                <a:latin typeface="+mj-lt"/>
              </a:rPr>
              <a:t>If a student has no grade record, Python will show </a:t>
            </a:r>
            <a:r>
              <a:rPr lang="en-US" sz="2200" dirty="0" err="1">
                <a:latin typeface="+mj-lt"/>
              </a:rPr>
              <a:t>NaN</a:t>
            </a:r>
            <a:r>
              <a:rPr lang="en-US" sz="2200" dirty="0">
                <a:latin typeface="+mj-lt"/>
              </a:rPr>
              <a:t> (missing value).</a:t>
            </a:r>
          </a:p>
        </p:txBody>
      </p:sp>
    </p:spTree>
    <p:extLst>
      <p:ext uri="{BB962C8B-B14F-4D97-AF65-F5344CB8AC3E}">
        <p14:creationId xmlns:p14="http://schemas.microsoft.com/office/powerpoint/2010/main" val="139191157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BAE9D-3192-0DDF-5B44-E2E01D41B23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1A9F1E-0787-0699-CA37-2D46BEFAE600}"/>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6C307F2D-2F5C-C9F2-886C-DB176A74036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1" name="TextBox 10">
            <a:extLst>
              <a:ext uri="{FF2B5EF4-FFF2-40B4-BE49-F238E27FC236}">
                <a16:creationId xmlns:a16="http://schemas.microsoft.com/office/drawing/2014/main" id="{4C330FCA-77FD-61A0-EDBC-DA2E0B29AB1A}"/>
              </a:ext>
            </a:extLst>
          </p:cNvPr>
          <p:cNvSpPr txBox="1"/>
          <p:nvPr/>
        </p:nvSpPr>
        <p:spPr>
          <a:xfrm>
            <a:off x="0" y="1026574"/>
            <a:ext cx="4650826" cy="523220"/>
          </a:xfrm>
          <a:prstGeom prst="rect">
            <a:avLst/>
          </a:prstGeom>
          <a:noFill/>
        </p:spPr>
        <p:txBody>
          <a:bodyPr wrap="square">
            <a:spAutoFit/>
          </a:bodyPr>
          <a:lstStyle/>
          <a:p>
            <a:r>
              <a:rPr lang="en-US" sz="2800" dirty="0">
                <a:latin typeface="+mj-lt"/>
              </a:rPr>
              <a:t>Second Merge</a:t>
            </a:r>
          </a:p>
        </p:txBody>
      </p:sp>
      <p:sp>
        <p:nvSpPr>
          <p:cNvPr id="17" name="TextBox 16">
            <a:extLst>
              <a:ext uri="{FF2B5EF4-FFF2-40B4-BE49-F238E27FC236}">
                <a16:creationId xmlns:a16="http://schemas.microsoft.com/office/drawing/2014/main" id="{1805914B-0505-5A10-26E5-49D6D373D414}"/>
              </a:ext>
            </a:extLst>
          </p:cNvPr>
          <p:cNvSpPr txBox="1"/>
          <p:nvPr/>
        </p:nvSpPr>
        <p:spPr>
          <a:xfrm>
            <a:off x="0" y="1539836"/>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9" name="TextBox 18">
            <a:extLst>
              <a:ext uri="{FF2B5EF4-FFF2-40B4-BE49-F238E27FC236}">
                <a16:creationId xmlns:a16="http://schemas.microsoft.com/office/drawing/2014/main" id="{6B578737-894E-0E57-DFC7-5D7D904E5ECB}"/>
              </a:ext>
            </a:extLst>
          </p:cNvPr>
          <p:cNvSpPr txBox="1"/>
          <p:nvPr/>
        </p:nvSpPr>
        <p:spPr>
          <a:xfrm>
            <a:off x="4876800" y="1264536"/>
            <a:ext cx="4267200" cy="5626027"/>
          </a:xfrm>
          <a:prstGeom prst="rect">
            <a:avLst/>
          </a:prstGeom>
          <a:solidFill>
            <a:schemeClr val="bg1"/>
          </a:solidFill>
          <a:ln>
            <a:solidFill>
              <a:srgbClr val="FF0000"/>
            </a:solidFill>
          </a:ln>
        </p:spPr>
        <p:txBody>
          <a:bodyPr wrap="square">
            <a:spAutoFit/>
          </a:bodyPr>
          <a:lstStyle/>
          <a:p>
            <a:pPr>
              <a:lnSpc>
                <a:spcPct val="150000"/>
              </a:lnSpc>
              <a:buNone/>
            </a:pPr>
            <a:r>
              <a:rPr lang="en-US" sz="2200" dirty="0">
                <a:latin typeface="+mj-lt"/>
              </a:rPr>
              <a:t>Now we take the new merged table (</a:t>
            </a:r>
            <a:r>
              <a:rPr lang="en-US" sz="2200" dirty="0" err="1">
                <a:latin typeface="+mj-lt"/>
              </a:rPr>
              <a:t>student_results</a:t>
            </a:r>
            <a:r>
              <a:rPr lang="en-US" sz="2200" dirty="0">
                <a:latin typeface="+mj-lt"/>
              </a:rPr>
              <a:t>) and connect it with the subjects table.</a:t>
            </a:r>
          </a:p>
          <a:p>
            <a:pPr marL="285750" indent="-285750">
              <a:lnSpc>
                <a:spcPct val="150000"/>
              </a:lnSpc>
              <a:buFont typeface="Arial" panose="020B0604020202020204" pitchFamily="34" charset="0"/>
              <a:buChar char="•"/>
            </a:pPr>
            <a:r>
              <a:rPr lang="en-US" sz="2200" dirty="0" err="1">
                <a:latin typeface="+mj-lt"/>
              </a:rPr>
              <a:t>student_results</a:t>
            </a:r>
            <a:r>
              <a:rPr lang="en-US" sz="2200" dirty="0">
                <a:latin typeface="+mj-lt"/>
              </a:rPr>
              <a:t> already has student details + grades. </a:t>
            </a:r>
          </a:p>
          <a:p>
            <a:pPr marL="342900" indent="-342900">
              <a:lnSpc>
                <a:spcPct val="150000"/>
              </a:lnSpc>
              <a:buFont typeface="Arial" panose="020B0604020202020204" pitchFamily="34" charset="0"/>
              <a:buChar char="•"/>
            </a:pPr>
            <a:r>
              <a:rPr lang="en-US" sz="2200" dirty="0">
                <a:latin typeface="+mj-lt"/>
              </a:rPr>
              <a:t>subjects contains subject names and faculty information. </a:t>
            </a:r>
          </a:p>
          <a:p>
            <a:pPr rtl="0">
              <a:lnSpc>
                <a:spcPct val="150000"/>
              </a:lnSpc>
              <a:buNone/>
            </a:pPr>
            <a:r>
              <a:rPr lang="en-US" sz="2200" dirty="0">
                <a:highlight>
                  <a:srgbClr val="FFFF00"/>
                </a:highlight>
                <a:latin typeface="+mj-lt"/>
              </a:rPr>
              <a:t>on="</a:t>
            </a:r>
            <a:r>
              <a:rPr lang="en-US" sz="2200" dirty="0" err="1">
                <a:highlight>
                  <a:srgbClr val="FFFF00"/>
                </a:highlight>
                <a:latin typeface="+mj-lt"/>
              </a:rPr>
              <a:t>subject_code</a:t>
            </a:r>
            <a:r>
              <a:rPr lang="en-US" sz="2200" dirty="0">
                <a:highlight>
                  <a:srgbClr val="FFFF00"/>
                </a:highlight>
                <a:latin typeface="+mj-lt"/>
              </a:rPr>
              <a:t>"</a:t>
            </a:r>
          </a:p>
          <a:p>
            <a:pPr>
              <a:lnSpc>
                <a:spcPct val="150000"/>
              </a:lnSpc>
              <a:buNone/>
            </a:pPr>
            <a:r>
              <a:rPr lang="en-US" sz="2200" dirty="0">
                <a:latin typeface="+mj-lt"/>
              </a:rPr>
              <a:t>This tells Python:</a:t>
            </a:r>
          </a:p>
          <a:p>
            <a:pPr>
              <a:lnSpc>
                <a:spcPct val="150000"/>
              </a:lnSpc>
              <a:buNone/>
            </a:pPr>
            <a:r>
              <a:rPr lang="en-US" sz="2200" dirty="0">
                <a:latin typeface="+mj-lt"/>
              </a:rPr>
              <a:t>“Match the rows using the </a:t>
            </a:r>
            <a:r>
              <a:rPr lang="en-US" sz="2200" dirty="0" err="1">
                <a:latin typeface="+mj-lt"/>
              </a:rPr>
              <a:t>subject_code</a:t>
            </a:r>
            <a:r>
              <a:rPr lang="en-US" sz="2200" dirty="0">
                <a:latin typeface="+mj-lt"/>
              </a:rPr>
              <a:t> column.”</a:t>
            </a:r>
          </a:p>
        </p:txBody>
      </p:sp>
    </p:spTree>
    <p:extLst>
      <p:ext uri="{BB962C8B-B14F-4D97-AF65-F5344CB8AC3E}">
        <p14:creationId xmlns:p14="http://schemas.microsoft.com/office/powerpoint/2010/main" val="15058559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5A6C4-5B15-C10F-A3B3-1A5B2E290D7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B228BF-BFEC-3F68-52B7-2C0BCD0877BC}"/>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CDDAB54D-F7E4-BD0D-8945-66BD582A530E}"/>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1" name="TextBox 10">
            <a:extLst>
              <a:ext uri="{FF2B5EF4-FFF2-40B4-BE49-F238E27FC236}">
                <a16:creationId xmlns:a16="http://schemas.microsoft.com/office/drawing/2014/main" id="{E4890610-9E28-7CD8-D824-39102007D88A}"/>
              </a:ext>
            </a:extLst>
          </p:cNvPr>
          <p:cNvSpPr txBox="1"/>
          <p:nvPr/>
        </p:nvSpPr>
        <p:spPr>
          <a:xfrm>
            <a:off x="0" y="1026574"/>
            <a:ext cx="4650826" cy="523220"/>
          </a:xfrm>
          <a:prstGeom prst="rect">
            <a:avLst/>
          </a:prstGeom>
          <a:noFill/>
        </p:spPr>
        <p:txBody>
          <a:bodyPr wrap="square">
            <a:spAutoFit/>
          </a:bodyPr>
          <a:lstStyle/>
          <a:p>
            <a:r>
              <a:rPr lang="en-US" sz="2800" dirty="0">
                <a:latin typeface="+mj-lt"/>
              </a:rPr>
              <a:t>Second Merge</a:t>
            </a:r>
          </a:p>
        </p:txBody>
      </p:sp>
      <p:sp>
        <p:nvSpPr>
          <p:cNvPr id="17" name="TextBox 16">
            <a:extLst>
              <a:ext uri="{FF2B5EF4-FFF2-40B4-BE49-F238E27FC236}">
                <a16:creationId xmlns:a16="http://schemas.microsoft.com/office/drawing/2014/main" id="{0BF69AE7-D527-8730-E94C-587B6E036755}"/>
              </a:ext>
            </a:extLst>
          </p:cNvPr>
          <p:cNvSpPr txBox="1"/>
          <p:nvPr/>
        </p:nvSpPr>
        <p:spPr>
          <a:xfrm>
            <a:off x="0" y="1539836"/>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9" name="TextBox 18">
            <a:extLst>
              <a:ext uri="{FF2B5EF4-FFF2-40B4-BE49-F238E27FC236}">
                <a16:creationId xmlns:a16="http://schemas.microsoft.com/office/drawing/2014/main" id="{675F39CF-4264-4C0A-C099-EE8E2D103CEB}"/>
              </a:ext>
            </a:extLst>
          </p:cNvPr>
          <p:cNvSpPr txBox="1"/>
          <p:nvPr/>
        </p:nvSpPr>
        <p:spPr>
          <a:xfrm>
            <a:off x="4876800" y="1264536"/>
            <a:ext cx="4267200" cy="4467057"/>
          </a:xfrm>
          <a:prstGeom prst="rect">
            <a:avLst/>
          </a:prstGeom>
          <a:solidFill>
            <a:schemeClr val="bg1"/>
          </a:solidFill>
          <a:ln>
            <a:solidFill>
              <a:srgbClr val="FF0000"/>
            </a:solidFill>
          </a:ln>
        </p:spPr>
        <p:txBody>
          <a:bodyPr wrap="square">
            <a:spAutoFit/>
          </a:bodyPr>
          <a:lstStyle/>
          <a:p>
            <a:pPr>
              <a:lnSpc>
                <a:spcPct val="150000"/>
              </a:lnSpc>
            </a:pPr>
            <a:r>
              <a:rPr lang="en-US" sz="2400" b="1" dirty="0">
                <a:latin typeface="+mj-lt"/>
              </a:rPr>
              <a:t>What happens after this merge?</a:t>
            </a:r>
          </a:p>
          <a:p>
            <a:pPr>
              <a:lnSpc>
                <a:spcPct val="150000"/>
              </a:lnSpc>
            </a:pPr>
            <a:r>
              <a:rPr lang="en-US" sz="2400" dirty="0">
                <a:latin typeface="+mj-lt"/>
              </a:rPr>
              <a:t>The final table now contains:</a:t>
            </a:r>
          </a:p>
          <a:p>
            <a:pPr marL="536575" indent="-342900">
              <a:lnSpc>
                <a:spcPct val="150000"/>
              </a:lnSpc>
              <a:buFont typeface="Arial" panose="020B0604020202020204" pitchFamily="34" charset="0"/>
              <a:buChar char="•"/>
            </a:pPr>
            <a:r>
              <a:rPr lang="en-US" sz="2400" dirty="0">
                <a:latin typeface="+mj-lt"/>
              </a:rPr>
              <a:t>Student details </a:t>
            </a:r>
          </a:p>
          <a:p>
            <a:pPr marL="536575" indent="-342900">
              <a:lnSpc>
                <a:spcPct val="150000"/>
              </a:lnSpc>
              <a:buFont typeface="Arial" panose="020B0604020202020204" pitchFamily="34" charset="0"/>
              <a:buChar char="•"/>
            </a:pPr>
            <a:r>
              <a:rPr lang="en-US" sz="2400" dirty="0">
                <a:latin typeface="+mj-lt"/>
              </a:rPr>
              <a:t>Subject codes </a:t>
            </a:r>
          </a:p>
          <a:p>
            <a:pPr marL="536575" indent="-342900">
              <a:lnSpc>
                <a:spcPct val="150000"/>
              </a:lnSpc>
              <a:buFont typeface="Arial" panose="020B0604020202020204" pitchFamily="34" charset="0"/>
              <a:buChar char="•"/>
            </a:pPr>
            <a:r>
              <a:rPr lang="en-US" sz="2400" dirty="0">
                <a:latin typeface="+mj-lt"/>
              </a:rPr>
              <a:t>Subject names </a:t>
            </a:r>
          </a:p>
          <a:p>
            <a:pPr marL="536575" indent="-342900">
              <a:lnSpc>
                <a:spcPct val="150000"/>
              </a:lnSpc>
              <a:buFont typeface="Arial" panose="020B0604020202020204" pitchFamily="34" charset="0"/>
              <a:buChar char="•"/>
            </a:pPr>
            <a:r>
              <a:rPr lang="en-US" sz="2400" dirty="0">
                <a:latin typeface="+mj-lt"/>
              </a:rPr>
              <a:t>Final marks </a:t>
            </a:r>
          </a:p>
          <a:p>
            <a:pPr marL="536575" indent="-342900">
              <a:lnSpc>
                <a:spcPct val="150000"/>
              </a:lnSpc>
              <a:buFont typeface="Arial" panose="020B0604020202020204" pitchFamily="34" charset="0"/>
              <a:buChar char="•"/>
            </a:pPr>
            <a:r>
              <a:rPr lang="en-US" sz="2400" dirty="0">
                <a:latin typeface="+mj-lt"/>
              </a:rPr>
              <a:t>Grade information </a:t>
            </a:r>
          </a:p>
          <a:p>
            <a:pPr>
              <a:lnSpc>
                <a:spcPct val="150000"/>
              </a:lnSpc>
            </a:pPr>
            <a:r>
              <a:rPr lang="en-US" sz="2400" dirty="0">
                <a:latin typeface="+mj-lt"/>
              </a:rPr>
              <a:t>all together in one big table.</a:t>
            </a:r>
          </a:p>
        </p:txBody>
      </p:sp>
    </p:spTree>
    <p:extLst>
      <p:ext uri="{BB962C8B-B14F-4D97-AF65-F5344CB8AC3E}">
        <p14:creationId xmlns:p14="http://schemas.microsoft.com/office/powerpoint/2010/main" val="22895259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0FCD7-92BE-0D11-C66F-B7A3F1033F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B6A4F4-060E-8BA9-8ABE-ED14B09A8D5B}"/>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BEE4AEC5-E610-03BF-9900-BDFDCA2588E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1" name="TextBox 10">
            <a:extLst>
              <a:ext uri="{FF2B5EF4-FFF2-40B4-BE49-F238E27FC236}">
                <a16:creationId xmlns:a16="http://schemas.microsoft.com/office/drawing/2014/main" id="{97AB6D3D-2C41-75B2-6110-49DB8D32F986}"/>
              </a:ext>
            </a:extLst>
          </p:cNvPr>
          <p:cNvSpPr txBox="1"/>
          <p:nvPr/>
        </p:nvSpPr>
        <p:spPr>
          <a:xfrm>
            <a:off x="0" y="1026574"/>
            <a:ext cx="4650826" cy="523220"/>
          </a:xfrm>
          <a:prstGeom prst="rect">
            <a:avLst/>
          </a:prstGeom>
          <a:noFill/>
        </p:spPr>
        <p:txBody>
          <a:bodyPr wrap="square">
            <a:spAutoFit/>
          </a:bodyPr>
          <a:lstStyle/>
          <a:p>
            <a:r>
              <a:rPr lang="en-US" sz="2800" dirty="0">
                <a:latin typeface="+mj-lt"/>
              </a:rPr>
              <a:t>Second Merge</a:t>
            </a:r>
          </a:p>
        </p:txBody>
      </p:sp>
      <p:sp>
        <p:nvSpPr>
          <p:cNvPr id="17" name="TextBox 16">
            <a:extLst>
              <a:ext uri="{FF2B5EF4-FFF2-40B4-BE49-F238E27FC236}">
                <a16:creationId xmlns:a16="http://schemas.microsoft.com/office/drawing/2014/main" id="{60505D27-958D-48DD-0F07-0B046FBACAD9}"/>
              </a:ext>
            </a:extLst>
          </p:cNvPr>
          <p:cNvSpPr txBox="1"/>
          <p:nvPr/>
        </p:nvSpPr>
        <p:spPr>
          <a:xfrm>
            <a:off x="0" y="1539836"/>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9" name="TextBox 18">
            <a:extLst>
              <a:ext uri="{FF2B5EF4-FFF2-40B4-BE49-F238E27FC236}">
                <a16:creationId xmlns:a16="http://schemas.microsoft.com/office/drawing/2014/main" id="{69EEEFED-C161-461E-B1DD-83D4FBDCAA76}"/>
              </a:ext>
            </a:extLst>
          </p:cNvPr>
          <p:cNvSpPr txBox="1"/>
          <p:nvPr/>
        </p:nvSpPr>
        <p:spPr>
          <a:xfrm>
            <a:off x="4876800" y="1264536"/>
            <a:ext cx="4267200" cy="2610843"/>
          </a:xfrm>
          <a:prstGeom prst="rect">
            <a:avLst/>
          </a:prstGeom>
          <a:solidFill>
            <a:schemeClr val="bg1"/>
          </a:solidFill>
          <a:ln>
            <a:solidFill>
              <a:srgbClr val="FF0000"/>
            </a:solidFill>
          </a:ln>
        </p:spPr>
        <p:txBody>
          <a:bodyPr wrap="square">
            <a:spAutoFit/>
          </a:bodyPr>
          <a:lstStyle/>
          <a:p>
            <a:pPr rtl="0">
              <a:lnSpc>
                <a:spcPct val="150000"/>
              </a:lnSpc>
            </a:pPr>
            <a:r>
              <a:rPr lang="en-US" sz="2800" dirty="0" err="1">
                <a:highlight>
                  <a:srgbClr val="FFFF00"/>
                </a:highlight>
                <a:latin typeface="+mj-lt"/>
              </a:rPr>
              <a:t>student_results.head</a:t>
            </a:r>
            <a:r>
              <a:rPr lang="en-US" sz="2800" dirty="0">
                <a:highlight>
                  <a:srgbClr val="FFFF00"/>
                </a:highlight>
                <a:latin typeface="+mj-lt"/>
              </a:rPr>
              <a:t>()</a:t>
            </a:r>
          </a:p>
          <a:p>
            <a:pPr>
              <a:lnSpc>
                <a:spcPct val="150000"/>
              </a:lnSpc>
            </a:pPr>
            <a:r>
              <a:rPr lang="en-US" sz="2800" dirty="0">
                <a:latin typeface="+mj-lt"/>
              </a:rPr>
              <a:t>This displays the first 5 rows of the final merged table so we can check the result.</a:t>
            </a:r>
          </a:p>
        </p:txBody>
      </p:sp>
    </p:spTree>
    <p:extLst>
      <p:ext uri="{BB962C8B-B14F-4D97-AF65-F5344CB8AC3E}">
        <p14:creationId xmlns:p14="http://schemas.microsoft.com/office/powerpoint/2010/main" val="2153881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DC18B-4758-9AAC-4A9F-9BE4D9A6B2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721D15D-F3BE-7660-4333-A0277554FE9D}"/>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6716DB7B-47E5-051D-8E48-9653207BBDC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1" name="TextBox 10">
            <a:extLst>
              <a:ext uri="{FF2B5EF4-FFF2-40B4-BE49-F238E27FC236}">
                <a16:creationId xmlns:a16="http://schemas.microsoft.com/office/drawing/2014/main" id="{1FAAE331-9D19-771D-5EDD-5615AFB319ED}"/>
              </a:ext>
            </a:extLst>
          </p:cNvPr>
          <p:cNvSpPr txBox="1"/>
          <p:nvPr/>
        </p:nvSpPr>
        <p:spPr>
          <a:xfrm>
            <a:off x="0" y="1026574"/>
            <a:ext cx="4650826" cy="523220"/>
          </a:xfrm>
          <a:prstGeom prst="rect">
            <a:avLst/>
          </a:prstGeom>
          <a:noFill/>
        </p:spPr>
        <p:txBody>
          <a:bodyPr wrap="square">
            <a:spAutoFit/>
          </a:bodyPr>
          <a:lstStyle/>
          <a:p>
            <a:r>
              <a:rPr lang="en-US" sz="2800" dirty="0">
                <a:latin typeface="+mj-lt"/>
              </a:rPr>
              <a:t>Second Merge</a:t>
            </a:r>
          </a:p>
        </p:txBody>
      </p:sp>
      <p:sp>
        <p:nvSpPr>
          <p:cNvPr id="17" name="TextBox 16">
            <a:extLst>
              <a:ext uri="{FF2B5EF4-FFF2-40B4-BE49-F238E27FC236}">
                <a16:creationId xmlns:a16="http://schemas.microsoft.com/office/drawing/2014/main" id="{C2DAA9DD-1270-4E61-52A9-FF4F75F7FFF8}"/>
              </a:ext>
            </a:extLst>
          </p:cNvPr>
          <p:cNvSpPr txBox="1"/>
          <p:nvPr/>
        </p:nvSpPr>
        <p:spPr>
          <a:xfrm>
            <a:off x="0" y="1539836"/>
            <a:ext cx="9144000" cy="4493538"/>
          </a:xfrm>
          <a:prstGeom prst="rect">
            <a:avLst/>
          </a:prstGeom>
          <a:solidFill>
            <a:schemeClr val="bg1"/>
          </a:solidFill>
        </p:spPr>
        <p:txBody>
          <a:bodyPr wrap="square">
            <a:spAutoFit/>
          </a:bodyPr>
          <a:lstStyle/>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students,</a:t>
            </a:r>
          </a:p>
          <a:p>
            <a:pPr>
              <a:buNone/>
            </a:pPr>
            <a:r>
              <a:rPr lang="en-US" sz="2200" b="0" dirty="0">
                <a:solidFill>
                  <a:srgbClr val="000000"/>
                </a:solidFill>
                <a:effectLst/>
                <a:latin typeface="Courier New" panose="02070309020205020404" pitchFamily="49" charset="0"/>
              </a:rPr>
              <a:t>    grades,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student_id</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 = </a:t>
            </a:r>
            <a:r>
              <a:rPr lang="en-US" sz="2200" b="0" dirty="0" err="1">
                <a:solidFill>
                  <a:srgbClr val="000000"/>
                </a:solidFill>
                <a:effectLst/>
                <a:latin typeface="Courier New" panose="02070309020205020404" pitchFamily="49" charset="0"/>
              </a:rPr>
              <a:t>pd.merge</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a:t>
            </a:r>
            <a:r>
              <a:rPr lang="en-US" sz="2200" b="0" dirty="0" err="1">
                <a:solidFill>
                  <a:srgbClr val="000000"/>
                </a:solidFill>
                <a:effectLst/>
                <a:latin typeface="Courier New" panose="02070309020205020404" pitchFamily="49" charset="0"/>
              </a:rPr>
              <a:t>student_results</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subjects,</a:t>
            </a:r>
          </a:p>
          <a:p>
            <a:pPr>
              <a:buNone/>
            </a:pPr>
            <a:r>
              <a:rPr lang="en-US" sz="2200" b="0" dirty="0">
                <a:solidFill>
                  <a:srgbClr val="000000"/>
                </a:solidFill>
                <a:effectLst/>
                <a:latin typeface="Courier New" panose="02070309020205020404" pitchFamily="49" charset="0"/>
              </a:rPr>
              <a:t>    on=</a:t>
            </a:r>
            <a:r>
              <a:rPr lang="en-US" sz="2200" b="0" dirty="0">
                <a:solidFill>
                  <a:srgbClr val="A31515"/>
                </a:solidFill>
                <a:effectLst/>
                <a:latin typeface="Courier New" panose="02070309020205020404" pitchFamily="49" charset="0"/>
              </a:rPr>
              <a:t>"</a:t>
            </a:r>
            <a:r>
              <a:rPr lang="en-US" sz="2200" b="0" dirty="0" err="1">
                <a:solidFill>
                  <a:srgbClr val="A31515"/>
                </a:solidFill>
                <a:effectLst/>
                <a:latin typeface="Courier New" panose="02070309020205020404" pitchFamily="49" charset="0"/>
              </a:rPr>
              <a:t>subject_code</a:t>
            </a:r>
            <a:r>
              <a:rPr lang="en-US" sz="2200" b="0" dirty="0">
                <a:solidFill>
                  <a:srgbClr val="A31515"/>
                </a:solidFill>
                <a:effectLst/>
                <a:latin typeface="Courier New" panose="02070309020205020404" pitchFamily="49" charset="0"/>
              </a:rPr>
              <a:t>"</a:t>
            </a:r>
            <a:r>
              <a:rPr lang="en-US" sz="2200" b="0" dirty="0">
                <a:solidFill>
                  <a:srgbClr val="000000"/>
                </a:solidFill>
                <a:effectLst/>
                <a:latin typeface="Courier New" panose="02070309020205020404" pitchFamily="49" charset="0"/>
              </a:rPr>
              <a:t>,</a:t>
            </a:r>
          </a:p>
          <a:p>
            <a:pPr>
              <a:buNone/>
            </a:pPr>
            <a:r>
              <a:rPr lang="en-US" sz="2200" b="0" dirty="0">
                <a:solidFill>
                  <a:srgbClr val="000000"/>
                </a:solidFill>
                <a:effectLst/>
                <a:latin typeface="Courier New" panose="02070309020205020404" pitchFamily="49" charset="0"/>
              </a:rPr>
              <a:t>    how=</a:t>
            </a:r>
            <a:r>
              <a:rPr lang="en-US" sz="2200" b="0" dirty="0">
                <a:solidFill>
                  <a:srgbClr val="A31515"/>
                </a:solidFill>
                <a:effectLst/>
                <a:latin typeface="Courier New" panose="02070309020205020404" pitchFamily="49" charset="0"/>
              </a:rPr>
              <a:t>"left"</a:t>
            </a:r>
            <a:endParaRPr lang="en-US" sz="2200" b="0" dirty="0">
              <a:solidFill>
                <a:srgbClr val="000000"/>
              </a:solidFill>
              <a:effectLst/>
              <a:latin typeface="Courier New" panose="02070309020205020404" pitchFamily="49" charset="0"/>
            </a:endParaRPr>
          </a:p>
          <a:p>
            <a:pPr>
              <a:buNone/>
            </a:pPr>
            <a:r>
              <a:rPr lang="en-US" sz="2200" b="0" dirty="0">
                <a:solidFill>
                  <a:srgbClr val="000000"/>
                </a:solidFill>
                <a:effectLst/>
                <a:latin typeface="Courier New" panose="02070309020205020404" pitchFamily="49" charset="0"/>
              </a:rPr>
              <a:t>)</a:t>
            </a:r>
          </a:p>
          <a:p>
            <a:pPr>
              <a:buNone/>
            </a:pPr>
            <a:r>
              <a:rPr lang="en-US" sz="2200" b="0" dirty="0" err="1">
                <a:solidFill>
                  <a:srgbClr val="000000"/>
                </a:solidFill>
                <a:effectLst/>
                <a:latin typeface="Courier New" panose="02070309020205020404" pitchFamily="49" charset="0"/>
              </a:rPr>
              <a:t>student_results.head</a:t>
            </a:r>
            <a:r>
              <a:rPr lang="en-US" sz="2200" b="0" dirty="0">
                <a:solidFill>
                  <a:srgbClr val="000000"/>
                </a:solidFill>
                <a:effectLst/>
                <a:latin typeface="Courier New" panose="02070309020205020404" pitchFamily="49" charset="0"/>
              </a:rPr>
              <a:t>()</a:t>
            </a:r>
          </a:p>
        </p:txBody>
      </p:sp>
      <p:sp>
        <p:nvSpPr>
          <p:cNvPr id="19" name="TextBox 18">
            <a:extLst>
              <a:ext uri="{FF2B5EF4-FFF2-40B4-BE49-F238E27FC236}">
                <a16:creationId xmlns:a16="http://schemas.microsoft.com/office/drawing/2014/main" id="{07A7CBEF-5107-659F-BA3D-008510781433}"/>
              </a:ext>
            </a:extLst>
          </p:cNvPr>
          <p:cNvSpPr txBox="1"/>
          <p:nvPr/>
        </p:nvSpPr>
        <p:spPr>
          <a:xfrm>
            <a:off x="4876501" y="1026574"/>
            <a:ext cx="4267200" cy="5842497"/>
          </a:xfrm>
          <a:prstGeom prst="rect">
            <a:avLst/>
          </a:prstGeom>
          <a:solidFill>
            <a:schemeClr val="bg1"/>
          </a:solidFill>
          <a:ln>
            <a:solidFill>
              <a:srgbClr val="FF0000"/>
            </a:solidFill>
          </a:ln>
        </p:spPr>
        <p:txBody>
          <a:bodyPr wrap="square">
            <a:spAutoFit/>
          </a:bodyPr>
          <a:lstStyle/>
          <a:p>
            <a:pPr>
              <a:lnSpc>
                <a:spcPct val="150000"/>
              </a:lnSpc>
            </a:pPr>
            <a:r>
              <a:rPr lang="en-US" sz="2800" dirty="0">
                <a:latin typeface="+mj-lt"/>
              </a:rPr>
              <a:t>Step 1:</a:t>
            </a:r>
            <a:br>
              <a:rPr lang="en-US" sz="2800" dirty="0">
                <a:latin typeface="+mj-lt"/>
              </a:rPr>
            </a:br>
            <a:r>
              <a:rPr lang="en-US" sz="2800" dirty="0">
                <a:latin typeface="+mj-lt"/>
              </a:rPr>
              <a:t>Join students with grades using </a:t>
            </a:r>
            <a:r>
              <a:rPr lang="en-US" sz="2800" dirty="0" err="1">
                <a:latin typeface="+mj-lt"/>
              </a:rPr>
              <a:t>student_id</a:t>
            </a:r>
            <a:r>
              <a:rPr lang="en-US" sz="2800" dirty="0">
                <a:latin typeface="+mj-lt"/>
              </a:rPr>
              <a:t>.</a:t>
            </a:r>
          </a:p>
          <a:p>
            <a:pPr>
              <a:lnSpc>
                <a:spcPct val="150000"/>
              </a:lnSpc>
            </a:pPr>
            <a:r>
              <a:rPr lang="en-US" sz="2800" dirty="0">
                <a:latin typeface="+mj-lt"/>
              </a:rPr>
              <a:t>Step 2:</a:t>
            </a:r>
            <a:br>
              <a:rPr lang="en-US" sz="2800" dirty="0">
                <a:latin typeface="+mj-lt"/>
              </a:rPr>
            </a:br>
            <a:r>
              <a:rPr lang="en-US" sz="2800" dirty="0">
                <a:latin typeface="+mj-lt"/>
              </a:rPr>
              <a:t>Join the result with subjects using </a:t>
            </a:r>
            <a:r>
              <a:rPr lang="en-US" sz="2800" dirty="0" err="1">
                <a:latin typeface="+mj-lt"/>
              </a:rPr>
              <a:t>subject_code</a:t>
            </a:r>
            <a:r>
              <a:rPr lang="en-US" sz="2800" dirty="0">
                <a:latin typeface="+mj-lt"/>
              </a:rPr>
              <a:t>.</a:t>
            </a:r>
          </a:p>
          <a:p>
            <a:pPr>
              <a:lnSpc>
                <a:spcPct val="150000"/>
              </a:lnSpc>
            </a:pPr>
            <a:r>
              <a:rPr lang="en-US" sz="2800" dirty="0">
                <a:latin typeface="+mj-lt"/>
              </a:rPr>
              <a:t>Step 3:</a:t>
            </a:r>
            <a:br>
              <a:rPr lang="en-US" sz="2800" dirty="0">
                <a:latin typeface="+mj-lt"/>
              </a:rPr>
            </a:br>
            <a:r>
              <a:rPr lang="en-US" sz="2800" dirty="0">
                <a:latin typeface="+mj-lt"/>
              </a:rPr>
              <a:t>Display the final combined table.</a:t>
            </a:r>
          </a:p>
        </p:txBody>
      </p:sp>
    </p:spTree>
    <p:extLst>
      <p:ext uri="{BB962C8B-B14F-4D97-AF65-F5344CB8AC3E}">
        <p14:creationId xmlns:p14="http://schemas.microsoft.com/office/powerpoint/2010/main" val="52437371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8C07-9524-4433-5988-AD331E8CB8D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F06EE0-874D-AA9C-0F53-C5F22CA86C7B}"/>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BA40E23C-AD3D-BAAB-2425-2CCD96C23AD8}"/>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19" name="TextBox 18">
            <a:extLst>
              <a:ext uri="{FF2B5EF4-FFF2-40B4-BE49-F238E27FC236}">
                <a16:creationId xmlns:a16="http://schemas.microsoft.com/office/drawing/2014/main" id="{3376E561-463A-1E38-289F-DED035682616}"/>
              </a:ext>
            </a:extLst>
          </p:cNvPr>
          <p:cNvSpPr txBox="1"/>
          <p:nvPr/>
        </p:nvSpPr>
        <p:spPr>
          <a:xfrm>
            <a:off x="304950" y="1477248"/>
            <a:ext cx="8534100" cy="3903504"/>
          </a:xfrm>
          <a:prstGeom prst="rect">
            <a:avLst/>
          </a:prstGeom>
          <a:solidFill>
            <a:schemeClr val="bg1"/>
          </a:solidFill>
          <a:ln>
            <a:solidFill>
              <a:srgbClr val="FF0000"/>
            </a:solidFill>
          </a:ln>
        </p:spPr>
        <p:txBody>
          <a:bodyPr wrap="square">
            <a:spAutoFit/>
          </a:bodyPr>
          <a:lstStyle/>
          <a:p>
            <a:pPr>
              <a:lnSpc>
                <a:spcPct val="150000"/>
              </a:lnSpc>
            </a:pPr>
            <a:r>
              <a:rPr lang="en-US" sz="2800" b="1" dirty="0">
                <a:latin typeface="+mj-lt"/>
              </a:rPr>
              <a:t>Real-Life Analogy</a:t>
            </a:r>
          </a:p>
          <a:p>
            <a:pPr>
              <a:lnSpc>
                <a:spcPct val="150000"/>
              </a:lnSpc>
            </a:pPr>
            <a:r>
              <a:rPr lang="en-US" sz="2800" dirty="0">
                <a:latin typeface="+mj-lt"/>
              </a:rPr>
              <a:t>Imagine:</a:t>
            </a:r>
          </a:p>
          <a:p>
            <a:pPr marL="714375" indent="-457200">
              <a:lnSpc>
                <a:spcPct val="150000"/>
              </a:lnSpc>
              <a:buFont typeface="Arial" panose="020B0604020202020204" pitchFamily="34" charset="0"/>
              <a:buChar char="•"/>
            </a:pPr>
            <a:r>
              <a:rPr lang="en-US" sz="2800" dirty="0">
                <a:latin typeface="+mj-lt"/>
              </a:rPr>
              <a:t>One Excel file has student information. </a:t>
            </a:r>
          </a:p>
          <a:p>
            <a:pPr marL="714375" indent="-457200">
              <a:lnSpc>
                <a:spcPct val="150000"/>
              </a:lnSpc>
              <a:buFont typeface="Arial" panose="020B0604020202020204" pitchFamily="34" charset="0"/>
              <a:buChar char="•"/>
            </a:pPr>
            <a:r>
              <a:rPr lang="en-US" sz="2800" dirty="0">
                <a:latin typeface="+mj-lt"/>
              </a:rPr>
              <a:t>Another Excel file has marks. </a:t>
            </a:r>
          </a:p>
          <a:p>
            <a:pPr marL="714375" indent="-457200">
              <a:lnSpc>
                <a:spcPct val="150000"/>
              </a:lnSpc>
              <a:buFont typeface="Arial" panose="020B0604020202020204" pitchFamily="34" charset="0"/>
              <a:buChar char="•"/>
            </a:pPr>
            <a:r>
              <a:rPr lang="en-US" sz="2800" dirty="0">
                <a:latin typeface="+mj-lt"/>
              </a:rPr>
              <a:t>Another Excel file has subject names. </a:t>
            </a:r>
          </a:p>
          <a:p>
            <a:pPr>
              <a:lnSpc>
                <a:spcPct val="150000"/>
              </a:lnSpc>
            </a:pPr>
            <a:r>
              <a:rPr lang="en-US" sz="2800" dirty="0">
                <a:latin typeface="+mj-lt"/>
              </a:rPr>
              <a:t>merge() combines them into one complete report.</a:t>
            </a:r>
          </a:p>
        </p:txBody>
      </p:sp>
    </p:spTree>
    <p:extLst>
      <p:ext uri="{BB962C8B-B14F-4D97-AF65-F5344CB8AC3E}">
        <p14:creationId xmlns:p14="http://schemas.microsoft.com/office/powerpoint/2010/main" val="41705900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814F9-9AB4-4F72-1769-6EA487AFC3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D8B480-E281-91AF-CAD4-607B96E7F661}"/>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F6BA6482-5C24-F256-5237-8AEEC218BC9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1E4AC5ED-314E-9133-F0DE-2B4244E070B6}"/>
              </a:ext>
            </a:extLst>
          </p:cNvPr>
          <p:cNvPicPr>
            <a:picLocks noChangeAspect="1"/>
          </p:cNvPicPr>
          <p:nvPr/>
        </p:nvPicPr>
        <p:blipFill>
          <a:blip r:embed="rId2"/>
          <a:srcRect l="9656" t="46475" r="2758" b="24509"/>
          <a:stretch>
            <a:fillRect/>
          </a:stretch>
        </p:blipFill>
        <p:spPr>
          <a:xfrm>
            <a:off x="0" y="1270585"/>
            <a:ext cx="9144000" cy="1704001"/>
          </a:xfrm>
          <a:prstGeom prst="rect">
            <a:avLst/>
          </a:prstGeom>
        </p:spPr>
      </p:pic>
      <p:sp>
        <p:nvSpPr>
          <p:cNvPr id="9" name="TextBox 8">
            <a:extLst>
              <a:ext uri="{FF2B5EF4-FFF2-40B4-BE49-F238E27FC236}">
                <a16:creationId xmlns:a16="http://schemas.microsoft.com/office/drawing/2014/main" id="{3D35B79C-07FF-5ECE-9716-1C4018E875DD}"/>
              </a:ext>
            </a:extLst>
          </p:cNvPr>
          <p:cNvSpPr txBox="1"/>
          <p:nvPr/>
        </p:nvSpPr>
        <p:spPr>
          <a:xfrm>
            <a:off x="-23751" y="2974586"/>
            <a:ext cx="8996854" cy="1318181"/>
          </a:xfrm>
          <a:prstGeom prst="rect">
            <a:avLst/>
          </a:prstGeom>
          <a:noFill/>
        </p:spPr>
        <p:txBody>
          <a:bodyPr wrap="square">
            <a:spAutoFit/>
          </a:bodyPr>
          <a:lstStyle/>
          <a:p>
            <a:pPr>
              <a:lnSpc>
                <a:spcPct val="150000"/>
              </a:lnSpc>
            </a:pPr>
            <a:r>
              <a:rPr lang="en-US" sz="2800" dirty="0">
                <a:latin typeface="+mj-lt"/>
              </a:rPr>
              <a:t>This creates a richer table with student details, grades, and subject names.</a:t>
            </a:r>
          </a:p>
        </p:txBody>
      </p:sp>
    </p:spTree>
    <p:extLst>
      <p:ext uri="{BB962C8B-B14F-4D97-AF65-F5344CB8AC3E}">
        <p14:creationId xmlns:p14="http://schemas.microsoft.com/office/powerpoint/2010/main" val="20820863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D564C-E13E-DD3A-4314-984003EBC68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9FFFAB-B798-3419-DDA5-7DC3202B45EF}"/>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6A645316-59D4-6D5A-85C8-0A061BD5484B}"/>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4" name="TextBox 3">
            <a:extLst>
              <a:ext uri="{FF2B5EF4-FFF2-40B4-BE49-F238E27FC236}">
                <a16:creationId xmlns:a16="http://schemas.microsoft.com/office/drawing/2014/main" id="{BF708626-1529-40B3-1C18-1A5D194C835B}"/>
              </a:ext>
            </a:extLst>
          </p:cNvPr>
          <p:cNvSpPr txBox="1"/>
          <p:nvPr/>
        </p:nvSpPr>
        <p:spPr>
          <a:xfrm>
            <a:off x="0" y="1524000"/>
            <a:ext cx="8996854" cy="1318181"/>
          </a:xfrm>
          <a:prstGeom prst="rect">
            <a:avLst/>
          </a:prstGeom>
          <a:noFill/>
        </p:spPr>
        <p:txBody>
          <a:bodyPr wrap="square">
            <a:spAutoFit/>
          </a:bodyPr>
          <a:lstStyle/>
          <a:p>
            <a:pPr>
              <a:lnSpc>
                <a:spcPct val="150000"/>
              </a:lnSpc>
              <a:buNone/>
            </a:pPr>
            <a:r>
              <a:rPr lang="en-US" sz="2800" b="1" dirty="0">
                <a:latin typeface="+mj-lt"/>
              </a:rPr>
              <a:t>Task 9: Pivot Grades by Subject</a:t>
            </a:r>
          </a:p>
          <a:p>
            <a:pPr>
              <a:lnSpc>
                <a:spcPct val="150000"/>
              </a:lnSpc>
              <a:buNone/>
            </a:pPr>
            <a:r>
              <a:rPr lang="en-US" sz="2800" dirty="0">
                <a:latin typeface="+mj-lt"/>
              </a:rPr>
              <a:t>Create a wide table where each subject becomes a column.</a:t>
            </a:r>
          </a:p>
        </p:txBody>
      </p:sp>
      <p:sp>
        <p:nvSpPr>
          <p:cNvPr id="8" name="TextBox 7">
            <a:extLst>
              <a:ext uri="{FF2B5EF4-FFF2-40B4-BE49-F238E27FC236}">
                <a16:creationId xmlns:a16="http://schemas.microsoft.com/office/drawing/2014/main" id="{F98785CB-8BAC-8BEF-ABB1-191F3240094E}"/>
              </a:ext>
            </a:extLst>
          </p:cNvPr>
          <p:cNvSpPr txBox="1"/>
          <p:nvPr/>
        </p:nvSpPr>
        <p:spPr>
          <a:xfrm>
            <a:off x="31531" y="3048000"/>
            <a:ext cx="8996854" cy="2893100"/>
          </a:xfrm>
          <a:prstGeom prst="rect">
            <a:avLst/>
          </a:prstGeom>
          <a:noFill/>
        </p:spPr>
        <p:txBody>
          <a:bodyPr wrap="square">
            <a:spAutoFit/>
          </a:bodyPr>
          <a:lstStyle/>
          <a:p>
            <a:pPr>
              <a:buNone/>
            </a:pPr>
            <a:r>
              <a:rPr lang="en-US" sz="2600" b="0" dirty="0" err="1">
                <a:solidFill>
                  <a:srgbClr val="000000"/>
                </a:solidFill>
                <a:effectLst/>
                <a:latin typeface="Courier New" panose="02070309020205020404" pitchFamily="49" charset="0"/>
              </a:rPr>
              <a:t>grade_pivot</a:t>
            </a:r>
            <a:r>
              <a:rPr lang="en-US" sz="2600" b="0" dirty="0">
                <a:solidFill>
                  <a:srgbClr val="000000"/>
                </a:solidFill>
                <a:effectLst/>
                <a:latin typeface="Courier New" panose="02070309020205020404" pitchFamily="49" charset="0"/>
              </a:rPr>
              <a:t> = </a:t>
            </a:r>
            <a:r>
              <a:rPr lang="en-US" sz="2600" b="0" dirty="0" err="1">
                <a:solidFill>
                  <a:srgbClr val="000000"/>
                </a:solidFill>
                <a:effectLst/>
                <a:latin typeface="Courier New" panose="02070309020205020404" pitchFamily="49" charset="0"/>
              </a:rPr>
              <a:t>student_results.pivot_table</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index=</a:t>
            </a:r>
            <a:r>
              <a:rPr lang="en-US" sz="2600" b="0" dirty="0">
                <a:solidFill>
                  <a:srgbClr val="A31515"/>
                </a:solidFill>
                <a:effectLst/>
                <a:latin typeface="Courier New" panose="02070309020205020404" pitchFamily="49" charset="0"/>
              </a:rPr>
              <a:t>"</a:t>
            </a:r>
            <a:r>
              <a:rPr lang="en-US" sz="2600" b="0" dirty="0" err="1">
                <a:solidFill>
                  <a:srgbClr val="A31515"/>
                </a:solidFill>
                <a:effectLst/>
                <a:latin typeface="Courier New" panose="02070309020205020404" pitchFamily="49" charset="0"/>
              </a:rPr>
              <a:t>student_id</a:t>
            </a:r>
            <a:r>
              <a:rPr lang="en-US" sz="2600" b="0" dirty="0">
                <a:solidFill>
                  <a:srgbClr val="A31515"/>
                </a:solidFill>
                <a:effectLst/>
                <a:latin typeface="Courier New" panose="02070309020205020404" pitchFamily="49" charset="0"/>
              </a:rPr>
              <a:t>"</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columns=</a:t>
            </a:r>
            <a:r>
              <a:rPr lang="en-US" sz="2600" b="0" dirty="0">
                <a:solidFill>
                  <a:srgbClr val="A31515"/>
                </a:solidFill>
                <a:effectLst/>
                <a:latin typeface="Courier New" panose="02070309020205020404" pitchFamily="49" charset="0"/>
              </a:rPr>
              <a:t>"</a:t>
            </a:r>
            <a:r>
              <a:rPr lang="en-US" sz="2600" b="0" dirty="0" err="1">
                <a:solidFill>
                  <a:srgbClr val="A31515"/>
                </a:solidFill>
                <a:effectLst/>
                <a:latin typeface="Courier New" panose="02070309020205020404" pitchFamily="49" charset="0"/>
              </a:rPr>
              <a:t>subject_code</a:t>
            </a:r>
            <a:r>
              <a:rPr lang="en-US" sz="2600" b="0" dirty="0">
                <a:solidFill>
                  <a:srgbClr val="A31515"/>
                </a:solidFill>
                <a:effectLst/>
                <a:latin typeface="Courier New" panose="02070309020205020404" pitchFamily="49" charset="0"/>
              </a:rPr>
              <a:t>"</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values=</a:t>
            </a:r>
            <a:r>
              <a:rPr lang="en-US" sz="2600" b="0" dirty="0">
                <a:solidFill>
                  <a:srgbClr val="A31515"/>
                </a:solidFill>
                <a:effectLst/>
                <a:latin typeface="Courier New" panose="02070309020205020404" pitchFamily="49" charset="0"/>
              </a:rPr>
              <a:t>"</a:t>
            </a:r>
            <a:r>
              <a:rPr lang="en-US" sz="2600" b="0" dirty="0" err="1">
                <a:solidFill>
                  <a:srgbClr val="A31515"/>
                </a:solidFill>
                <a:effectLst/>
                <a:latin typeface="Courier New" panose="02070309020205020404" pitchFamily="49" charset="0"/>
              </a:rPr>
              <a:t>final_mark</a:t>
            </a:r>
            <a:r>
              <a:rPr lang="en-US" sz="2600" b="0" dirty="0">
                <a:solidFill>
                  <a:srgbClr val="A31515"/>
                </a:solidFill>
                <a:effectLst/>
                <a:latin typeface="Courier New" panose="02070309020205020404" pitchFamily="49" charset="0"/>
              </a:rPr>
              <a:t>"</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aggfunc</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"mean"</a:t>
            </a:r>
            <a:endParaRPr lang="en-US" sz="2600" b="0" dirty="0">
              <a:solidFill>
                <a:srgbClr val="000000"/>
              </a:solidFill>
              <a:effectLst/>
              <a:latin typeface="Courier New" panose="02070309020205020404" pitchFamily="49" charset="0"/>
            </a:endParaRPr>
          </a:p>
          <a:p>
            <a:pPr>
              <a:buNone/>
            </a:pPr>
            <a:r>
              <a:rPr lang="en-US" sz="2600" b="0" dirty="0">
                <a:solidFill>
                  <a:srgbClr val="000000"/>
                </a:solidFill>
                <a:effectLst/>
                <a:latin typeface="Courier New" panose="02070309020205020404" pitchFamily="49" charset="0"/>
              </a:rPr>
              <a:t>)</a:t>
            </a:r>
          </a:p>
          <a:p>
            <a:pPr>
              <a:buNone/>
            </a:pPr>
            <a:r>
              <a:rPr lang="en-US" sz="2600" b="0" dirty="0" err="1">
                <a:solidFill>
                  <a:srgbClr val="000000"/>
                </a:solidFill>
                <a:effectLst/>
                <a:latin typeface="Courier New" panose="02070309020205020404" pitchFamily="49" charset="0"/>
              </a:rPr>
              <a:t>grade_pivot.head</a:t>
            </a:r>
            <a:r>
              <a:rPr lang="en-US" sz="26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31064374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40FF-ABB4-7FFC-7BBA-D11D064F1B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09EBD3-0716-0378-1ACA-B2F04F295608}"/>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3774C9F1-ED91-5E7A-E052-F5F9E0367766}"/>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AFC7492B-524B-0CE4-EF86-87505FB6FB29}"/>
              </a:ext>
            </a:extLst>
          </p:cNvPr>
          <p:cNvPicPr>
            <a:picLocks noChangeAspect="1"/>
          </p:cNvPicPr>
          <p:nvPr/>
        </p:nvPicPr>
        <p:blipFill>
          <a:blip r:embed="rId2"/>
          <a:srcRect l="7471" t="44074" r="66782" b="31661"/>
          <a:stretch>
            <a:fillRect/>
          </a:stretch>
        </p:blipFill>
        <p:spPr>
          <a:xfrm>
            <a:off x="334024" y="1544890"/>
            <a:ext cx="8475952" cy="4493388"/>
          </a:xfrm>
          <a:prstGeom prst="rect">
            <a:avLst/>
          </a:prstGeom>
        </p:spPr>
      </p:pic>
    </p:spTree>
    <p:extLst>
      <p:ext uri="{BB962C8B-B14F-4D97-AF65-F5344CB8AC3E}">
        <p14:creationId xmlns:p14="http://schemas.microsoft.com/office/powerpoint/2010/main" val="356144054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B7F5-A2E3-D26A-BCF4-24F1C55F31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0F3BAF-1F08-E7D7-7F62-858FE18C167D}"/>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D87A001C-A07F-A066-7DFC-06273E65DBD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9" name="TextBox 8">
            <a:extLst>
              <a:ext uri="{FF2B5EF4-FFF2-40B4-BE49-F238E27FC236}">
                <a16:creationId xmlns:a16="http://schemas.microsoft.com/office/drawing/2014/main" id="{DBCE4CA7-1A27-29F4-94BD-2A7F56C47167}"/>
              </a:ext>
            </a:extLst>
          </p:cNvPr>
          <p:cNvSpPr txBox="1"/>
          <p:nvPr/>
        </p:nvSpPr>
        <p:spPr>
          <a:xfrm>
            <a:off x="0" y="1143000"/>
            <a:ext cx="8996854" cy="1318181"/>
          </a:xfrm>
          <a:prstGeom prst="rect">
            <a:avLst/>
          </a:prstGeom>
          <a:noFill/>
        </p:spPr>
        <p:txBody>
          <a:bodyPr wrap="square">
            <a:spAutoFit/>
          </a:bodyPr>
          <a:lstStyle/>
          <a:p>
            <a:pPr>
              <a:lnSpc>
                <a:spcPct val="150000"/>
              </a:lnSpc>
            </a:pPr>
            <a:r>
              <a:rPr lang="en-US" sz="2800" b="1" dirty="0">
                <a:latin typeface="+mj-lt"/>
              </a:rPr>
              <a:t>Task 10: Melt Wide Data Back to Long Format</a:t>
            </a:r>
          </a:p>
          <a:p>
            <a:pPr>
              <a:lnSpc>
                <a:spcPct val="150000"/>
              </a:lnSpc>
            </a:pPr>
            <a:r>
              <a:rPr lang="en-US" sz="2800" dirty="0">
                <a:latin typeface="+mj-lt"/>
              </a:rPr>
              <a:t>Convert the pivot table back into long format.</a:t>
            </a:r>
          </a:p>
        </p:txBody>
      </p:sp>
      <p:sp>
        <p:nvSpPr>
          <p:cNvPr id="4" name="TextBox 3">
            <a:extLst>
              <a:ext uri="{FF2B5EF4-FFF2-40B4-BE49-F238E27FC236}">
                <a16:creationId xmlns:a16="http://schemas.microsoft.com/office/drawing/2014/main" id="{7A596C64-0F24-5C6A-9080-81B42BD88728}"/>
              </a:ext>
            </a:extLst>
          </p:cNvPr>
          <p:cNvSpPr txBox="1"/>
          <p:nvPr/>
        </p:nvSpPr>
        <p:spPr>
          <a:xfrm>
            <a:off x="73573" y="2811770"/>
            <a:ext cx="8996854" cy="3170099"/>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grade_wide</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grade_pivot.reset_index</a:t>
            </a:r>
            <a:r>
              <a:rPr lang="en-US" sz="2500" b="0" dirty="0">
                <a:solidFill>
                  <a:srgbClr val="000000"/>
                </a:solidFill>
                <a:effectLst/>
                <a:latin typeface="Courier New" panose="02070309020205020404" pitchFamily="49" charset="0"/>
              </a:rPr>
              <a:t>()</a:t>
            </a:r>
          </a:p>
          <a:p>
            <a:pPr>
              <a:buNone/>
            </a:pPr>
            <a:endParaRPr lang="en-US" sz="2500" b="0" dirty="0">
              <a:solidFill>
                <a:srgbClr val="000000"/>
              </a:solidFill>
              <a:effectLst/>
              <a:latin typeface="Courier New" panose="02070309020205020404" pitchFamily="49" charset="0"/>
            </a:endParaRPr>
          </a:p>
          <a:p>
            <a:pPr>
              <a:buNone/>
            </a:pPr>
            <a:r>
              <a:rPr lang="en-US" sz="2500" b="0" dirty="0" err="1">
                <a:solidFill>
                  <a:srgbClr val="000000"/>
                </a:solidFill>
                <a:effectLst/>
                <a:latin typeface="Courier New" panose="02070309020205020404" pitchFamily="49" charset="0"/>
              </a:rPr>
              <a:t>grade_long</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grade_wide.melt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id_vars</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student_id</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var_name</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subject_code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value_name</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endParaRPr lang="en-US" sz="2500" b="0" dirty="0">
              <a:solidFill>
                <a:srgbClr val="000000"/>
              </a:solidFill>
              <a:effectLst/>
              <a:latin typeface="Courier New" panose="02070309020205020404" pitchFamily="49" charset="0"/>
            </a:endParaRPr>
          </a:p>
          <a:p>
            <a:pPr>
              <a:buNone/>
            </a:pPr>
            <a:r>
              <a:rPr lang="en-US" sz="2500" b="0" dirty="0">
                <a:solidFill>
                  <a:srgbClr val="000000"/>
                </a:solidFill>
                <a:effectLst/>
                <a:latin typeface="Courier New" panose="02070309020205020404" pitchFamily="49" charset="0"/>
              </a:rPr>
              <a:t>)</a:t>
            </a:r>
          </a:p>
          <a:p>
            <a:pPr>
              <a:buNone/>
            </a:pPr>
            <a:r>
              <a:rPr lang="en-US" sz="2500" b="0" dirty="0" err="1">
                <a:solidFill>
                  <a:srgbClr val="000000"/>
                </a:solidFill>
                <a:effectLst/>
                <a:latin typeface="Courier New" panose="02070309020205020404" pitchFamily="49" charset="0"/>
              </a:rPr>
              <a:t>grade_long.head</a:t>
            </a:r>
            <a:r>
              <a:rPr lang="en-US" sz="25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5502881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128D5-1DA0-8689-DA9D-FD3088466E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B97F72-F373-4614-EA20-4D0C88174C5F}"/>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DADD7FC5-8F25-5B12-2E5B-D73DFEE0494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21856D60-90A3-E130-8FA5-B48B62062F2F}"/>
              </a:ext>
            </a:extLst>
          </p:cNvPr>
          <p:cNvPicPr>
            <a:picLocks noChangeAspect="1"/>
          </p:cNvPicPr>
          <p:nvPr/>
        </p:nvPicPr>
        <p:blipFill>
          <a:blip r:embed="rId2"/>
          <a:srcRect l="7500" t="57407" r="71839" b="21852"/>
          <a:stretch>
            <a:fillRect/>
          </a:stretch>
        </p:blipFill>
        <p:spPr>
          <a:xfrm>
            <a:off x="914400" y="1524000"/>
            <a:ext cx="6920865" cy="3908028"/>
          </a:xfrm>
          <a:prstGeom prst="rect">
            <a:avLst/>
          </a:prstGeom>
        </p:spPr>
      </p:pic>
    </p:spTree>
    <p:extLst>
      <p:ext uri="{BB962C8B-B14F-4D97-AF65-F5344CB8AC3E}">
        <p14:creationId xmlns:p14="http://schemas.microsoft.com/office/powerpoint/2010/main" val="96059188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CDAF1-4880-53D3-B31A-42D3AA7E91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04A9EAE-0308-DDA1-729F-C2A7393332BE}"/>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CAC472D9-B037-3B8B-9EF9-1D82A0C64B8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8" name="TextBox 7">
            <a:extLst>
              <a:ext uri="{FF2B5EF4-FFF2-40B4-BE49-F238E27FC236}">
                <a16:creationId xmlns:a16="http://schemas.microsoft.com/office/drawing/2014/main" id="{2106E316-B7DF-54A9-049E-68F014DF6EA5}"/>
              </a:ext>
            </a:extLst>
          </p:cNvPr>
          <p:cNvSpPr txBox="1"/>
          <p:nvPr/>
        </p:nvSpPr>
        <p:spPr>
          <a:xfrm>
            <a:off x="0" y="1143000"/>
            <a:ext cx="8996854" cy="1318181"/>
          </a:xfrm>
          <a:prstGeom prst="rect">
            <a:avLst/>
          </a:prstGeom>
          <a:noFill/>
        </p:spPr>
        <p:txBody>
          <a:bodyPr wrap="square">
            <a:spAutoFit/>
          </a:bodyPr>
          <a:lstStyle/>
          <a:p>
            <a:pPr>
              <a:lnSpc>
                <a:spcPct val="150000"/>
              </a:lnSpc>
            </a:pPr>
            <a:r>
              <a:rPr lang="en-US" sz="2800" b="1" dirty="0">
                <a:latin typeface="+mj-lt"/>
              </a:rPr>
              <a:t>Task 11: Melt Attendance Data</a:t>
            </a:r>
          </a:p>
          <a:p>
            <a:pPr>
              <a:lnSpc>
                <a:spcPct val="150000"/>
              </a:lnSpc>
            </a:pPr>
            <a:r>
              <a:rPr lang="en-US" sz="2800" dirty="0">
                <a:latin typeface="+mj-lt"/>
              </a:rPr>
              <a:t>The attendance table is already in wide format.</a:t>
            </a:r>
          </a:p>
        </p:txBody>
      </p:sp>
      <p:sp>
        <p:nvSpPr>
          <p:cNvPr id="4" name="TextBox 3">
            <a:extLst>
              <a:ext uri="{FF2B5EF4-FFF2-40B4-BE49-F238E27FC236}">
                <a16:creationId xmlns:a16="http://schemas.microsoft.com/office/drawing/2014/main" id="{5D8F1EDE-5271-2099-157B-001DB883D899}"/>
              </a:ext>
            </a:extLst>
          </p:cNvPr>
          <p:cNvSpPr txBox="1"/>
          <p:nvPr/>
        </p:nvSpPr>
        <p:spPr>
          <a:xfrm>
            <a:off x="0" y="2577607"/>
            <a:ext cx="4645572" cy="523220"/>
          </a:xfrm>
          <a:prstGeom prst="rect">
            <a:avLst/>
          </a:prstGeom>
          <a:noFill/>
        </p:spPr>
        <p:txBody>
          <a:bodyPr wrap="square">
            <a:spAutoFit/>
          </a:bodyPr>
          <a:lstStyle/>
          <a:p>
            <a:pPr>
              <a:buNone/>
            </a:pPr>
            <a:r>
              <a:rPr lang="en-US" sz="2800" b="0" dirty="0" err="1">
                <a:solidFill>
                  <a:srgbClr val="000000"/>
                </a:solidFill>
                <a:effectLst/>
                <a:latin typeface="Courier New" panose="02070309020205020404" pitchFamily="49" charset="0"/>
              </a:rPr>
              <a:t>attendance.head</a:t>
            </a:r>
            <a:r>
              <a:rPr lang="en-US" sz="2800" b="0" dirty="0">
                <a:solidFill>
                  <a:srgbClr val="000000"/>
                </a:solidFill>
                <a:effectLst/>
                <a:latin typeface="Courier New" panose="02070309020205020404" pitchFamily="49" charset="0"/>
              </a:rPr>
              <a:t>()</a:t>
            </a:r>
          </a:p>
        </p:txBody>
      </p:sp>
      <p:pic>
        <p:nvPicPr>
          <p:cNvPr id="9" name="Picture 8">
            <a:extLst>
              <a:ext uri="{FF2B5EF4-FFF2-40B4-BE49-F238E27FC236}">
                <a16:creationId xmlns:a16="http://schemas.microsoft.com/office/drawing/2014/main" id="{50E8DB3B-6279-2E5E-1BF6-92D23A3BC34B}"/>
              </a:ext>
            </a:extLst>
          </p:cNvPr>
          <p:cNvPicPr>
            <a:picLocks noChangeAspect="1"/>
          </p:cNvPicPr>
          <p:nvPr/>
        </p:nvPicPr>
        <p:blipFill>
          <a:blip r:embed="rId2"/>
          <a:srcRect l="7356" t="56380" r="47500" b="21648"/>
          <a:stretch>
            <a:fillRect/>
          </a:stretch>
        </p:blipFill>
        <p:spPr>
          <a:xfrm>
            <a:off x="109111" y="3154840"/>
            <a:ext cx="9072922" cy="2483960"/>
          </a:xfrm>
          <a:prstGeom prst="rect">
            <a:avLst/>
          </a:prstGeom>
        </p:spPr>
      </p:pic>
    </p:spTree>
    <p:extLst>
      <p:ext uri="{BB962C8B-B14F-4D97-AF65-F5344CB8AC3E}">
        <p14:creationId xmlns:p14="http://schemas.microsoft.com/office/powerpoint/2010/main" val="5371800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6795C-E648-B94E-81CF-0411B730F9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3E4852-6A93-0649-BAB8-7BBDCDD07F5D}"/>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B635E97B-80A1-0BE9-13F8-A9F41BABA11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8" name="TextBox 7">
            <a:extLst>
              <a:ext uri="{FF2B5EF4-FFF2-40B4-BE49-F238E27FC236}">
                <a16:creationId xmlns:a16="http://schemas.microsoft.com/office/drawing/2014/main" id="{B209CAB9-DFFF-05DC-65B8-ED54533A7E1A}"/>
              </a:ext>
            </a:extLst>
          </p:cNvPr>
          <p:cNvSpPr txBox="1"/>
          <p:nvPr/>
        </p:nvSpPr>
        <p:spPr>
          <a:xfrm>
            <a:off x="-2730" y="994243"/>
            <a:ext cx="8996854" cy="671851"/>
          </a:xfrm>
          <a:prstGeom prst="rect">
            <a:avLst/>
          </a:prstGeom>
          <a:noFill/>
        </p:spPr>
        <p:txBody>
          <a:bodyPr wrap="square">
            <a:spAutoFit/>
          </a:bodyPr>
          <a:lstStyle/>
          <a:p>
            <a:pPr>
              <a:lnSpc>
                <a:spcPct val="150000"/>
              </a:lnSpc>
            </a:pPr>
            <a:r>
              <a:rPr lang="en-US" sz="2800" dirty="0">
                <a:latin typeface="+mj-lt"/>
              </a:rPr>
              <a:t>Convert weekly attendance columns into rows.</a:t>
            </a:r>
          </a:p>
        </p:txBody>
      </p:sp>
      <p:sp>
        <p:nvSpPr>
          <p:cNvPr id="6" name="TextBox 5">
            <a:extLst>
              <a:ext uri="{FF2B5EF4-FFF2-40B4-BE49-F238E27FC236}">
                <a16:creationId xmlns:a16="http://schemas.microsoft.com/office/drawing/2014/main" id="{DF08CEEE-0CDD-1E09-DD93-9F7FB0FF3119}"/>
              </a:ext>
            </a:extLst>
          </p:cNvPr>
          <p:cNvSpPr txBox="1"/>
          <p:nvPr/>
        </p:nvSpPr>
        <p:spPr>
          <a:xfrm>
            <a:off x="-23751" y="1676604"/>
            <a:ext cx="9144000" cy="2785378"/>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attendance_long</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attendance.melt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id_vars</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student_id</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 </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total_sessions_attended</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var_name</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"week"</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value_name</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sessions_attended</a:t>
            </a:r>
            <a:r>
              <a:rPr lang="en-US" sz="2500" b="0" dirty="0">
                <a:solidFill>
                  <a:srgbClr val="A31515"/>
                </a:solidFill>
                <a:effectLst/>
                <a:latin typeface="Courier New" panose="02070309020205020404" pitchFamily="49" charset="0"/>
              </a:rPr>
              <a:t>"</a:t>
            </a:r>
            <a:endParaRPr lang="en-US" sz="2500" b="0" dirty="0">
              <a:solidFill>
                <a:srgbClr val="000000"/>
              </a:solidFill>
              <a:effectLst/>
              <a:latin typeface="Courier New" panose="02070309020205020404" pitchFamily="49" charset="0"/>
            </a:endParaRPr>
          </a:p>
          <a:p>
            <a:pPr>
              <a:buNone/>
            </a:pPr>
            <a:r>
              <a:rPr lang="en-US" sz="2500" b="0" dirty="0">
                <a:solidFill>
                  <a:srgbClr val="000000"/>
                </a:solidFill>
                <a:effectLst/>
                <a:latin typeface="Courier New" panose="02070309020205020404" pitchFamily="49" charset="0"/>
              </a:rPr>
              <a:t>)</a:t>
            </a:r>
          </a:p>
          <a:p>
            <a:pPr>
              <a:buNone/>
            </a:pPr>
            <a:r>
              <a:rPr lang="en-US" sz="2500" b="0" dirty="0" err="1">
                <a:solidFill>
                  <a:srgbClr val="000000"/>
                </a:solidFill>
                <a:effectLst/>
                <a:latin typeface="Courier New" panose="02070309020205020404" pitchFamily="49" charset="0"/>
              </a:rPr>
              <a:t>attendance_long.head</a:t>
            </a:r>
            <a:r>
              <a:rPr lang="en-US" sz="2500" b="0" dirty="0">
                <a:solidFill>
                  <a:srgbClr val="000000"/>
                </a:solidFill>
                <a:effectLst/>
                <a:latin typeface="Courier New" panose="02070309020205020404" pitchFamily="49" charset="0"/>
              </a:rPr>
              <a:t>()</a:t>
            </a:r>
          </a:p>
        </p:txBody>
      </p:sp>
      <p:pic>
        <p:nvPicPr>
          <p:cNvPr id="10" name="Picture 9">
            <a:extLst>
              <a:ext uri="{FF2B5EF4-FFF2-40B4-BE49-F238E27FC236}">
                <a16:creationId xmlns:a16="http://schemas.microsoft.com/office/drawing/2014/main" id="{58439FBD-38AF-8880-B69E-57316A280F4E}"/>
              </a:ext>
            </a:extLst>
          </p:cNvPr>
          <p:cNvPicPr>
            <a:picLocks noChangeAspect="1"/>
          </p:cNvPicPr>
          <p:nvPr/>
        </p:nvPicPr>
        <p:blipFill>
          <a:blip r:embed="rId2"/>
          <a:srcRect l="8621" t="43818" r="60000" b="34522"/>
          <a:stretch>
            <a:fillRect/>
          </a:stretch>
        </p:blipFill>
        <p:spPr>
          <a:xfrm>
            <a:off x="23751" y="4323530"/>
            <a:ext cx="6526924" cy="2534266"/>
          </a:xfrm>
          <a:prstGeom prst="rect">
            <a:avLst/>
          </a:prstGeom>
        </p:spPr>
      </p:pic>
      <p:sp>
        <p:nvSpPr>
          <p:cNvPr id="12" name="TextBox 11">
            <a:extLst>
              <a:ext uri="{FF2B5EF4-FFF2-40B4-BE49-F238E27FC236}">
                <a16:creationId xmlns:a16="http://schemas.microsoft.com/office/drawing/2014/main" id="{3F8BA3C2-EA17-A0A1-6885-9FCB92F48F66}"/>
              </a:ext>
            </a:extLst>
          </p:cNvPr>
          <p:cNvSpPr txBox="1"/>
          <p:nvPr/>
        </p:nvSpPr>
        <p:spPr>
          <a:xfrm>
            <a:off x="6550675" y="3806127"/>
            <a:ext cx="2617076" cy="2918107"/>
          </a:xfrm>
          <a:prstGeom prst="rect">
            <a:avLst/>
          </a:prstGeom>
          <a:noFill/>
        </p:spPr>
        <p:txBody>
          <a:bodyPr wrap="square">
            <a:spAutoFit/>
          </a:bodyPr>
          <a:lstStyle/>
          <a:p>
            <a:pPr>
              <a:lnSpc>
                <a:spcPct val="150000"/>
              </a:lnSpc>
              <a:buNone/>
            </a:pPr>
            <a:r>
              <a:rPr lang="en-US" sz="2500" dirty="0">
                <a:latin typeface="+mj-lt"/>
              </a:rPr>
              <a:t>Discussion:</a:t>
            </a:r>
          </a:p>
          <a:p>
            <a:pPr>
              <a:lnSpc>
                <a:spcPct val="150000"/>
              </a:lnSpc>
              <a:buNone/>
            </a:pPr>
            <a:r>
              <a:rPr lang="en-US" sz="2500" dirty="0">
                <a:latin typeface="+mj-lt"/>
              </a:rPr>
              <a:t>This makes attendance easier to </a:t>
            </a:r>
            <a:r>
              <a:rPr lang="en-US" sz="2500" dirty="0" err="1">
                <a:latin typeface="+mj-lt"/>
              </a:rPr>
              <a:t>analyse</a:t>
            </a:r>
            <a:r>
              <a:rPr lang="en-US" sz="2500" dirty="0">
                <a:latin typeface="+mj-lt"/>
              </a:rPr>
              <a:t> week by week.</a:t>
            </a:r>
          </a:p>
        </p:txBody>
      </p:sp>
    </p:spTree>
    <p:extLst>
      <p:ext uri="{BB962C8B-B14F-4D97-AF65-F5344CB8AC3E}">
        <p14:creationId xmlns:p14="http://schemas.microsoft.com/office/powerpoint/2010/main" val="152759303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EB6BC-901C-488A-CEE0-733750533A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3D20F19-B008-92E2-417A-60DC21053D00}"/>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FFC9695B-4731-B577-1299-878C951363F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8" name="TextBox 7">
            <a:extLst>
              <a:ext uri="{FF2B5EF4-FFF2-40B4-BE49-F238E27FC236}">
                <a16:creationId xmlns:a16="http://schemas.microsoft.com/office/drawing/2014/main" id="{447557F5-5772-C2E6-AAEF-6001932A2422}"/>
              </a:ext>
            </a:extLst>
          </p:cNvPr>
          <p:cNvSpPr txBox="1"/>
          <p:nvPr/>
        </p:nvSpPr>
        <p:spPr>
          <a:xfrm>
            <a:off x="-2730" y="994243"/>
            <a:ext cx="8996854" cy="1964512"/>
          </a:xfrm>
          <a:prstGeom prst="rect">
            <a:avLst/>
          </a:prstGeom>
          <a:noFill/>
        </p:spPr>
        <p:txBody>
          <a:bodyPr wrap="square">
            <a:spAutoFit/>
          </a:bodyPr>
          <a:lstStyle/>
          <a:p>
            <a:pPr>
              <a:lnSpc>
                <a:spcPct val="150000"/>
              </a:lnSpc>
            </a:pPr>
            <a:r>
              <a:rPr lang="en-US" sz="2800" b="1" dirty="0">
                <a:latin typeface="+mj-lt"/>
              </a:rPr>
              <a:t>Task 12: Stack and Unstack</a:t>
            </a:r>
          </a:p>
          <a:p>
            <a:pPr>
              <a:lnSpc>
                <a:spcPct val="150000"/>
              </a:lnSpc>
            </a:pPr>
            <a:r>
              <a:rPr lang="en-US" sz="2800" dirty="0">
                <a:latin typeface="+mj-lt"/>
              </a:rPr>
              <a:t>Create a summary table of average final marks by campus and subject.</a:t>
            </a:r>
          </a:p>
        </p:txBody>
      </p:sp>
      <p:sp>
        <p:nvSpPr>
          <p:cNvPr id="4" name="TextBox 3">
            <a:extLst>
              <a:ext uri="{FF2B5EF4-FFF2-40B4-BE49-F238E27FC236}">
                <a16:creationId xmlns:a16="http://schemas.microsoft.com/office/drawing/2014/main" id="{D0F886BA-82F5-6981-B874-B3C0CB201D9A}"/>
              </a:ext>
            </a:extLst>
          </p:cNvPr>
          <p:cNvSpPr txBox="1"/>
          <p:nvPr/>
        </p:nvSpPr>
        <p:spPr>
          <a:xfrm>
            <a:off x="0" y="3078379"/>
            <a:ext cx="8996854" cy="2785378"/>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campus_subject</a:t>
            </a:r>
            <a:r>
              <a:rPr lang="en-US" sz="2500" b="0" dirty="0">
                <a:solidFill>
                  <a:srgbClr val="000000"/>
                </a:solidFill>
                <a:effectLst/>
                <a:latin typeface="Courier New" panose="02070309020205020404" pitchFamily="49" charset="0"/>
              </a:rPr>
              <a:t> = </a:t>
            </a:r>
            <a:r>
              <a:rPr lang="en-US" sz="2500" b="0" dirty="0" err="1">
                <a:solidFill>
                  <a:srgbClr val="000000"/>
                </a:solidFill>
                <a:effectLst/>
                <a:latin typeface="Courier New" panose="02070309020205020404" pitchFamily="49" charset="0"/>
              </a:rPr>
              <a:t>student_results.pivot_table</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index=</a:t>
            </a:r>
            <a:r>
              <a:rPr lang="en-US" sz="2500" b="0" dirty="0">
                <a:solidFill>
                  <a:srgbClr val="A31515"/>
                </a:solidFill>
                <a:effectLst/>
                <a:latin typeface="Courier New" panose="02070309020205020404" pitchFamily="49" charset="0"/>
              </a:rPr>
              <a:t>"campus"</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columns=</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subject_code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values=</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p>
          <a:p>
            <a:pPr>
              <a:buNone/>
            </a:pPr>
            <a:r>
              <a:rPr lang="en-US" sz="2500" b="0" dirty="0">
                <a:solidFill>
                  <a:srgbClr val="000000"/>
                </a:solidFill>
                <a:effectLst/>
                <a:latin typeface="Courier New" panose="02070309020205020404" pitchFamily="49" charset="0"/>
              </a:rPr>
              <a:t>    </a:t>
            </a:r>
            <a:r>
              <a:rPr lang="en-US" sz="2500" b="0" dirty="0" err="1">
                <a:solidFill>
                  <a:srgbClr val="000000"/>
                </a:solidFill>
                <a:effectLst/>
                <a:latin typeface="Courier New" panose="02070309020205020404" pitchFamily="49" charset="0"/>
              </a:rPr>
              <a:t>aggfunc</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"mean"</a:t>
            </a:r>
            <a:endParaRPr lang="en-US" sz="2500" b="0" dirty="0">
              <a:solidFill>
                <a:srgbClr val="000000"/>
              </a:solidFill>
              <a:effectLst/>
              <a:latin typeface="Courier New" panose="02070309020205020404" pitchFamily="49" charset="0"/>
            </a:endParaRPr>
          </a:p>
          <a:p>
            <a:pPr>
              <a:buNone/>
            </a:pPr>
            <a:r>
              <a:rPr lang="en-US" sz="2500" b="0" dirty="0">
                <a:solidFill>
                  <a:srgbClr val="000000"/>
                </a:solidFill>
                <a:effectLst/>
                <a:latin typeface="Courier New" panose="02070309020205020404" pitchFamily="49" charset="0"/>
              </a:rPr>
              <a:t>)</a:t>
            </a:r>
          </a:p>
          <a:p>
            <a:pPr>
              <a:buNone/>
            </a:pPr>
            <a:r>
              <a:rPr lang="en-US" sz="2500" b="0" dirty="0" err="1">
                <a:solidFill>
                  <a:srgbClr val="000000"/>
                </a:solidFill>
                <a:effectLst/>
                <a:latin typeface="Courier New" panose="02070309020205020404" pitchFamily="49" charset="0"/>
              </a:rPr>
              <a:t>campus_subject</a:t>
            </a:r>
            <a:endParaRPr lang="en-US" sz="25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6190622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0D958-700A-C2A3-E2EB-C12FA2B00E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826C46-5091-DDBB-56FD-609DEE0CF2C6}"/>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F66FA549-FD57-12D5-19F9-781E22354D2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pic>
        <p:nvPicPr>
          <p:cNvPr id="6" name="Picture 5">
            <a:extLst>
              <a:ext uri="{FF2B5EF4-FFF2-40B4-BE49-F238E27FC236}">
                <a16:creationId xmlns:a16="http://schemas.microsoft.com/office/drawing/2014/main" id="{ED41B23C-8067-E644-F189-F9331760C61D}"/>
              </a:ext>
            </a:extLst>
          </p:cNvPr>
          <p:cNvPicPr>
            <a:picLocks noChangeAspect="1"/>
          </p:cNvPicPr>
          <p:nvPr/>
        </p:nvPicPr>
        <p:blipFill>
          <a:blip r:embed="rId2"/>
          <a:srcRect l="8333" t="52963" r="65516" b="26297"/>
          <a:stretch>
            <a:fillRect/>
          </a:stretch>
        </p:blipFill>
        <p:spPr>
          <a:xfrm>
            <a:off x="668143" y="1687375"/>
            <a:ext cx="7807714" cy="3483250"/>
          </a:xfrm>
          <a:prstGeom prst="rect">
            <a:avLst/>
          </a:prstGeom>
        </p:spPr>
      </p:pic>
    </p:spTree>
    <p:extLst>
      <p:ext uri="{BB962C8B-B14F-4D97-AF65-F5344CB8AC3E}">
        <p14:creationId xmlns:p14="http://schemas.microsoft.com/office/powerpoint/2010/main" val="218415849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6D9A-1ACC-EF98-AC71-E7D9BA187E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5775767-237C-2137-EAD0-1DC1674E62C2}"/>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8D73CD14-F499-1CB2-23DD-5DAA5F9AD2F5}"/>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D1B99981-4B8E-8873-6E31-6266765DC471}"/>
              </a:ext>
            </a:extLst>
          </p:cNvPr>
          <p:cNvSpPr txBox="1"/>
          <p:nvPr/>
        </p:nvSpPr>
        <p:spPr>
          <a:xfrm>
            <a:off x="0" y="1124806"/>
            <a:ext cx="4645572" cy="523220"/>
          </a:xfrm>
          <a:prstGeom prst="rect">
            <a:avLst/>
          </a:prstGeom>
          <a:noFill/>
        </p:spPr>
        <p:txBody>
          <a:bodyPr wrap="square">
            <a:spAutoFit/>
          </a:bodyPr>
          <a:lstStyle/>
          <a:p>
            <a:r>
              <a:rPr lang="en-US" sz="2800" dirty="0">
                <a:latin typeface="+mj-lt"/>
              </a:rPr>
              <a:t>Stack:</a:t>
            </a:r>
          </a:p>
        </p:txBody>
      </p:sp>
      <p:sp>
        <p:nvSpPr>
          <p:cNvPr id="9" name="TextBox 8">
            <a:extLst>
              <a:ext uri="{FF2B5EF4-FFF2-40B4-BE49-F238E27FC236}">
                <a16:creationId xmlns:a16="http://schemas.microsoft.com/office/drawing/2014/main" id="{9EC20D6A-A959-19C8-F7A5-214394A3AB36}"/>
              </a:ext>
            </a:extLst>
          </p:cNvPr>
          <p:cNvSpPr txBox="1"/>
          <p:nvPr/>
        </p:nvSpPr>
        <p:spPr>
          <a:xfrm>
            <a:off x="0" y="1905000"/>
            <a:ext cx="9144000" cy="1384995"/>
          </a:xfrm>
          <a:prstGeom prst="rect">
            <a:avLst/>
          </a:prstGeom>
          <a:noFill/>
        </p:spPr>
        <p:txBody>
          <a:bodyPr wrap="square">
            <a:spAutoFit/>
          </a:bodyPr>
          <a:lstStyle/>
          <a:p>
            <a:pPr>
              <a:buNone/>
            </a:pPr>
            <a:r>
              <a:rPr lang="en-US" sz="2800" b="0" dirty="0">
                <a:solidFill>
                  <a:srgbClr val="000000"/>
                </a:solidFill>
                <a:effectLst/>
                <a:latin typeface="Courier New" panose="02070309020205020404" pitchFamily="49" charset="0"/>
              </a:rPr>
              <a:t>stacked = </a:t>
            </a:r>
            <a:r>
              <a:rPr lang="en-US" sz="2800" b="0" dirty="0" err="1">
                <a:solidFill>
                  <a:srgbClr val="000000"/>
                </a:solidFill>
                <a:effectLst/>
                <a:latin typeface="Courier New" panose="02070309020205020404" pitchFamily="49" charset="0"/>
              </a:rPr>
              <a:t>campus_subject.stack</a:t>
            </a:r>
            <a:r>
              <a:rPr lang="en-US" sz="2800" b="0" dirty="0">
                <a:solidFill>
                  <a:srgbClr val="000000"/>
                </a:solidFill>
                <a:effectLst/>
                <a:latin typeface="Courier New" panose="02070309020205020404" pitchFamily="49" charset="0"/>
              </a:rPr>
              <a:t>()</a:t>
            </a:r>
          </a:p>
          <a:p>
            <a:pPr>
              <a:buNone/>
            </a:pPr>
            <a:endParaRPr lang="en-US" sz="2800" b="0" dirty="0">
              <a:solidFill>
                <a:srgbClr val="000000"/>
              </a:solidFill>
              <a:effectLst/>
              <a:latin typeface="Courier New" panose="02070309020205020404" pitchFamily="49" charset="0"/>
            </a:endParaRPr>
          </a:p>
          <a:p>
            <a:pPr>
              <a:buNone/>
            </a:pPr>
            <a:r>
              <a:rPr lang="en-US" sz="2800" b="0" dirty="0">
                <a:solidFill>
                  <a:srgbClr val="000000"/>
                </a:solidFill>
                <a:effectLst/>
                <a:latin typeface="Courier New" panose="02070309020205020404" pitchFamily="49" charset="0"/>
              </a:rPr>
              <a:t>stacked</a:t>
            </a:r>
          </a:p>
        </p:txBody>
      </p:sp>
      <p:pic>
        <p:nvPicPr>
          <p:cNvPr id="11" name="Picture 10">
            <a:extLst>
              <a:ext uri="{FF2B5EF4-FFF2-40B4-BE49-F238E27FC236}">
                <a16:creationId xmlns:a16="http://schemas.microsoft.com/office/drawing/2014/main" id="{8BD41D30-AA21-8EC0-01F0-428364F896F6}"/>
              </a:ext>
            </a:extLst>
          </p:cNvPr>
          <p:cNvPicPr>
            <a:picLocks noChangeAspect="1"/>
          </p:cNvPicPr>
          <p:nvPr/>
        </p:nvPicPr>
        <p:blipFill>
          <a:blip r:embed="rId2"/>
          <a:srcRect l="8966" t="31150" r="73347" b="11481"/>
          <a:stretch>
            <a:fillRect/>
          </a:stretch>
        </p:blipFill>
        <p:spPr>
          <a:xfrm>
            <a:off x="6781800" y="2565966"/>
            <a:ext cx="2341179" cy="4271442"/>
          </a:xfrm>
          <a:prstGeom prst="rect">
            <a:avLst/>
          </a:prstGeom>
        </p:spPr>
      </p:pic>
    </p:spTree>
    <p:extLst>
      <p:ext uri="{BB962C8B-B14F-4D97-AF65-F5344CB8AC3E}">
        <p14:creationId xmlns:p14="http://schemas.microsoft.com/office/powerpoint/2010/main" val="21818345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4030-DCC4-5B55-E0F7-19C2E4C2C9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DA6E623-A7CD-2889-F773-F6C475E94BCB}"/>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99FAB710-71BD-BB63-56D5-4A802EFDE27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D63DF7CE-E944-C0A2-15B7-7FA111107B75}"/>
              </a:ext>
            </a:extLst>
          </p:cNvPr>
          <p:cNvSpPr txBox="1"/>
          <p:nvPr/>
        </p:nvSpPr>
        <p:spPr>
          <a:xfrm>
            <a:off x="0" y="1124806"/>
            <a:ext cx="4645572" cy="523220"/>
          </a:xfrm>
          <a:prstGeom prst="rect">
            <a:avLst/>
          </a:prstGeom>
          <a:noFill/>
        </p:spPr>
        <p:txBody>
          <a:bodyPr wrap="square">
            <a:spAutoFit/>
          </a:bodyPr>
          <a:lstStyle/>
          <a:p>
            <a:r>
              <a:rPr lang="en-US" sz="2800" dirty="0">
                <a:latin typeface="+mj-lt"/>
              </a:rPr>
              <a:t>Unstack:</a:t>
            </a:r>
          </a:p>
        </p:txBody>
      </p:sp>
      <p:sp>
        <p:nvSpPr>
          <p:cNvPr id="4" name="TextBox 3">
            <a:extLst>
              <a:ext uri="{FF2B5EF4-FFF2-40B4-BE49-F238E27FC236}">
                <a16:creationId xmlns:a16="http://schemas.microsoft.com/office/drawing/2014/main" id="{5F574214-8211-907A-763D-39390B6212CB}"/>
              </a:ext>
            </a:extLst>
          </p:cNvPr>
          <p:cNvSpPr txBox="1"/>
          <p:nvPr/>
        </p:nvSpPr>
        <p:spPr>
          <a:xfrm>
            <a:off x="0" y="1855540"/>
            <a:ext cx="9144000" cy="1384995"/>
          </a:xfrm>
          <a:prstGeom prst="rect">
            <a:avLst/>
          </a:prstGeom>
          <a:noFill/>
        </p:spPr>
        <p:txBody>
          <a:bodyPr wrap="square">
            <a:spAutoFit/>
          </a:bodyPr>
          <a:lstStyle/>
          <a:p>
            <a:pPr>
              <a:buNone/>
            </a:pPr>
            <a:r>
              <a:rPr lang="en-US" sz="2800" b="0" dirty="0">
                <a:solidFill>
                  <a:srgbClr val="000000"/>
                </a:solidFill>
                <a:effectLst/>
                <a:latin typeface="Courier New" panose="02070309020205020404" pitchFamily="49" charset="0"/>
              </a:rPr>
              <a:t>unstacked = </a:t>
            </a:r>
            <a:r>
              <a:rPr lang="en-US" sz="2800" b="0" dirty="0" err="1">
                <a:solidFill>
                  <a:srgbClr val="000000"/>
                </a:solidFill>
                <a:effectLst/>
                <a:latin typeface="Courier New" panose="02070309020205020404" pitchFamily="49" charset="0"/>
              </a:rPr>
              <a:t>stacked.unstack</a:t>
            </a:r>
            <a:r>
              <a:rPr lang="en-US" sz="2800" b="0" dirty="0">
                <a:solidFill>
                  <a:srgbClr val="000000"/>
                </a:solidFill>
                <a:effectLst/>
                <a:latin typeface="Courier New" panose="02070309020205020404" pitchFamily="49" charset="0"/>
              </a:rPr>
              <a:t>()</a:t>
            </a:r>
          </a:p>
          <a:p>
            <a:pPr>
              <a:buNone/>
            </a:pPr>
            <a:br>
              <a:rPr lang="en-US" sz="2800" b="0" dirty="0">
                <a:solidFill>
                  <a:srgbClr val="000000"/>
                </a:solidFill>
                <a:effectLst/>
                <a:latin typeface="Courier New" panose="02070309020205020404" pitchFamily="49" charset="0"/>
              </a:rPr>
            </a:br>
            <a:r>
              <a:rPr lang="en-US" sz="2800" b="0" dirty="0">
                <a:solidFill>
                  <a:srgbClr val="000000"/>
                </a:solidFill>
                <a:effectLst/>
                <a:latin typeface="Courier New" panose="02070309020205020404" pitchFamily="49" charset="0"/>
              </a:rPr>
              <a:t>unstacked</a:t>
            </a:r>
          </a:p>
        </p:txBody>
      </p:sp>
      <p:pic>
        <p:nvPicPr>
          <p:cNvPr id="8" name="Picture 7">
            <a:extLst>
              <a:ext uri="{FF2B5EF4-FFF2-40B4-BE49-F238E27FC236}">
                <a16:creationId xmlns:a16="http://schemas.microsoft.com/office/drawing/2014/main" id="{9EA5D328-D35B-5E53-A983-B831A3A7029C}"/>
              </a:ext>
            </a:extLst>
          </p:cNvPr>
          <p:cNvPicPr>
            <a:picLocks noChangeAspect="1"/>
          </p:cNvPicPr>
          <p:nvPr/>
        </p:nvPicPr>
        <p:blipFill>
          <a:blip r:embed="rId2"/>
          <a:srcRect l="8391" t="44840" r="65000" b="32237"/>
          <a:stretch>
            <a:fillRect/>
          </a:stretch>
        </p:blipFill>
        <p:spPr>
          <a:xfrm>
            <a:off x="1602826" y="3618638"/>
            <a:ext cx="5938348" cy="2877522"/>
          </a:xfrm>
          <a:prstGeom prst="rect">
            <a:avLst/>
          </a:prstGeom>
        </p:spPr>
      </p:pic>
    </p:spTree>
    <p:extLst>
      <p:ext uri="{BB962C8B-B14F-4D97-AF65-F5344CB8AC3E}">
        <p14:creationId xmlns:p14="http://schemas.microsoft.com/office/powerpoint/2010/main" val="336224247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F77BA-ED89-5538-4199-2898D12A09A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C278CF-6B57-0E27-4DD9-32BF20F36C10}"/>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49D9CC5D-DD9C-6908-31B1-FF4C4CBA1C7D}"/>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A4C8BCF4-A192-7B88-4C8D-5EEF180A2154}"/>
              </a:ext>
            </a:extLst>
          </p:cNvPr>
          <p:cNvSpPr txBox="1"/>
          <p:nvPr/>
        </p:nvSpPr>
        <p:spPr>
          <a:xfrm>
            <a:off x="0" y="1124806"/>
            <a:ext cx="9144000" cy="1318181"/>
          </a:xfrm>
          <a:prstGeom prst="rect">
            <a:avLst/>
          </a:prstGeom>
          <a:noFill/>
        </p:spPr>
        <p:txBody>
          <a:bodyPr wrap="square">
            <a:spAutoFit/>
          </a:bodyPr>
          <a:lstStyle/>
          <a:p>
            <a:pPr>
              <a:lnSpc>
                <a:spcPct val="150000"/>
              </a:lnSpc>
            </a:pPr>
            <a:r>
              <a:rPr lang="en-US" sz="2800" dirty="0">
                <a:latin typeface="+mj-lt"/>
              </a:rPr>
              <a:t>stack() moves columns into rows.</a:t>
            </a:r>
            <a:br>
              <a:rPr lang="en-US" sz="2800" dirty="0">
                <a:latin typeface="+mj-lt"/>
              </a:rPr>
            </a:br>
            <a:r>
              <a:rPr lang="en-US" sz="2800" dirty="0">
                <a:latin typeface="+mj-lt"/>
              </a:rPr>
              <a:t>unstack() moves rows back into columns.</a:t>
            </a:r>
          </a:p>
        </p:txBody>
      </p:sp>
      <p:pic>
        <p:nvPicPr>
          <p:cNvPr id="8" name="Picture 7">
            <a:extLst>
              <a:ext uri="{FF2B5EF4-FFF2-40B4-BE49-F238E27FC236}">
                <a16:creationId xmlns:a16="http://schemas.microsoft.com/office/drawing/2014/main" id="{F8CC35C1-CC78-2677-1EAB-201A9E0EB9B7}"/>
              </a:ext>
            </a:extLst>
          </p:cNvPr>
          <p:cNvPicPr>
            <a:picLocks noChangeAspect="1"/>
          </p:cNvPicPr>
          <p:nvPr/>
        </p:nvPicPr>
        <p:blipFill>
          <a:blip r:embed="rId2"/>
          <a:srcRect l="8391" t="44840" r="65000" b="32237"/>
          <a:stretch>
            <a:fillRect/>
          </a:stretch>
        </p:blipFill>
        <p:spPr>
          <a:xfrm>
            <a:off x="1602826" y="2976253"/>
            <a:ext cx="5938348" cy="2877522"/>
          </a:xfrm>
          <a:prstGeom prst="rect">
            <a:avLst/>
          </a:prstGeom>
        </p:spPr>
      </p:pic>
    </p:spTree>
    <p:extLst>
      <p:ext uri="{BB962C8B-B14F-4D97-AF65-F5344CB8AC3E}">
        <p14:creationId xmlns:p14="http://schemas.microsoft.com/office/powerpoint/2010/main" val="21248609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9CCB-2102-A457-E9A7-3688B753C7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8251A0-6674-D408-B50F-AD267D64FAEE}"/>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667701F2-1B9E-35F1-6767-DE9A327804EF}"/>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97152812-702B-70C8-52F2-F6A33FEADF94}"/>
              </a:ext>
            </a:extLst>
          </p:cNvPr>
          <p:cNvSpPr txBox="1"/>
          <p:nvPr/>
        </p:nvSpPr>
        <p:spPr>
          <a:xfrm>
            <a:off x="0" y="1124806"/>
            <a:ext cx="9144000" cy="1318181"/>
          </a:xfrm>
          <a:prstGeom prst="rect">
            <a:avLst/>
          </a:prstGeom>
          <a:noFill/>
        </p:spPr>
        <p:txBody>
          <a:bodyPr wrap="square">
            <a:spAutoFit/>
          </a:bodyPr>
          <a:lstStyle/>
          <a:p>
            <a:pPr>
              <a:lnSpc>
                <a:spcPct val="150000"/>
              </a:lnSpc>
            </a:pPr>
            <a:r>
              <a:rPr lang="en-US" sz="2800" b="1" dirty="0">
                <a:latin typeface="+mj-lt"/>
              </a:rPr>
              <a:t>Task 13: Mini Analysis</a:t>
            </a:r>
          </a:p>
          <a:p>
            <a:pPr>
              <a:lnSpc>
                <a:spcPct val="150000"/>
              </a:lnSpc>
            </a:pPr>
            <a:r>
              <a:rPr lang="en-US" sz="2800" dirty="0">
                <a:latin typeface="+mj-lt"/>
              </a:rPr>
              <a:t>Average final mark by subject:</a:t>
            </a:r>
          </a:p>
        </p:txBody>
      </p:sp>
      <p:sp>
        <p:nvSpPr>
          <p:cNvPr id="4" name="TextBox 3">
            <a:extLst>
              <a:ext uri="{FF2B5EF4-FFF2-40B4-BE49-F238E27FC236}">
                <a16:creationId xmlns:a16="http://schemas.microsoft.com/office/drawing/2014/main" id="{1879C49E-1BEE-3887-7FDA-DF844F2D0CE9}"/>
              </a:ext>
            </a:extLst>
          </p:cNvPr>
          <p:cNvSpPr txBox="1"/>
          <p:nvPr/>
        </p:nvSpPr>
        <p:spPr>
          <a:xfrm>
            <a:off x="0" y="2667001"/>
            <a:ext cx="8996854" cy="861774"/>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student_results.groupby</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subject_code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].mean()</a:t>
            </a:r>
          </a:p>
        </p:txBody>
      </p:sp>
      <p:pic>
        <p:nvPicPr>
          <p:cNvPr id="9" name="Picture 8">
            <a:extLst>
              <a:ext uri="{FF2B5EF4-FFF2-40B4-BE49-F238E27FC236}">
                <a16:creationId xmlns:a16="http://schemas.microsoft.com/office/drawing/2014/main" id="{86F72F7C-76F4-8AA0-598A-03F2BB185B23}"/>
              </a:ext>
            </a:extLst>
          </p:cNvPr>
          <p:cNvPicPr>
            <a:picLocks noChangeAspect="1"/>
          </p:cNvPicPr>
          <p:nvPr/>
        </p:nvPicPr>
        <p:blipFill>
          <a:blip r:embed="rId2"/>
          <a:srcRect l="8850" t="35440" r="75428" b="39630"/>
          <a:stretch>
            <a:fillRect/>
          </a:stretch>
        </p:blipFill>
        <p:spPr>
          <a:xfrm>
            <a:off x="2819400" y="3113438"/>
            <a:ext cx="3954220" cy="3526976"/>
          </a:xfrm>
          <a:prstGeom prst="rect">
            <a:avLst/>
          </a:prstGeom>
        </p:spPr>
      </p:pic>
    </p:spTree>
    <p:extLst>
      <p:ext uri="{BB962C8B-B14F-4D97-AF65-F5344CB8AC3E}">
        <p14:creationId xmlns:p14="http://schemas.microsoft.com/office/powerpoint/2010/main" val="162036770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E4F6-E695-FDB0-0DDB-CA8A54EB08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CC8DB7-815C-A1DC-F0AF-F781A5CA6E60}"/>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3A25CFBA-88C1-607B-4C64-8FF3C5D12B90}"/>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40292B5E-E03B-A065-C9DC-18BC03E7EC20}"/>
              </a:ext>
            </a:extLst>
          </p:cNvPr>
          <p:cNvSpPr txBox="1"/>
          <p:nvPr/>
        </p:nvSpPr>
        <p:spPr>
          <a:xfrm>
            <a:off x="0" y="1124806"/>
            <a:ext cx="9144000" cy="671851"/>
          </a:xfrm>
          <a:prstGeom prst="rect">
            <a:avLst/>
          </a:prstGeom>
          <a:noFill/>
        </p:spPr>
        <p:txBody>
          <a:bodyPr wrap="square">
            <a:spAutoFit/>
          </a:bodyPr>
          <a:lstStyle/>
          <a:p>
            <a:pPr>
              <a:lnSpc>
                <a:spcPct val="150000"/>
              </a:lnSpc>
            </a:pPr>
            <a:r>
              <a:rPr lang="en-US" sz="2800" dirty="0">
                <a:latin typeface="+mj-lt"/>
              </a:rPr>
              <a:t>Average final mark by campus and subject:</a:t>
            </a:r>
          </a:p>
        </p:txBody>
      </p:sp>
      <p:sp>
        <p:nvSpPr>
          <p:cNvPr id="6" name="TextBox 5">
            <a:extLst>
              <a:ext uri="{FF2B5EF4-FFF2-40B4-BE49-F238E27FC236}">
                <a16:creationId xmlns:a16="http://schemas.microsoft.com/office/drawing/2014/main" id="{6DB00526-33CB-C99F-DDD3-E9F5B68DB164}"/>
              </a:ext>
            </a:extLst>
          </p:cNvPr>
          <p:cNvSpPr txBox="1"/>
          <p:nvPr/>
        </p:nvSpPr>
        <p:spPr>
          <a:xfrm>
            <a:off x="-15868" y="1889634"/>
            <a:ext cx="8996854" cy="861774"/>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student_results.groupby</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"campus"</a:t>
            </a:r>
            <a:r>
              <a:rPr lang="en-US" sz="2500" b="0" dirty="0">
                <a:solidFill>
                  <a:srgbClr val="000000"/>
                </a:solidFill>
                <a:effectLst/>
                <a:latin typeface="Courier New" panose="02070309020205020404" pitchFamily="49" charset="0"/>
              </a:rPr>
              <a:t>, </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subject_code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].mean()</a:t>
            </a:r>
          </a:p>
        </p:txBody>
      </p:sp>
      <p:pic>
        <p:nvPicPr>
          <p:cNvPr id="10" name="Picture 9">
            <a:extLst>
              <a:ext uri="{FF2B5EF4-FFF2-40B4-BE49-F238E27FC236}">
                <a16:creationId xmlns:a16="http://schemas.microsoft.com/office/drawing/2014/main" id="{0A90E7D7-3CAE-4348-9F05-75DA565BACEE}"/>
              </a:ext>
            </a:extLst>
          </p:cNvPr>
          <p:cNvPicPr>
            <a:picLocks noChangeAspect="1"/>
          </p:cNvPicPr>
          <p:nvPr/>
        </p:nvPicPr>
        <p:blipFill>
          <a:blip r:embed="rId2"/>
          <a:srcRect l="9540" t="28901" r="73347" b="14445"/>
          <a:stretch>
            <a:fillRect/>
          </a:stretch>
        </p:blipFill>
        <p:spPr>
          <a:xfrm>
            <a:off x="6897114" y="2673740"/>
            <a:ext cx="2246886" cy="4184260"/>
          </a:xfrm>
          <a:prstGeom prst="rect">
            <a:avLst/>
          </a:prstGeom>
        </p:spPr>
      </p:pic>
    </p:spTree>
    <p:extLst>
      <p:ext uri="{BB962C8B-B14F-4D97-AF65-F5344CB8AC3E}">
        <p14:creationId xmlns:p14="http://schemas.microsoft.com/office/powerpoint/2010/main" val="405128703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9D8FE-94C2-8F27-DD66-E78223C81B3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D12F495-6EAA-47B4-2ABE-1231130EBADE}"/>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00DAFEF1-BF23-57BB-C8C9-CE8E4E26EE94}"/>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3795600C-5A46-AFE5-C7EE-163E2AF64FD6}"/>
              </a:ext>
            </a:extLst>
          </p:cNvPr>
          <p:cNvSpPr txBox="1"/>
          <p:nvPr/>
        </p:nvSpPr>
        <p:spPr>
          <a:xfrm>
            <a:off x="0" y="1124806"/>
            <a:ext cx="9144000" cy="671851"/>
          </a:xfrm>
          <a:prstGeom prst="rect">
            <a:avLst/>
          </a:prstGeom>
          <a:noFill/>
        </p:spPr>
        <p:txBody>
          <a:bodyPr wrap="square">
            <a:spAutoFit/>
          </a:bodyPr>
          <a:lstStyle/>
          <a:p>
            <a:pPr>
              <a:lnSpc>
                <a:spcPct val="150000"/>
              </a:lnSpc>
            </a:pPr>
            <a:r>
              <a:rPr lang="en-US" sz="2800" dirty="0">
                <a:latin typeface="+mj-lt"/>
              </a:rPr>
              <a:t>Average final mark by study mode:</a:t>
            </a:r>
          </a:p>
        </p:txBody>
      </p:sp>
      <p:sp>
        <p:nvSpPr>
          <p:cNvPr id="4" name="TextBox 3">
            <a:extLst>
              <a:ext uri="{FF2B5EF4-FFF2-40B4-BE49-F238E27FC236}">
                <a16:creationId xmlns:a16="http://schemas.microsoft.com/office/drawing/2014/main" id="{4DD8272D-CB08-2B2B-9F8D-2056C7BF7891}"/>
              </a:ext>
            </a:extLst>
          </p:cNvPr>
          <p:cNvSpPr txBox="1"/>
          <p:nvPr/>
        </p:nvSpPr>
        <p:spPr>
          <a:xfrm>
            <a:off x="0" y="1765126"/>
            <a:ext cx="9144000" cy="861774"/>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student_results.groupby</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study_mode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].mean()</a:t>
            </a:r>
          </a:p>
        </p:txBody>
      </p:sp>
      <p:pic>
        <p:nvPicPr>
          <p:cNvPr id="9" name="Picture 8">
            <a:extLst>
              <a:ext uri="{FF2B5EF4-FFF2-40B4-BE49-F238E27FC236}">
                <a16:creationId xmlns:a16="http://schemas.microsoft.com/office/drawing/2014/main" id="{AEAA9D90-7291-D950-1115-6A8577EC958A}"/>
              </a:ext>
            </a:extLst>
          </p:cNvPr>
          <p:cNvPicPr>
            <a:picLocks noChangeAspect="1"/>
          </p:cNvPicPr>
          <p:nvPr/>
        </p:nvPicPr>
        <p:blipFill>
          <a:blip r:embed="rId2"/>
          <a:srcRect l="8333" t="44074" r="76667" b="36667"/>
          <a:stretch>
            <a:fillRect/>
          </a:stretch>
        </p:blipFill>
        <p:spPr>
          <a:xfrm>
            <a:off x="4953000" y="2436976"/>
            <a:ext cx="4191000" cy="3026833"/>
          </a:xfrm>
          <a:prstGeom prst="rect">
            <a:avLst/>
          </a:prstGeom>
        </p:spPr>
      </p:pic>
    </p:spTree>
    <p:extLst>
      <p:ext uri="{BB962C8B-B14F-4D97-AF65-F5344CB8AC3E}">
        <p14:creationId xmlns:p14="http://schemas.microsoft.com/office/powerpoint/2010/main" val="1096632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96C1-22AE-8B36-F3C3-5D021DEA94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3B6850-7DF9-3217-22D6-4DCA64ABF275}"/>
              </a:ext>
            </a:extLst>
          </p:cNvPr>
          <p:cNvSpPr txBox="1">
            <a:spLocks noGrp="1"/>
          </p:cNvSpPr>
          <p:nvPr>
            <p:ph type="title"/>
          </p:nvPr>
        </p:nvSpPr>
        <p:spPr>
          <a:xfrm>
            <a:off x="-23751" y="-220434"/>
            <a:ext cx="6920865" cy="1247008"/>
          </a:xfrm>
          <a:prstGeom prst="rect">
            <a:avLst/>
          </a:prstGeom>
        </p:spPr>
        <p:txBody>
          <a:bodyPr vert="horz" wrap="square" lIns="0" tIns="259588" rIns="0" bIns="0" rtlCol="0">
            <a:spAutoFit/>
          </a:bodyPr>
          <a:lstStyle/>
          <a:p>
            <a:pPr marL="123825">
              <a:lnSpc>
                <a:spcPct val="100000"/>
              </a:lnSpc>
              <a:spcBef>
                <a:spcPts val="100"/>
              </a:spcBef>
            </a:pPr>
            <a:r>
              <a:rPr lang="en-US" sz="3200" dirty="0">
                <a:latin typeface="+mj-lt"/>
              </a:rPr>
              <a:t>A Mini-Project: Student Success Data Wrangling Dashboard</a:t>
            </a:r>
            <a:endParaRPr spc="-20" dirty="0">
              <a:latin typeface="+mj-lt"/>
            </a:endParaRPr>
          </a:p>
        </p:txBody>
      </p:sp>
      <p:sp>
        <p:nvSpPr>
          <p:cNvPr id="5" name="object 5">
            <a:extLst>
              <a:ext uri="{FF2B5EF4-FFF2-40B4-BE49-F238E27FC236}">
                <a16:creationId xmlns:a16="http://schemas.microsoft.com/office/drawing/2014/main" id="{4A09F483-2AB0-380A-B6AD-8ADFC1C5D0B1}"/>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dirty="0">
                <a:ln>
                  <a:noFill/>
                </a:ln>
                <a:solidFill>
                  <a:srgbClr val="3D3935"/>
                </a:solidFill>
                <a:effectLst/>
                <a:uLnTx/>
                <a:uFillTx/>
                <a:latin typeface="Arial"/>
                <a:cs typeface="Arial"/>
              </a:rPr>
              <a:t>3</a:t>
            </a:r>
            <a:r>
              <a:rPr kumimoji="0" sz="1000" b="0" i="0" u="none" strike="noStrike" kern="0" cap="none" spc="24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9"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Directorate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Office</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7" name="TextBox 6">
            <a:extLst>
              <a:ext uri="{FF2B5EF4-FFF2-40B4-BE49-F238E27FC236}">
                <a16:creationId xmlns:a16="http://schemas.microsoft.com/office/drawing/2014/main" id="{A361A727-25E6-BD0B-0562-159C4BB39C9C}"/>
              </a:ext>
            </a:extLst>
          </p:cNvPr>
          <p:cNvSpPr txBox="1"/>
          <p:nvPr/>
        </p:nvSpPr>
        <p:spPr>
          <a:xfrm>
            <a:off x="0" y="1124806"/>
            <a:ext cx="9144000" cy="671851"/>
          </a:xfrm>
          <a:prstGeom prst="rect">
            <a:avLst/>
          </a:prstGeom>
          <a:noFill/>
        </p:spPr>
        <p:txBody>
          <a:bodyPr wrap="square">
            <a:spAutoFit/>
          </a:bodyPr>
          <a:lstStyle/>
          <a:p>
            <a:pPr>
              <a:lnSpc>
                <a:spcPct val="150000"/>
              </a:lnSpc>
            </a:pPr>
            <a:r>
              <a:rPr lang="en-US" sz="2800" dirty="0" err="1">
                <a:latin typeface="+mj-lt"/>
              </a:rPr>
              <a:t>Visualisation</a:t>
            </a:r>
            <a:endParaRPr lang="en-US" sz="2800" dirty="0">
              <a:latin typeface="+mj-lt"/>
            </a:endParaRPr>
          </a:p>
        </p:txBody>
      </p:sp>
      <p:sp>
        <p:nvSpPr>
          <p:cNvPr id="6" name="TextBox 5">
            <a:extLst>
              <a:ext uri="{FF2B5EF4-FFF2-40B4-BE49-F238E27FC236}">
                <a16:creationId xmlns:a16="http://schemas.microsoft.com/office/drawing/2014/main" id="{0A33AD7E-6724-BCA7-DBA2-75713C607345}"/>
              </a:ext>
            </a:extLst>
          </p:cNvPr>
          <p:cNvSpPr txBox="1"/>
          <p:nvPr/>
        </p:nvSpPr>
        <p:spPr>
          <a:xfrm>
            <a:off x="-23751" y="1796657"/>
            <a:ext cx="9144000" cy="1246495"/>
          </a:xfrm>
          <a:prstGeom prst="rect">
            <a:avLst/>
          </a:prstGeom>
          <a:noFill/>
        </p:spPr>
        <p:txBody>
          <a:bodyPr wrap="square">
            <a:spAutoFit/>
          </a:bodyPr>
          <a:lstStyle/>
          <a:p>
            <a:pPr>
              <a:buNone/>
            </a:pPr>
            <a:r>
              <a:rPr lang="en-US" sz="2500" b="0" dirty="0" err="1">
                <a:solidFill>
                  <a:srgbClr val="000000"/>
                </a:solidFill>
                <a:effectLst/>
                <a:latin typeface="Courier New" panose="02070309020205020404" pitchFamily="49" charset="0"/>
              </a:rPr>
              <a:t>student_results.groupby</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"campus"</a:t>
            </a:r>
            <a:r>
              <a:rPr lang="en-US" sz="2500" b="0" dirty="0">
                <a:solidFill>
                  <a:srgbClr val="000000"/>
                </a:solidFill>
                <a:effectLst/>
                <a:latin typeface="Courier New" panose="02070309020205020404" pitchFamily="49" charset="0"/>
              </a:rPr>
              <a:t>, </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subject_code</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a:t>
            </a:r>
            <a:r>
              <a:rPr lang="en-US" sz="2500" b="0" dirty="0">
                <a:solidFill>
                  <a:srgbClr val="A31515"/>
                </a:solidFill>
                <a:effectLst/>
                <a:latin typeface="Courier New" panose="02070309020205020404" pitchFamily="49" charset="0"/>
              </a:rPr>
              <a:t>"</a:t>
            </a:r>
            <a:r>
              <a:rPr lang="en-US" sz="2500" b="0" dirty="0" err="1">
                <a:solidFill>
                  <a:srgbClr val="A31515"/>
                </a:solidFill>
                <a:effectLst/>
                <a:latin typeface="Courier New" panose="02070309020205020404" pitchFamily="49" charset="0"/>
              </a:rPr>
              <a:t>final_mark</a:t>
            </a:r>
            <a:r>
              <a:rPr lang="en-US" sz="2500" b="0" dirty="0">
                <a:solidFill>
                  <a:srgbClr val="A31515"/>
                </a:solidFill>
                <a:effectLst/>
                <a:latin typeface="Courier New" panose="02070309020205020404" pitchFamily="49" charset="0"/>
              </a:rPr>
              <a:t>"</a:t>
            </a:r>
            <a:r>
              <a:rPr lang="en-US" sz="2500" b="0" dirty="0">
                <a:solidFill>
                  <a:srgbClr val="000000"/>
                </a:solidFill>
                <a:effectLst/>
                <a:latin typeface="Courier New" panose="02070309020205020404" pitchFamily="49" charset="0"/>
              </a:rPr>
              <a:t>].mean().unstack().plot(kind=</a:t>
            </a:r>
            <a:r>
              <a:rPr lang="en-US" sz="2500" b="0" dirty="0">
                <a:solidFill>
                  <a:srgbClr val="A31515"/>
                </a:solidFill>
                <a:effectLst/>
                <a:latin typeface="Courier New" panose="02070309020205020404" pitchFamily="49" charset="0"/>
              </a:rPr>
              <a:t>"bar"</a:t>
            </a:r>
            <a:r>
              <a:rPr lang="en-US" sz="2500" b="0" dirty="0">
                <a:solidFill>
                  <a:srgbClr val="000000"/>
                </a:solidFill>
                <a:effectLst/>
                <a:latin typeface="Courier New" panose="02070309020205020404" pitchFamily="49" charset="0"/>
              </a:rPr>
              <a:t>)</a:t>
            </a:r>
          </a:p>
        </p:txBody>
      </p:sp>
      <p:pic>
        <p:nvPicPr>
          <p:cNvPr id="10" name="Picture 9">
            <a:extLst>
              <a:ext uri="{FF2B5EF4-FFF2-40B4-BE49-F238E27FC236}">
                <a16:creationId xmlns:a16="http://schemas.microsoft.com/office/drawing/2014/main" id="{13343F94-7E12-0335-2806-B03868BFBF11}"/>
              </a:ext>
            </a:extLst>
          </p:cNvPr>
          <p:cNvPicPr>
            <a:picLocks noChangeAspect="1"/>
          </p:cNvPicPr>
          <p:nvPr/>
        </p:nvPicPr>
        <p:blipFill>
          <a:blip r:embed="rId2"/>
          <a:srcRect l="9081" t="37688" r="45288" b="10613"/>
          <a:stretch>
            <a:fillRect/>
          </a:stretch>
        </p:blipFill>
        <p:spPr>
          <a:xfrm>
            <a:off x="2989399" y="2914435"/>
            <a:ext cx="6154602" cy="3922202"/>
          </a:xfrm>
          <a:prstGeom prst="rect">
            <a:avLst/>
          </a:prstGeom>
        </p:spPr>
      </p:pic>
    </p:spTree>
    <p:extLst>
      <p:ext uri="{BB962C8B-B14F-4D97-AF65-F5344CB8AC3E}">
        <p14:creationId xmlns:p14="http://schemas.microsoft.com/office/powerpoint/2010/main" val="21210182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0" y="0"/>
            <a:ext cx="9144000" cy="577517"/>
          </a:xfrm>
        </p:spPr>
        <p:txBody>
          <a:bodyPr>
            <a:normAutofit/>
          </a:bodyPr>
          <a:lstStyle/>
          <a:p>
            <a:r>
              <a:rPr lang="en-US" dirty="0">
                <a:solidFill>
                  <a:schemeClr val="tx1"/>
                </a:solidFill>
                <a:latin typeface="Arial" panose="020B0604020202020204" pitchFamily="34" charset="0"/>
                <a:cs typeface="Arial" panose="020B0604020202020204" pitchFamily="34" charset="0"/>
              </a:rPr>
              <a:t>Let’s Answer Your Questions</a:t>
            </a:r>
            <a:endParaRPr lang="en-AU" dirty="0">
              <a:solidFill>
                <a:schemeClr val="tx1"/>
              </a:solidFill>
              <a:latin typeface="Arial" panose="020B0604020202020204" pitchFamily="34" charset="0"/>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9244"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6727" y="3429000"/>
            <a:ext cx="9144000" cy="3257174"/>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Canvas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Canvas 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17558962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B339-E632-9E22-A7B6-C9019F91C5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BAC6E-9EAC-CF1D-420B-AB0E38575A55}"/>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dirty="0"/>
              <a:t>Thank You</a:t>
            </a:r>
            <a:endParaRPr spc="-10" dirty="0"/>
          </a:p>
        </p:txBody>
      </p:sp>
      <p:sp>
        <p:nvSpPr>
          <p:cNvPr id="4" name="object 4">
            <a:extLst>
              <a:ext uri="{FF2B5EF4-FFF2-40B4-BE49-F238E27FC236}">
                <a16:creationId xmlns:a16="http://schemas.microsoft.com/office/drawing/2014/main" id="{524FA3D3-2D48-1396-02E0-E592D20AE6B7}"/>
              </a:ext>
            </a:extLst>
          </p:cNvPr>
          <p:cNvSpPr txBox="1">
            <a:spLocks noGrp="1"/>
          </p:cNvSpPr>
          <p:nvPr>
            <p:ph type="sldNum" sz="quarter" idx="7"/>
          </p:nvPr>
        </p:nvSpPr>
        <p:spPr>
          <a:prstGeom prst="rect">
            <a:avLst/>
          </a:prstGeom>
        </p:spPr>
        <p:txBody>
          <a:bodyPr vert="horz" wrap="square" lIns="0" tIns="635" rIns="0" bIns="0" rtlCol="0">
            <a:spAutoFit/>
          </a:bodyPr>
          <a:lstStyle/>
          <a:p>
            <a:pPr marL="38100" marR="0" lvl="0" indent="0" defTabSz="914400" eaLnBrk="1" fontAlgn="auto" latinLnBrk="0" hangingPunct="1">
              <a:lnSpc>
                <a:spcPct val="100000"/>
              </a:lnSpc>
              <a:spcBef>
                <a:spcPts val="5"/>
              </a:spcBef>
              <a:spcAft>
                <a:spcPts val="0"/>
              </a:spcAft>
              <a:buClrTx/>
              <a:buSzTx/>
              <a:buFontTx/>
              <a:buNone/>
              <a:tabLst/>
              <a:defRPr/>
            </a:pPr>
            <a:fld id="{81D60167-4931-47E6-BA6A-407CBD079E47}" type="slidenum">
              <a:rPr kumimoji="0" sz="1000" b="0" i="0" u="none" strike="noStrike" kern="0" cap="none" spc="0" normalizeH="0" baseline="0" noProof="0" dirty="0">
                <a:ln>
                  <a:noFill/>
                </a:ln>
                <a:solidFill>
                  <a:srgbClr val="3D3935"/>
                </a:solidFill>
                <a:effectLst/>
                <a:uLnTx/>
                <a:uFillTx/>
                <a:latin typeface="Arial"/>
                <a:cs typeface="Arial"/>
              </a:rPr>
              <a:pPr marL="38100" marR="0" lvl="0" indent="0" defTabSz="914400" eaLnBrk="1" fontAlgn="auto" latinLnBrk="0" hangingPunct="1">
                <a:lnSpc>
                  <a:spcPct val="100000"/>
                </a:lnSpc>
                <a:spcBef>
                  <a:spcPts val="5"/>
                </a:spcBef>
                <a:spcAft>
                  <a:spcPts val="0"/>
                </a:spcAft>
                <a:buClrTx/>
                <a:buSzTx/>
                <a:buFontTx/>
                <a:buNone/>
                <a:tabLst/>
                <a:defRPr/>
              </a:pPr>
              <a:t>150</a:t>
            </a:fld>
            <a:r>
              <a:rPr kumimoji="0" sz="1000" b="0" i="0" u="none" strike="noStrike" kern="0" cap="none" spc="23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40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Faculty</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of</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Business</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and</a:t>
            </a:r>
            <a:r>
              <a:rPr kumimoji="0" sz="1000" b="0" i="0" u="none" strike="noStrike" kern="0" cap="none" spc="-2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Law</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Peter</a:t>
            </a:r>
            <a:r>
              <a:rPr kumimoji="0" sz="1000" b="0" i="0" u="none" strike="noStrike" kern="0" cap="none" spc="-10"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Faber</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0" normalizeH="0" baseline="0" noProof="0" dirty="0">
                <a:ln>
                  <a:noFill/>
                </a:ln>
                <a:solidFill>
                  <a:srgbClr val="3D3935"/>
                </a:solidFill>
                <a:effectLst/>
                <a:uLnTx/>
                <a:uFillTx/>
                <a:latin typeface="Arial"/>
                <a:cs typeface="Arial"/>
              </a:rPr>
              <a:t>Business</a:t>
            </a:r>
            <a:r>
              <a:rPr kumimoji="0" sz="1000" b="0" i="0" u="none" strike="noStrike" kern="0" cap="none" spc="-15" normalizeH="0" baseline="0" noProof="0" dirty="0">
                <a:ln>
                  <a:noFill/>
                </a:ln>
                <a:solidFill>
                  <a:srgbClr val="3D3935"/>
                </a:solidFill>
                <a:effectLst/>
                <a:uLnTx/>
                <a:uFillTx/>
                <a:latin typeface="Arial"/>
                <a:cs typeface="Arial"/>
              </a:rPr>
              <a:t> </a:t>
            </a:r>
            <a:r>
              <a:rPr kumimoji="0" sz="1000" b="0" i="0" u="none" strike="noStrike" kern="0" cap="none" spc="-10" normalizeH="0" baseline="0" noProof="0" dirty="0">
                <a:ln>
                  <a:noFill/>
                </a:ln>
                <a:solidFill>
                  <a:srgbClr val="3D3935"/>
                </a:solidFill>
                <a:effectLst/>
                <a:uLnTx/>
                <a:uFillTx/>
                <a:latin typeface="Arial"/>
                <a:cs typeface="Arial"/>
              </a:rPr>
              <a:t>School</a:t>
            </a:r>
          </a:p>
        </p:txBody>
      </p:sp>
      <p:sp>
        <p:nvSpPr>
          <p:cNvPr id="3" name="object 3">
            <a:extLst>
              <a:ext uri="{FF2B5EF4-FFF2-40B4-BE49-F238E27FC236}">
                <a16:creationId xmlns:a16="http://schemas.microsoft.com/office/drawing/2014/main" id="{29AB1092-95B3-7ACF-8F0C-CB846267DED1}"/>
              </a:ext>
            </a:extLst>
          </p:cNvPr>
          <p:cNvSpPr txBox="1"/>
          <p:nvPr/>
        </p:nvSpPr>
        <p:spPr>
          <a:xfrm>
            <a:off x="519610" y="1416811"/>
            <a:ext cx="7745095" cy="511037"/>
          </a:xfrm>
          <a:prstGeom prst="rect">
            <a:avLst/>
          </a:prstGeom>
        </p:spPr>
        <p:txBody>
          <a:bodyPr vert="horz" wrap="square" lIns="0" tIns="79375" rIns="0" bIns="0" rtlCol="0">
            <a:spAutoFit/>
          </a:bodyPr>
          <a:lstStyle/>
          <a:p>
            <a:pPr marL="456565" marR="0" lvl="0" indent="-443865" defTabSz="914400" eaLnBrk="1" fontAlgn="auto" latinLnBrk="0" hangingPunct="1">
              <a:lnSpc>
                <a:spcPct val="100000"/>
              </a:lnSpc>
              <a:spcBef>
                <a:spcPts val="625"/>
              </a:spcBef>
              <a:spcAft>
                <a:spcPts val="0"/>
              </a:spcAft>
              <a:buClr>
                <a:srgbClr val="F2120C"/>
              </a:buClr>
              <a:buSzPct val="75000"/>
              <a:buFont typeface="Arial"/>
              <a:buChar char="•"/>
              <a:tabLst>
                <a:tab pos="456565" algn="l"/>
              </a:tabLst>
              <a:defRPr/>
            </a:pPr>
            <a:r>
              <a:rPr kumimoji="0" lang="en-US" sz="2800" b="0" i="1" u="none" strike="noStrike" kern="0" cap="none" spc="0" normalizeH="0" baseline="0" noProof="0" dirty="0">
                <a:ln>
                  <a:noFill/>
                </a:ln>
                <a:solidFill>
                  <a:srgbClr val="3D3935"/>
                </a:solidFill>
                <a:effectLst/>
                <a:uLnTx/>
                <a:uFillTx/>
                <a:latin typeface="Calibri"/>
                <a:cs typeface="Arial"/>
              </a:rPr>
              <a:t>Have a Great Learning Day!</a:t>
            </a:r>
            <a:endParaRPr kumimoji="0" sz="2800" b="0" i="0" u="none" strike="noStrike" kern="0" cap="none" spc="0" normalizeH="0" baseline="0" noProof="0" dirty="0">
              <a:ln>
                <a:noFill/>
              </a:ln>
              <a:solidFill>
                <a:sysClr val="windowText" lastClr="000000"/>
              </a:solidFill>
              <a:effectLst/>
              <a:uLnTx/>
              <a:uFillTx/>
              <a:latin typeface="Calibri"/>
              <a:cs typeface="Arial"/>
            </a:endParaRPr>
          </a:p>
        </p:txBody>
      </p:sp>
      <p:sp>
        <p:nvSpPr>
          <p:cNvPr id="5" name="object 3">
            <a:extLst>
              <a:ext uri="{FF2B5EF4-FFF2-40B4-BE49-F238E27FC236}">
                <a16:creationId xmlns:a16="http://schemas.microsoft.com/office/drawing/2014/main" id="{A0227068-EB5C-24F0-54DA-165117897DD9}"/>
              </a:ext>
            </a:extLst>
          </p:cNvPr>
          <p:cNvSpPr txBox="1"/>
          <p:nvPr/>
        </p:nvSpPr>
        <p:spPr>
          <a:xfrm>
            <a:off x="552269" y="2107461"/>
            <a:ext cx="7745095" cy="511037"/>
          </a:xfrm>
          <a:prstGeom prst="rect">
            <a:avLst/>
          </a:prstGeom>
        </p:spPr>
        <p:txBody>
          <a:bodyPr vert="horz" wrap="square" lIns="0" tIns="79375" rIns="0" bIns="0" rtlCol="0">
            <a:spAutoFit/>
          </a:bodyPr>
          <a:lstStyle/>
          <a:p>
            <a:pPr marL="456565" marR="0" lvl="0" indent="-443865" defTabSz="914400" eaLnBrk="1" fontAlgn="auto" latinLnBrk="0" hangingPunct="1">
              <a:lnSpc>
                <a:spcPct val="100000"/>
              </a:lnSpc>
              <a:spcBef>
                <a:spcPts val="625"/>
              </a:spcBef>
              <a:spcAft>
                <a:spcPts val="0"/>
              </a:spcAft>
              <a:buClr>
                <a:srgbClr val="F2120C"/>
              </a:buClr>
              <a:buSzPct val="75000"/>
              <a:buFont typeface="Arial"/>
              <a:buChar char="•"/>
              <a:tabLst>
                <a:tab pos="456565" algn="l"/>
              </a:tabLst>
              <a:defRPr/>
            </a:pPr>
            <a:r>
              <a:rPr kumimoji="0" lang="en-US" sz="2800" b="0" i="0" u="none" strike="noStrike" kern="0" cap="none" spc="0" normalizeH="0" baseline="0" noProof="0" dirty="0">
                <a:ln>
                  <a:noFill/>
                </a:ln>
                <a:solidFill>
                  <a:sysClr val="windowText" lastClr="000000"/>
                </a:solidFill>
                <a:effectLst/>
                <a:uLnTx/>
                <a:uFillTx/>
                <a:latin typeface="Calibri"/>
              </a:rPr>
              <a:t>Feel free to reach out with any questions!</a:t>
            </a:r>
            <a:endParaRPr kumimoji="0" sz="2800" b="0" i="0" u="none" strike="noStrike" kern="0" cap="none" spc="0" normalizeH="0" baseline="0" noProof="0" dirty="0">
              <a:ln>
                <a:noFill/>
              </a:ln>
              <a:solidFill>
                <a:sysClr val="windowText" lastClr="000000"/>
              </a:solidFill>
              <a:effectLst/>
              <a:uLnTx/>
              <a:uFillTx/>
              <a:latin typeface="Calibri"/>
              <a:cs typeface="Arial"/>
            </a:endParaRPr>
          </a:p>
        </p:txBody>
      </p:sp>
    </p:spTree>
    <p:extLst>
      <p:ext uri="{BB962C8B-B14F-4D97-AF65-F5344CB8AC3E}">
        <p14:creationId xmlns:p14="http://schemas.microsoft.com/office/powerpoint/2010/main" val="251707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1557</TotalTime>
  <Words>8720</Words>
  <Application>Microsoft Office PowerPoint</Application>
  <PresentationFormat>On-screen Show (4:3)</PresentationFormat>
  <Paragraphs>1043</Paragraphs>
  <Slides>150</Slides>
  <Notes>0</Notes>
  <HiddenSlides>0</HiddenSlides>
  <MMClips>11</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150</vt:i4>
      </vt:variant>
    </vt:vector>
  </HeadingPairs>
  <TitlesOfParts>
    <vt:vector size="157" baseType="lpstr">
      <vt:lpstr>Aptos</vt:lpstr>
      <vt:lpstr>Arial</vt:lpstr>
      <vt:lpstr>Calibri</vt:lpstr>
      <vt:lpstr>Courier New</vt:lpstr>
      <vt:lpstr>Office Theme</vt:lpstr>
      <vt:lpstr>1_Office Theme</vt:lpstr>
      <vt:lpstr>2_Office Theme</vt:lpstr>
      <vt:lpstr>Data Wrangling – Merging, Joining, Reshaping Data</vt:lpstr>
      <vt:lpstr>Week 9 Outline</vt:lpstr>
      <vt:lpstr>Week 9 Outline</vt:lpstr>
      <vt:lpstr>Welcome to Week 9</vt:lpstr>
      <vt:lpstr>Welcome to Week 9</vt:lpstr>
      <vt:lpstr>Welcome to Week 9</vt:lpstr>
      <vt:lpstr>Alignment with Unit Outline &amp; Learning Outcomes</vt:lpstr>
      <vt:lpstr>Alignment with Unit Outline &amp; Learning Outcomes</vt:lpstr>
      <vt:lpstr>Hierarchical Indexing</vt:lpstr>
      <vt:lpstr>Hierarchical Indexing</vt:lpstr>
      <vt:lpstr>Hierarchical Indexing</vt:lpstr>
      <vt:lpstr>Hierarchical Indexing</vt:lpstr>
      <vt:lpstr>Hierarchical Indexing</vt:lpstr>
      <vt:lpstr>Hierarchical Indexing</vt:lpstr>
      <vt:lpstr>Hierarchical Indexing</vt:lpstr>
      <vt:lpstr>Hands-On Activity 1</vt:lpstr>
      <vt:lpstr>Hands-On Activity 1</vt:lpstr>
      <vt:lpstr>Hands-On Activity 1</vt:lpstr>
      <vt:lpstr>Hands-On Activity 1</vt:lpstr>
      <vt:lpstr>Hands-On Activity 1</vt:lpstr>
      <vt:lpstr>Hands-On Activity 1</vt:lpstr>
      <vt:lpstr>Hands-On Activity 2</vt:lpstr>
      <vt:lpstr>Hands-On Activity 2</vt:lpstr>
      <vt:lpstr>Hands-On Activity 3</vt:lpstr>
      <vt:lpstr>Hands-On Activity 3</vt:lpstr>
      <vt:lpstr>Hands-On Activity 4</vt:lpstr>
      <vt:lpstr>Hands-On Activity 4</vt:lpstr>
      <vt:lpstr>Hands-On Activity 4</vt:lpstr>
      <vt:lpstr>Combining &amp; Merging Datasets</vt:lpstr>
      <vt:lpstr>Combining &amp; Merging Datasets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Hands-On Activity 5</vt:lpstr>
      <vt:lpstr>Hands-On Activity 5</vt:lpstr>
      <vt:lpstr>Hands-On Activity 5</vt:lpstr>
      <vt:lpstr>Hands-On Activity 5</vt:lpstr>
      <vt:lpstr>Hands-On Activity 5</vt:lpstr>
      <vt:lpstr>Hands-On Activity 5</vt:lpstr>
      <vt:lpstr>Hands-On Activity 5</vt:lpstr>
      <vt:lpstr>Hands-On Activity 5</vt:lpstr>
      <vt:lpstr>Hands-On Activity 6</vt:lpstr>
      <vt:lpstr>Hands-On Activity 6</vt:lpstr>
      <vt:lpstr>Hands-On Activity 6</vt:lpstr>
      <vt:lpstr>Hands-On Activity 6</vt:lpstr>
      <vt:lpstr>Hands-On Activity 6</vt:lpstr>
      <vt:lpstr>Hands-On Activity 6</vt:lpstr>
      <vt:lpstr>Hands-On Activity 7</vt:lpstr>
      <vt:lpstr>Hands-On Activity 7</vt:lpstr>
      <vt:lpstr>Hands-On Activity 7</vt:lpstr>
      <vt:lpstr>Hands-On Activity 7</vt:lpstr>
      <vt:lpstr>Hands-On Activity 7</vt:lpstr>
      <vt:lpstr>Hands-On Activity 7</vt:lpstr>
      <vt:lpstr>Hands-On Activity 7</vt:lpstr>
      <vt:lpstr>Hands-On Activity 8</vt:lpstr>
      <vt:lpstr>Hands-On Activity 8</vt:lpstr>
      <vt:lpstr>Hands-On Activity 8</vt:lpstr>
      <vt:lpstr>Hands-On Activity 8</vt:lpstr>
      <vt:lpstr>Hands-On Activity 8</vt:lpstr>
      <vt:lpstr>Hands-On Activity 8</vt:lpstr>
      <vt:lpstr>Hands-On Activity 8</vt:lpstr>
      <vt:lpstr>Hands-On Activity 8</vt:lpstr>
      <vt:lpstr>Reshaping with Pivot, Melt, Stack &amp; Unstack</vt:lpstr>
      <vt:lpstr>Reshaping with Pivot, Melt, Stack &amp; Unstack</vt:lpstr>
      <vt:lpstr>Reshaping with Pivot, Melt, Stack &amp; Unstack</vt:lpstr>
      <vt:lpstr>Reshaping with Pivot, Melt, Stack &amp; Unstack</vt:lpstr>
      <vt:lpstr>Reshaping with Pivot, Melt, Stack &amp; Unstack</vt:lpstr>
      <vt:lpstr>Reshaping with Pivot, Melt, Stack &amp; Unstack</vt:lpstr>
      <vt:lpstr>Reshaping with Pivot, Melt, Stack &amp; Unstack</vt:lpstr>
      <vt:lpstr>Hands-On Activity 9</vt:lpstr>
      <vt:lpstr>Hands-On Activity 9</vt:lpstr>
      <vt:lpstr>Hands-On Activity 9</vt:lpstr>
      <vt:lpstr>Hands-On Activity 9</vt:lpstr>
      <vt:lpstr>Hands-On Activity 9</vt:lpstr>
      <vt:lpstr>Hands-On Activity 9</vt:lpstr>
      <vt:lpstr>Hands-On Activity 10</vt:lpstr>
      <vt:lpstr>Hands-On Activity 10</vt:lpstr>
      <vt:lpstr>Hands-On Activity 10</vt:lpstr>
      <vt:lpstr>Hands-On Activity 10</vt:lpstr>
      <vt:lpstr>Hands-On Activity 10</vt:lpstr>
      <vt:lpstr>Hands-On Activity 10</vt:lpstr>
      <vt:lpstr>Hands-On Activity 11</vt:lpstr>
      <vt:lpstr>Hands-On Activity 11</vt:lpstr>
      <vt:lpstr>Hands-On Activity 11</vt:lpstr>
      <vt:lpstr>Hands-On Activity 11</vt:lpstr>
      <vt:lpstr>Hands-On Activity 11</vt:lpstr>
      <vt:lpstr>Hands-On Activity 11</vt:lpstr>
      <vt:lpstr>Hands-On Activity 11</vt:lpstr>
      <vt:lpstr>Hands-On Activity 12</vt:lpstr>
      <vt:lpstr>Hands-On Activity 12</vt:lpstr>
      <vt:lpstr>Hands-On Activity 12</vt:lpstr>
      <vt:lpstr>Hands-On Activity 12</vt:lpstr>
      <vt:lpstr>Hands-On Activity 12</vt:lpstr>
      <vt:lpstr>Hands-On Activity 12</vt:lpstr>
      <vt:lpstr>Hands-On Activity 12</vt:lpstr>
      <vt:lpstr>Research &amp; Discussion Prompts</vt:lpstr>
      <vt:lpstr>Research &amp; Discussion Prompts</vt:lpstr>
      <vt:lpstr>Role-Play &amp; Problem-Solving (Hands-On Thinking)</vt:lpstr>
      <vt:lpstr>Role-Play &amp; Problem-Solving (Hands-On Thinking)</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A Mini-Project: Student Success Data Wrangling Dashboard</vt:lpstr>
      <vt:lpstr>Let’s Answer Your 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Farshid Keivanian</dc:creator>
  <cp:lastModifiedBy>Farshid Keivanian</cp:lastModifiedBy>
  <cp:revision>784</cp:revision>
  <dcterms:created xsi:type="dcterms:W3CDTF">2025-08-13T11:21:09Z</dcterms:created>
  <dcterms:modified xsi:type="dcterms:W3CDTF">2026-05-07T10:32:51Z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LastSaved">
    <vt:filetime>2025-08-13T00:00:00Z</vt:filetime>
  </property>
  <property fmtid="{D5CDD505-2E9C-101B-9397-08002B2CF9AE}" pid="4" name="Producer">
    <vt:lpwstr>macOS Version 12.2.1 (Build 21D62) Quartz PDFContext</vt:lpwstr>
  </property>
</Properties>
</file>